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(30 s). Presentar el tema con una frase: analizamos los planes de mejoramiento educativo (PME) de 2024 de los colegios de La Cisterna para decidir qué respaldo documental pedir primero. Adelantar el mensaje central: el análisis ordena una cola de revisión; no mide malgasto.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 pregunta completa y explicar que es descriptiva: mide cuánto y dónde, no por qué. Cambió respecto de W1 porque la pregunta original pedía comprobar el uso de recursos y faltan rendiciones y pagos. Pasamos de la línea A (rendiciones y PAS) a la línea B (PME y Agencia) por ajuste entre pregunta y datos. Alcance: PME solo 2024; 46 de los 59 colegios del censo 2024 tienen acciones.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primero que hay que saber de cada fuente es qué representa una fila, porque eso decide qué se puede calcular. Solo el PME entra en el KPI; las otras cinco dan contexto y ninguna acredita gasto. Una OC no es un pago, una estimación PME no es un gasto ejecutado y una multa PAS no equivale a malgasto. RBD es el Rol Base de Datos, la llave que identifica a cada establecimiento.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Seguimos el ciclo del curso: Load, Profile, Explore, Clean, Impute, Transform, Validate y Explore again. La idea central: el EDA que se interpreta debe hacerse sobre la versión más válida de los datos, no sobre los archivos tal como llegaron. Por eso el diagnóstico inicial (paso 3) solo orienta las reglas de limpieza y las conclusiones vienen del paso 7. El diagrama completo con el porqué de cada paso está en el anexo.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KPI es el porcentaje de acciones PME 2024 de un colegio o dimensión que tienen estimación de $0 o no declaran implementación completa. Una acción con ambas condiciones cuenta una vez: 298 más 149 menos 78 da 369 de 767, es decir 48,1 por ciento. Ejemplos: el RBD 9771 tiene 32 de 32 acciones con señal (100 por ciento); el RBD 25265 tiene 0 de 27. Un colegio sin acciones no tiene KPI: no se le asigna 0. Por qué este KPI y no la cobertura de fuentes: porque conecta una señal observable con una decisión concreta, qué documento pedir.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limpieza no eliminó ninguna fila ni inventó ningún valor: los problemas eran de representación, tipo y granularidad. Lo más importante: el archivo de compras repite el total de la orden en cada ítem; sumar por ítem sobreestima entre 21 y 33 veces en 2022 a 2024. Repetir el total no prueba compras duplicadas, es cómo el archivo registra cada orden. Hay 18 controles automáticos que detienen el notebook si se rompen: llaves únicas, filas e importes conservados, KPI entre 0 y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histograma muestra una cola muy larga; la densidad se calcula sobre el logaritmo de los importes positivos porque el suavizado no modela bien la masa de ceros; la ECDF muestra que alrededor de una quinta parte de las acciones tiene estimación cero. La media es 11,7 millones y la mediana 4,6 millones: la media no representa a la acción típica. Por eso usamos mediana, IQR y MAD junto a media y desviación estándar. Los 57 valores extremos por regla IQR se marcan y se conservan: sin ellos el KPI pasa de 48,1 a 50,6 por ciento.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cuatro dimensiones usan las mismas 767 acciones. Gestión Pedagógica lidera con 50,2 por ciento (119 de 237); Gestión de Recursos es la más baja con 42,6 por ciento, aunque su mediana de estimación es la más alta, 11,8 millones. Las tasas se ponderan por acción; una media simple de tasas por colegio respondería otra pregunta. Las dimensiones clasifican el propósito de la acción, no una cuenta contable.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distribución del KPI entre los 46 colegios es bimodal: muchos colegios declaran casi todo completo y con estimación, o casi nada. Hay 10 colegios con 100 por ciento y 6 con 0. A la derecha se ve de qué está hecha la señal en escuelas especiales frente a básica y media. Por eso los umbrales 25, 50 y 75 por ciento cambian la lista de forma gradual: 31, 24 y 17 colegios.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más frágil y conviene decirlo antes de que lo pregunten. De las 298 acciones no completas, 189 están en avance de 75 a 99 por ciento y solo 5 declaran no efectuada. Por eso, con la definición estricta, el KPI baja de 48,1 a 19,6 por ciento. Además el cero se concentra en las escuelas especiales: 50,5 por ciento de sus acciones, frente a 14,9 en básica y media; sin ellas el KPI global es 44,5. Es una hipótesis sobre su financiamiento, no evidencia de irregularidad.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mapa distingue tres cosas: valor ausente dentro de una fila publicada (faltan 10 de 504 puntajes SIMCE y 16 de 936 IDPS), ausencia de fila por cobertura (PME solo 2024, Agencia desde 2023, compras solo del sector público) y cero válido. Los bloques grises son estructurales, por eso imputar masivamente con cero o con la mediana alteraría el significado del análisis. Trece colegios del censo 2024 no tienen acciones PME: requieren verificar cobertura o aplicabilidad y no reciben un KPI cero.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el corte 2024 con una fila por colegio para no repetir el mismo PME en varios años. Pearson mide asociación lineal y es sensible a extremos; Spearman usa rangos. Entre matrícula y estimación, Pearson en pesos da 0,88 y en log10 da 0,48, mientras Spearman da 0,85: esa diferencia muestra por qué miramos ambos. La asociación matrícula y estimación refleja escala: los colegios grandes planifican más. No hay relación clara entre KPI y resultados SIMCE o IDPS, con solo 28 a 29 colegios. Segmentamos por sector y oferta y no hay inversión de signo, así que no afirmamos paradoja de Simpson. Las matrices completas están en el anexo.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pauta del curso pide distinguir lo que el EDA permite afirmar de lo que solo sugiere como hipótesis. A la izquierda, lo que se puede afirmar con las cifras del notebook. A la derecha, lo que hay que confirmar: el umbral de 50 por ciento es un supuesto operativo sin validar; la concentración del cero en escuelas especiales es una hipótesis sobre su financiamiento; la relación con el tamaño puede ser un efecto de escala. El EDA produce hipótesis, no pruebas causales. La tabla completa con evidencia y límite de cada fila está en la sección 12.1 del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umbral de 50 por ciento es un supuesto operativo, no una norma ni un corte aprendido. Con 50 por ciento entran 24 de 46 colegios, que reúnen 300 acciones señaladas: es la mitad del universo, así que en la práctica conviene revisar la cola por segmento y partir por las acciones con ambos componentes. Primero se confirma que la acción y la operación corresponden; no se infiere que una orden de compra financió un PME por compartir RBD y año. No se envió ninguna solicitud ni se etiquetó a ningún colegio como irregular.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pide una tarea concreta de ML y un dashboard posibles, sin implementarlos. La restricción de partida es que no hay etiquetas verificadas: el KPI es una señal para pedir explicaciones, no una verdad comprobada. Tarea A, la más viable: agrupar los 46 colegios de 2024 por perfil de planificación; no requiere etiqueta. Tarea B: anticipar qué acciones terminarán sin implementación completa usando solo información disponible al planificar; el cero forma parte del KPI, así que no puede ser entrada y resultado a la vez, y hacen falta PME de otros años. Dashboard: para quien solicita respaldos; muestra el KPI con numerador y denominador y permite filtrar por dimensión, sector, oferta y umbral. Incertidumbres: hoy hay un solo año extraído y las estimaciones se ajustan durante la implementación.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idea central: el análisis permite ordenar una cola de revisión documental, pero no cuantificar malgasto ni eficacia causal; eso requiere rendiciones, pagos y recepciones. Próximos pasos: validar el umbral con la capacidad real de revisión, confirmar la aplicabilidad del PME en los 13 colegios sin acciones, obtener rendiciones y pagos (línea A de W1) y revisar una muestra de colegios bajo el umbral para conocer los casos que el criterio deja pasar. Abrir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completo de la metodología: cada caja dice qué se hizo y por qué. La flecha punteada indica que el proceso es iterativo. Principios transversales: no imputar montos ni puntajes, no borrar extremos (se marcan y se mide su efecto), ausencia distinta de cero, correlación distinta de causa, y el KPI prioriza la revisión documental sin medir malgasto.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nombres son los del brief de C1: Clean, Consistent, Conformed, Current y Comprehensive. Cada fila resume la comprobación y su evidencia; el detalle con cifras calculadas está en la sección 12.3 del cuaderno y en el informe, sección 3.4. Donde no hubo problema se reporta la comprobación y no se inventa un defecto.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Corte 2024, una fila por colegio. Se elimina ausencia por pareja, por eso el n cambia entre pares (de 28 a 59). Se ocultan coeficientes con menos de 10 pares. No se presentan p-valores ni conclusiones causales: los colegios observados no son una muestra aleatoria.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A4A"/>
        </a:solidFill>
      </p:bgPr>
    </p:bg>
    <p:spTree>
      <p:nvGrpSpPr>
        <p:cNvPr id="1" name=""/>
        <p:cNvGrpSpPr/>
        <p:nvPr/>
      </p:nvGrpSpPr>
      <p:grpSpPr>
        <a:xfrm>
          <a:off x="0" y="0"/>
          <a:ext cx="0" cy="0"/>
          <a:chOff x="0" y="0"/>
          <a:chExt cx="0" cy="0"/>
        </a:xfrm>
      </p:grpSpPr>
      <p:sp>
        <p:nvSpPr>
          <p:cNvPr id="2" name="Text 0"/>
          <p:cNvSpPr/>
          <p:nvPr/>
        </p:nvSpPr>
        <p:spPr>
          <a:xfrm>
            <a:off x="812800" y="186182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B15A"/>
                </a:solidFill>
                <a:latin typeface="IBM Plex Sans" pitchFamily="34" charset="0"/>
                <a:ea typeface="IBM Plex Sans" pitchFamily="34" charset="-122"/>
                <a:cs typeface="IBM Plex Sans" pitchFamily="34" charset="-120"/>
              </a:rPr>
              <a:t>BUSINESS INTELLIGENCE · PRIMERA EVALUACIÓN (C1)</a:t>
            </a:r>
            <a:endParaRPr lang="en-US" sz="1200" dirty="0"/>
          </a:p>
        </p:txBody>
      </p:sp>
      <p:sp>
        <p:nvSpPr>
          <p:cNvPr id="3" name="Text 1"/>
          <p:cNvSpPr/>
          <p:nvPr/>
        </p:nvSpPr>
        <p:spPr>
          <a:xfrm>
            <a:off x="812800" y="2329180"/>
            <a:ext cx="10883392" cy="13665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6F4EE"/>
                </a:solidFill>
                <a:latin typeface="Source Serif 4" pitchFamily="34" charset="0"/>
                <a:ea typeface="Source Serif 4" pitchFamily="34" charset="-122"/>
                <a:cs typeface="Source Serif 4" pitchFamily="34" charset="-120"/>
              </a:rPr>
              <a:t>Respaldo documental del PME 2024 en La Cisterna</a:t>
            </a:r>
            <a:endParaRPr lang="en-US" sz="4800" dirty="0"/>
          </a:p>
        </p:txBody>
      </p:sp>
      <p:sp>
        <p:nvSpPr>
          <p:cNvPr id="4" name="Text 2"/>
          <p:cNvSpPr/>
          <p:nvPr/>
        </p:nvSpPr>
        <p:spPr>
          <a:xfrm>
            <a:off x="812800" y="392430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FD8D5"/>
                </a:solidFill>
                <a:latin typeface="IBM Plex Sans" pitchFamily="34" charset="0"/>
                <a:ea typeface="IBM Plex Sans" pitchFamily="34" charset="-122"/>
                <a:cs typeface="IBM Plex Sans" pitchFamily="34" charset="-120"/>
              </a:rPr>
              <a:t>Qué pedir primero a cada colegio, y por qué</a:t>
            </a:r>
            <a:endParaRPr lang="en-US" sz="2000" dirty="0"/>
          </a:p>
        </p:txBody>
      </p:sp>
      <p:sp>
        <p:nvSpPr>
          <p:cNvPr id="5" name="Text 3"/>
          <p:cNvSpPr/>
          <p:nvPr/>
        </p:nvSpPr>
        <p:spPr>
          <a:xfrm>
            <a:off x="812800" y="555752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IBM Plex Sans" pitchFamily="34" charset="0"/>
                <a:ea typeface="IBM Plex Sans" pitchFamily="34" charset="-122"/>
                <a:cs typeface="IBM Plex Sans" pitchFamily="34" charset="-120"/>
              </a:rPr>
              <a:t>Grupo 03 · 29 de septiembre de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PUNTO DE PARTIDA</a:t>
            </a:r>
            <a:endParaRPr lang="en-US" sz="1200" dirty="0"/>
          </a:p>
        </p:txBody>
      </p:sp>
      <p:sp>
        <p:nvSpPr>
          <p:cNvPr id="3" name="Text 1"/>
          <p:cNvSpPr/>
          <p:nvPr/>
        </p:nvSpPr>
        <p:spPr>
          <a:xfrm>
            <a:off x="812800" y="11023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La decisión: qué respaldo del PME pedir primero</a:t>
            </a:r>
            <a:endParaRPr lang="en-US" sz="3200" dirty="0"/>
          </a:p>
        </p:txBody>
      </p:sp>
      <p:sp>
        <p:nvSpPr>
          <p:cNvPr id="4" name="Shape 2"/>
          <p:cNvSpPr/>
          <p:nvPr/>
        </p:nvSpPr>
        <p:spPr>
          <a:xfrm>
            <a:off x="812800" y="1803400"/>
            <a:ext cx="10566400" cy="1498600"/>
          </a:xfrm>
          <a:prstGeom prst="roundRect">
            <a:avLst>
              <a:gd name="adj" fmla="val 6780"/>
            </a:avLst>
          </a:prstGeom>
          <a:solidFill>
            <a:srgbClr val="0F3A4A"/>
          </a:solidFill>
          <a:ln/>
        </p:spPr>
      </p:sp>
      <p:sp>
        <p:nvSpPr>
          <p:cNvPr id="5" name="Text 3"/>
          <p:cNvSpPr/>
          <p:nvPr/>
        </p:nvSpPr>
        <p:spPr>
          <a:xfrm>
            <a:off x="1117600" y="2057400"/>
            <a:ext cx="10255504"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6F4EE"/>
                </a:solidFill>
                <a:latin typeface="Source Serif 4" pitchFamily="34" charset="0"/>
                <a:ea typeface="Source Serif 4" pitchFamily="34" charset="-122"/>
                <a:cs typeface="Source Serif 4" pitchFamily="34" charset="-120"/>
              </a:rPr>
              <a:t>¿Cómo se distribuye la proporción de acciones PME 2024 con estimación de $0 o sin implementación declarada completa entre los establecimientos y dimensiones de La Cisterna, y qué casos conviene priorizar para solicitar respaldo documental?</a:t>
            </a:r>
            <a:endParaRPr lang="en-US" sz="2000" dirty="0"/>
          </a:p>
        </p:txBody>
      </p:sp>
      <p:sp>
        <p:nvSpPr>
          <p:cNvPr id="6" name="Shape 4"/>
          <p:cNvSpPr/>
          <p:nvPr/>
        </p:nvSpPr>
        <p:spPr>
          <a:xfrm>
            <a:off x="815975" y="3559175"/>
            <a:ext cx="3380264" cy="1591310"/>
          </a:xfrm>
          <a:prstGeom prst="roundRect">
            <a:avLst>
              <a:gd name="adj" fmla="val 6185"/>
            </a:avLst>
          </a:prstGeom>
          <a:solidFill>
            <a:srgbClr val="FBFAF6"/>
          </a:solidFill>
          <a:ln w="6350">
            <a:solidFill>
              <a:srgbClr val="DDD8CB"/>
            </a:solidFill>
            <a:prstDash val="solid"/>
          </a:ln>
        </p:spPr>
      </p:sp>
      <p:sp>
        <p:nvSpPr>
          <p:cNvPr id="7" name="Text 5"/>
          <p:cNvSpPr/>
          <p:nvPr/>
        </p:nvSpPr>
        <p:spPr>
          <a:xfrm>
            <a:off x="1046480" y="3789680"/>
            <a:ext cx="300683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6B87"/>
                </a:solidFill>
                <a:latin typeface="IBM Plex Sans" pitchFamily="34" charset="0"/>
                <a:ea typeface="IBM Plex Sans" pitchFamily="34" charset="-122"/>
                <a:cs typeface="IBM Plex Sans" pitchFamily="34" charset="-120"/>
              </a:rPr>
              <a:t>Decisión</a:t>
            </a:r>
            <a:endParaRPr lang="en-US" sz="1600" dirty="0"/>
          </a:p>
        </p:txBody>
      </p:sp>
      <p:sp>
        <p:nvSpPr>
          <p:cNvPr id="8" name="Text 6"/>
          <p:cNvSpPr/>
          <p:nvPr/>
        </p:nvSpPr>
        <p:spPr>
          <a:xfrm>
            <a:off x="1046480" y="4097020"/>
            <a:ext cx="3006831"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303C"/>
                </a:solidFill>
                <a:latin typeface="IBM Plex Sans" pitchFamily="34" charset="0"/>
                <a:ea typeface="IBM Plex Sans" pitchFamily="34" charset="-122"/>
                <a:cs typeface="IBM Plex Sans" pitchFamily="34" charset="-120"/>
              </a:rPr>
              <a:t>Qué respaldo del PME solicitar primero a cada colegio.</a:t>
            </a:r>
            <a:endParaRPr lang="en-US" sz="1600" dirty="0"/>
          </a:p>
        </p:txBody>
      </p:sp>
      <p:sp>
        <p:nvSpPr>
          <p:cNvPr id="9" name="Shape 7"/>
          <p:cNvSpPr/>
          <p:nvPr/>
        </p:nvSpPr>
        <p:spPr>
          <a:xfrm>
            <a:off x="4405789" y="3559175"/>
            <a:ext cx="3380343" cy="1591310"/>
          </a:xfrm>
          <a:prstGeom prst="roundRect">
            <a:avLst>
              <a:gd name="adj" fmla="val 6185"/>
            </a:avLst>
          </a:prstGeom>
          <a:solidFill>
            <a:srgbClr val="FBFAF6"/>
          </a:solidFill>
          <a:ln w="6350">
            <a:solidFill>
              <a:srgbClr val="DDD8CB"/>
            </a:solidFill>
            <a:prstDash val="solid"/>
          </a:ln>
        </p:spPr>
      </p:sp>
      <p:sp>
        <p:nvSpPr>
          <p:cNvPr id="10" name="Text 8"/>
          <p:cNvSpPr/>
          <p:nvPr/>
        </p:nvSpPr>
        <p:spPr>
          <a:xfrm>
            <a:off x="4636294" y="3789680"/>
            <a:ext cx="300691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6B87"/>
                </a:solidFill>
                <a:latin typeface="IBM Plex Sans" pitchFamily="34" charset="0"/>
                <a:ea typeface="IBM Plex Sans" pitchFamily="34" charset="-122"/>
                <a:cs typeface="IBM Plex Sans" pitchFamily="34" charset="-120"/>
              </a:rPr>
              <a:t>Usuarios</a:t>
            </a:r>
            <a:endParaRPr lang="en-US" sz="1600" dirty="0"/>
          </a:p>
        </p:txBody>
      </p:sp>
      <p:sp>
        <p:nvSpPr>
          <p:cNvPr id="11" name="Text 9"/>
          <p:cNvSpPr/>
          <p:nvPr/>
        </p:nvSpPr>
        <p:spPr>
          <a:xfrm>
            <a:off x="4636294" y="4097020"/>
            <a:ext cx="3006913"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303C"/>
                </a:solidFill>
                <a:latin typeface="IBM Plex Sans" pitchFamily="34" charset="0"/>
                <a:ea typeface="IBM Plex Sans" pitchFamily="34" charset="-122"/>
                <a:cs typeface="IBM Plex Sans" pitchFamily="34" charset="-120"/>
              </a:rPr>
              <a:t>Equipos directivos, sostenedores y equipo investigador.</a:t>
            </a:r>
            <a:endParaRPr lang="en-US" sz="1600" dirty="0"/>
          </a:p>
        </p:txBody>
      </p:sp>
      <p:sp>
        <p:nvSpPr>
          <p:cNvPr id="12" name="Shape 10"/>
          <p:cNvSpPr/>
          <p:nvPr/>
        </p:nvSpPr>
        <p:spPr>
          <a:xfrm>
            <a:off x="7995682" y="3559175"/>
            <a:ext cx="3380343" cy="1591310"/>
          </a:xfrm>
          <a:prstGeom prst="roundRect">
            <a:avLst>
              <a:gd name="adj" fmla="val 6185"/>
            </a:avLst>
          </a:prstGeom>
          <a:solidFill>
            <a:srgbClr val="FBFAF6"/>
          </a:solidFill>
          <a:ln w="6350">
            <a:solidFill>
              <a:srgbClr val="DDD8CB"/>
            </a:solidFill>
            <a:prstDash val="solid"/>
          </a:ln>
        </p:spPr>
      </p:sp>
      <p:sp>
        <p:nvSpPr>
          <p:cNvPr id="13" name="Text 11"/>
          <p:cNvSpPr/>
          <p:nvPr/>
        </p:nvSpPr>
        <p:spPr>
          <a:xfrm>
            <a:off x="8226187" y="3789680"/>
            <a:ext cx="300691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6B87"/>
                </a:solidFill>
                <a:latin typeface="IBM Plex Sans" pitchFamily="34" charset="0"/>
                <a:ea typeface="IBM Plex Sans" pitchFamily="34" charset="-122"/>
                <a:cs typeface="IBM Plex Sans" pitchFamily="34" charset="-120"/>
              </a:rPr>
              <a:t>Alcance</a:t>
            </a:r>
            <a:endParaRPr lang="en-US" sz="1600" dirty="0"/>
          </a:p>
        </p:txBody>
      </p:sp>
      <p:sp>
        <p:nvSpPr>
          <p:cNvPr id="14" name="Text 12"/>
          <p:cNvSpPr/>
          <p:nvPr/>
        </p:nvSpPr>
        <p:spPr>
          <a:xfrm>
            <a:off x="8226187" y="4097020"/>
            <a:ext cx="3006913"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303C"/>
                </a:solidFill>
                <a:latin typeface="IBM Plex Sans" pitchFamily="34" charset="0"/>
                <a:ea typeface="IBM Plex Sans" pitchFamily="34" charset="-122"/>
                <a:cs typeface="IBM Plex Sans" pitchFamily="34" charset="-120"/>
              </a:rPr>
              <a:t>767 acciones de 46 colegios; importes en CLP nominales.</a:t>
            </a:r>
            <a:endParaRPr lang="en-US" sz="1600" dirty="0"/>
          </a:p>
        </p:txBody>
      </p:sp>
      <p:sp>
        <p:nvSpPr>
          <p:cNvPr id="15" name="Text 13"/>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16" name="Text 14"/>
          <p:cNvSpPr/>
          <p:nvPr/>
        </p:nvSpPr>
        <p:spPr>
          <a:xfrm>
            <a:off x="9804400" y="6238241"/>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2 / 19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DATOS</a:t>
            </a:r>
            <a:endParaRPr lang="en-US" sz="1200" dirty="0"/>
          </a:p>
        </p:txBody>
      </p:sp>
      <p:sp>
        <p:nvSpPr>
          <p:cNvPr id="3" name="Text 1"/>
          <p:cNvSpPr/>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Seis fuentes públicas, una fila significa cosas distintas</a:t>
            </a:r>
            <a:endParaRPr lang="en-US" sz="3200" dirty="0"/>
          </a:p>
        </p:txBody>
      </p:sp>
      <p:sp>
        <p:nvSpPr>
          <p:cNvPr id="4" name="Shape 2"/>
          <p:cNvSpPr/>
          <p:nvPr/>
        </p:nvSpPr>
        <p:spPr>
          <a:xfrm>
            <a:off x="815975" y="1806575"/>
            <a:ext cx="3414157" cy="1484630"/>
          </a:xfrm>
          <a:prstGeom prst="roundRect">
            <a:avLst>
              <a:gd name="adj" fmla="val 6630"/>
            </a:avLst>
          </a:prstGeom>
          <a:solidFill>
            <a:srgbClr val="0F3A4A"/>
          </a:solidFill>
          <a:ln w="6350">
            <a:solidFill>
              <a:srgbClr val="0F3A4A"/>
            </a:solidFill>
            <a:prstDash val="solid"/>
          </a:ln>
        </p:spPr>
      </p:sp>
      <p:sp>
        <p:nvSpPr>
          <p:cNvPr id="5" name="Text 3"/>
          <p:cNvSpPr/>
          <p:nvPr/>
        </p:nvSpPr>
        <p:spPr>
          <a:xfrm>
            <a:off x="1021080" y="20116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B15A"/>
                </a:solidFill>
                <a:latin typeface="IBM Plex Sans" pitchFamily="34" charset="0"/>
                <a:ea typeface="IBM Plex Sans" pitchFamily="34" charset="-122"/>
                <a:cs typeface="IBM Plex Sans" pitchFamily="34" charset="-120"/>
              </a:rPr>
              <a:t>Base del KPI</a:t>
            </a:r>
            <a:endParaRPr lang="en-US" sz="1200" dirty="0"/>
          </a:p>
        </p:txBody>
      </p:sp>
      <p:sp>
        <p:nvSpPr>
          <p:cNvPr id="6" name="Text 4"/>
          <p:cNvSpPr/>
          <p:nvPr/>
        </p:nvSpPr>
        <p:spPr>
          <a:xfrm>
            <a:off x="1021080" y="2288541"/>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PME 2024</a:t>
            </a:r>
            <a:endParaRPr lang="en-US" sz="1600" dirty="0"/>
          </a:p>
        </p:txBody>
      </p:sp>
      <p:sp>
        <p:nvSpPr>
          <p:cNvPr id="7" name="Text 5"/>
          <p:cNvSpPr/>
          <p:nvPr/>
        </p:nvSpPr>
        <p:spPr>
          <a:xfrm>
            <a:off x="1021080" y="25958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Una fila: una acción declarada</a:t>
            </a:r>
            <a:endParaRPr lang="en-US" sz="1200" dirty="0"/>
          </a:p>
        </p:txBody>
      </p:sp>
      <p:sp>
        <p:nvSpPr>
          <p:cNvPr id="8" name="Text 6"/>
          <p:cNvSpPr/>
          <p:nvPr/>
        </p:nvSpPr>
        <p:spPr>
          <a:xfrm>
            <a:off x="1021080" y="2872741"/>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767 acciones de 46 colegios</a:t>
            </a:r>
            <a:endParaRPr lang="en-US" sz="1200" dirty="0"/>
          </a:p>
        </p:txBody>
      </p:sp>
      <p:sp>
        <p:nvSpPr>
          <p:cNvPr id="9" name="Shape 7"/>
          <p:cNvSpPr/>
          <p:nvPr/>
        </p:nvSpPr>
        <p:spPr>
          <a:xfrm>
            <a:off x="4388882" y="1806575"/>
            <a:ext cx="3414236" cy="1484630"/>
          </a:xfrm>
          <a:prstGeom prst="roundRect">
            <a:avLst>
              <a:gd name="adj" fmla="val 6630"/>
            </a:avLst>
          </a:prstGeom>
          <a:solidFill>
            <a:srgbClr val="FBFAF6"/>
          </a:solidFill>
          <a:ln w="6350">
            <a:solidFill>
              <a:srgbClr val="DDD8CB"/>
            </a:solidFill>
            <a:prstDash val="solid"/>
          </a:ln>
        </p:spPr>
      </p:sp>
      <p:sp>
        <p:nvSpPr>
          <p:cNvPr id="10" name="Text 8"/>
          <p:cNvSpPr/>
          <p:nvPr/>
        </p:nvSpPr>
        <p:spPr>
          <a:xfrm>
            <a:off x="4593987" y="2011680"/>
            <a:ext cx="309414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3C"/>
                </a:solidFill>
                <a:latin typeface="IBM Plex Sans" pitchFamily="34" charset="0"/>
                <a:ea typeface="IBM Plex Sans" pitchFamily="34" charset="-122"/>
                <a:cs typeface="IBM Plex Sans" pitchFamily="34" charset="-120"/>
              </a:rPr>
              <a:t>Directorio Mineduc</a:t>
            </a:r>
            <a:endParaRPr lang="en-US" sz="1600" dirty="0"/>
          </a:p>
        </p:txBody>
      </p:sp>
      <p:sp>
        <p:nvSpPr>
          <p:cNvPr id="11" name="Text 9"/>
          <p:cNvSpPr/>
          <p:nvPr/>
        </p:nvSpPr>
        <p:spPr>
          <a:xfrm>
            <a:off x="4593987" y="2319020"/>
            <a:ext cx="30941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Una fila: un colegio en un año</a:t>
            </a:r>
            <a:endParaRPr lang="en-US" sz="1200" dirty="0"/>
          </a:p>
        </p:txBody>
      </p:sp>
      <p:sp>
        <p:nvSpPr>
          <p:cNvPr id="12" name="Text 10"/>
          <p:cNvSpPr/>
          <p:nvPr/>
        </p:nvSpPr>
        <p:spPr>
          <a:xfrm>
            <a:off x="4593987" y="2595880"/>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303C"/>
                </a:solidFill>
                <a:latin typeface="IBM Plex Sans" pitchFamily="34" charset="0"/>
                <a:ea typeface="IBM Plex Sans" pitchFamily="34" charset="-122"/>
                <a:cs typeface="IBM Plex Sans" pitchFamily="34" charset="-120"/>
              </a:rPr>
              <a:t>238 filas; censo 60/60/59/59</a:t>
            </a:r>
            <a:endParaRPr lang="en-US" sz="1200" dirty="0"/>
          </a:p>
        </p:txBody>
      </p:sp>
      <p:sp>
        <p:nvSpPr>
          <p:cNvPr id="13" name="Shape 11"/>
          <p:cNvSpPr/>
          <p:nvPr/>
        </p:nvSpPr>
        <p:spPr>
          <a:xfrm>
            <a:off x="7961868" y="1806575"/>
            <a:ext cx="3414157" cy="1484630"/>
          </a:xfrm>
          <a:prstGeom prst="roundRect">
            <a:avLst>
              <a:gd name="adj" fmla="val 6630"/>
            </a:avLst>
          </a:prstGeom>
          <a:solidFill>
            <a:srgbClr val="FBFAF6"/>
          </a:solidFill>
          <a:ln w="6350">
            <a:solidFill>
              <a:srgbClr val="DDD8CB"/>
            </a:solidFill>
            <a:prstDash val="solid"/>
          </a:ln>
        </p:spPr>
      </p:sp>
      <p:sp>
        <p:nvSpPr>
          <p:cNvPr id="14" name="Text 12"/>
          <p:cNvSpPr/>
          <p:nvPr/>
        </p:nvSpPr>
        <p:spPr>
          <a:xfrm>
            <a:off x="8166974" y="2011680"/>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3C"/>
                </a:solidFill>
                <a:latin typeface="IBM Plex Sans" pitchFamily="34" charset="0"/>
                <a:ea typeface="IBM Plex Sans" pitchFamily="34" charset="-122"/>
                <a:cs typeface="IBM Plex Sans" pitchFamily="34" charset="-120"/>
              </a:rPr>
              <a:t>ChileCompra</a:t>
            </a:r>
            <a:endParaRPr lang="en-US" sz="1600" dirty="0"/>
          </a:p>
        </p:txBody>
      </p:sp>
      <p:sp>
        <p:nvSpPr>
          <p:cNvPr id="15" name="Text 13"/>
          <p:cNvSpPr/>
          <p:nvPr/>
        </p:nvSpPr>
        <p:spPr>
          <a:xfrm>
            <a:off x="8166974" y="2319020"/>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Una fila: un ítem de una orden de compra</a:t>
            </a:r>
            <a:endParaRPr lang="en-US" sz="1200" dirty="0"/>
          </a:p>
        </p:txBody>
      </p:sp>
      <p:sp>
        <p:nvSpPr>
          <p:cNvPr id="16" name="Text 14"/>
          <p:cNvSpPr/>
          <p:nvPr/>
        </p:nvSpPr>
        <p:spPr>
          <a:xfrm>
            <a:off x="8166974" y="25958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303C"/>
                </a:solidFill>
                <a:latin typeface="IBM Plex Sans" pitchFamily="34" charset="0"/>
                <a:ea typeface="IBM Plex Sans" pitchFamily="34" charset="-122"/>
                <a:cs typeface="IBM Plex Sans" pitchFamily="34" charset="-120"/>
              </a:rPr>
              <a:t>1.034 OC; 637 con un colegio</a:t>
            </a:r>
            <a:endParaRPr lang="en-US" sz="1200" dirty="0"/>
          </a:p>
        </p:txBody>
      </p:sp>
      <p:sp>
        <p:nvSpPr>
          <p:cNvPr id="17" name="Shape 15"/>
          <p:cNvSpPr/>
          <p:nvPr/>
        </p:nvSpPr>
        <p:spPr>
          <a:xfrm>
            <a:off x="815975" y="3449955"/>
            <a:ext cx="3414157" cy="1207770"/>
          </a:xfrm>
          <a:prstGeom prst="roundRect">
            <a:avLst>
              <a:gd name="adj" fmla="val 8149"/>
            </a:avLst>
          </a:prstGeom>
          <a:solidFill>
            <a:srgbClr val="FBFAF6"/>
          </a:solidFill>
          <a:ln w="6350">
            <a:solidFill>
              <a:srgbClr val="DDD8CB"/>
            </a:solidFill>
            <a:prstDash val="solid"/>
          </a:ln>
        </p:spPr>
      </p:sp>
      <p:sp>
        <p:nvSpPr>
          <p:cNvPr id="18" name="Text 16"/>
          <p:cNvSpPr/>
          <p:nvPr/>
        </p:nvSpPr>
        <p:spPr>
          <a:xfrm>
            <a:off x="1021080" y="3655061"/>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3C"/>
                </a:solidFill>
                <a:latin typeface="IBM Plex Sans" pitchFamily="34" charset="0"/>
                <a:ea typeface="IBM Plex Sans" pitchFamily="34" charset="-122"/>
                <a:cs typeface="IBM Plex Sans" pitchFamily="34" charset="-120"/>
              </a:rPr>
              <a:t>SIMCE</a:t>
            </a:r>
            <a:endParaRPr lang="en-US" sz="1600" dirty="0"/>
          </a:p>
        </p:txBody>
      </p:sp>
      <p:sp>
        <p:nvSpPr>
          <p:cNvPr id="19" name="Text 17"/>
          <p:cNvSpPr/>
          <p:nvPr/>
        </p:nvSpPr>
        <p:spPr>
          <a:xfrm>
            <a:off x="1021080" y="39624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Una fila: colegio, año, grado y área</a:t>
            </a:r>
            <a:endParaRPr lang="en-US" sz="1200" dirty="0"/>
          </a:p>
        </p:txBody>
      </p:sp>
      <p:sp>
        <p:nvSpPr>
          <p:cNvPr id="20" name="Text 18"/>
          <p:cNvSpPr/>
          <p:nvPr/>
        </p:nvSpPr>
        <p:spPr>
          <a:xfrm>
            <a:off x="1021080" y="4239261"/>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303C"/>
                </a:solidFill>
                <a:latin typeface="IBM Plex Sans" pitchFamily="34" charset="0"/>
                <a:ea typeface="IBM Plex Sans" pitchFamily="34" charset="-122"/>
                <a:cs typeface="IBM Plex Sans" pitchFamily="34" charset="-120"/>
              </a:rPr>
              <a:t>504 puntajes por área</a:t>
            </a:r>
            <a:endParaRPr lang="en-US" sz="1200" dirty="0"/>
          </a:p>
        </p:txBody>
      </p:sp>
      <p:sp>
        <p:nvSpPr>
          <p:cNvPr id="21" name="Shape 19"/>
          <p:cNvSpPr/>
          <p:nvPr/>
        </p:nvSpPr>
        <p:spPr>
          <a:xfrm>
            <a:off x="4388882" y="3449955"/>
            <a:ext cx="3414236" cy="1207770"/>
          </a:xfrm>
          <a:prstGeom prst="roundRect">
            <a:avLst>
              <a:gd name="adj" fmla="val 8149"/>
            </a:avLst>
          </a:prstGeom>
          <a:solidFill>
            <a:srgbClr val="FBFAF6"/>
          </a:solidFill>
          <a:ln w="6350">
            <a:solidFill>
              <a:srgbClr val="DDD8CB"/>
            </a:solidFill>
            <a:prstDash val="solid"/>
          </a:ln>
        </p:spPr>
      </p:sp>
      <p:sp>
        <p:nvSpPr>
          <p:cNvPr id="22" name="Text 20"/>
          <p:cNvSpPr/>
          <p:nvPr/>
        </p:nvSpPr>
        <p:spPr>
          <a:xfrm>
            <a:off x="4593987" y="3655061"/>
            <a:ext cx="309414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3C"/>
                </a:solidFill>
                <a:latin typeface="IBM Plex Sans" pitchFamily="34" charset="0"/>
                <a:ea typeface="IBM Plex Sans" pitchFamily="34" charset="-122"/>
                <a:cs typeface="IBM Plex Sans" pitchFamily="34" charset="-120"/>
              </a:rPr>
              <a:t>IDPS</a:t>
            </a:r>
            <a:endParaRPr lang="en-US" sz="1600" dirty="0"/>
          </a:p>
        </p:txBody>
      </p:sp>
      <p:sp>
        <p:nvSpPr>
          <p:cNvPr id="23" name="Text 21"/>
          <p:cNvSpPr/>
          <p:nvPr/>
        </p:nvSpPr>
        <p:spPr>
          <a:xfrm>
            <a:off x="4593987" y="3962400"/>
            <a:ext cx="30941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Una fila: colegio, año, grado e indicador</a:t>
            </a:r>
            <a:endParaRPr lang="en-US" sz="1200" dirty="0"/>
          </a:p>
        </p:txBody>
      </p:sp>
      <p:sp>
        <p:nvSpPr>
          <p:cNvPr id="24" name="Text 22"/>
          <p:cNvSpPr/>
          <p:nvPr/>
        </p:nvSpPr>
        <p:spPr>
          <a:xfrm>
            <a:off x="4593987" y="4239261"/>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303C"/>
                </a:solidFill>
                <a:latin typeface="IBM Plex Sans" pitchFamily="34" charset="0"/>
                <a:ea typeface="IBM Plex Sans" pitchFamily="34" charset="-122"/>
                <a:cs typeface="IBM Plex Sans" pitchFamily="34" charset="-120"/>
              </a:rPr>
              <a:t>936 filas, 2023 a 2025</a:t>
            </a:r>
            <a:endParaRPr lang="en-US" sz="1200" dirty="0"/>
          </a:p>
        </p:txBody>
      </p:sp>
      <p:sp>
        <p:nvSpPr>
          <p:cNvPr id="25" name="Shape 23"/>
          <p:cNvSpPr/>
          <p:nvPr/>
        </p:nvSpPr>
        <p:spPr>
          <a:xfrm>
            <a:off x="7961868" y="3449955"/>
            <a:ext cx="3414157" cy="1207770"/>
          </a:xfrm>
          <a:prstGeom prst="roundRect">
            <a:avLst>
              <a:gd name="adj" fmla="val 8149"/>
            </a:avLst>
          </a:prstGeom>
          <a:solidFill>
            <a:srgbClr val="FBFAF6"/>
          </a:solidFill>
          <a:ln w="6350">
            <a:solidFill>
              <a:srgbClr val="DDD8CB"/>
            </a:solidFill>
            <a:prstDash val="solid"/>
          </a:ln>
        </p:spPr>
      </p:sp>
      <p:sp>
        <p:nvSpPr>
          <p:cNvPr id="26" name="Text 24"/>
          <p:cNvSpPr/>
          <p:nvPr/>
        </p:nvSpPr>
        <p:spPr>
          <a:xfrm>
            <a:off x="8166974" y="3655061"/>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3C"/>
                </a:solidFill>
                <a:latin typeface="IBM Plex Sans" pitchFamily="34" charset="0"/>
                <a:ea typeface="IBM Plex Sans" pitchFamily="34" charset="-122"/>
                <a:cs typeface="IBM Plex Sans" pitchFamily="34" charset="-120"/>
              </a:rPr>
              <a:t>PAS Supereduc</a:t>
            </a:r>
            <a:endParaRPr lang="en-US" sz="1600" dirty="0"/>
          </a:p>
        </p:txBody>
      </p:sp>
      <p:sp>
        <p:nvSpPr>
          <p:cNvPr id="27" name="Text 25"/>
          <p:cNvSpPr/>
          <p:nvPr/>
        </p:nvSpPr>
        <p:spPr>
          <a:xfrm>
            <a:off x="8166974" y="39624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Una fila: un proceso sancionatorio</a:t>
            </a:r>
            <a:endParaRPr lang="en-US" sz="1200" dirty="0"/>
          </a:p>
        </p:txBody>
      </p:sp>
      <p:sp>
        <p:nvSpPr>
          <p:cNvPr id="28" name="Text 26"/>
          <p:cNvSpPr/>
          <p:nvPr/>
        </p:nvSpPr>
        <p:spPr>
          <a:xfrm>
            <a:off x="8166974" y="4239261"/>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303C"/>
                </a:solidFill>
                <a:latin typeface="IBM Plex Sans" pitchFamily="34" charset="0"/>
                <a:ea typeface="IBM Plex Sans" pitchFamily="34" charset="-122"/>
                <a:cs typeface="IBM Plex Sans" pitchFamily="34" charset="-120"/>
              </a:rPr>
              <a:t>110 procesos, 2022 a 2025</a:t>
            </a:r>
            <a:endParaRPr lang="en-US" sz="1200" dirty="0"/>
          </a:p>
        </p:txBody>
      </p:sp>
      <p:sp>
        <p:nvSpPr>
          <p:cNvPr id="29" name="Text 27"/>
          <p:cNvSpPr/>
          <p:nvPr/>
        </p:nvSpPr>
        <p:spPr>
          <a:xfrm>
            <a:off x="812800" y="4914900"/>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303C"/>
                </a:solidFill>
                <a:latin typeface="IBM Plex Sans" pitchFamily="34" charset="0"/>
                <a:ea typeface="IBM Plex Sans" pitchFamily="34" charset="-122"/>
                <a:cs typeface="IBM Plex Sans" pitchFamily="34" charset="-120"/>
              </a:rPr>
              <a:t>Se unen por RBD y año, pero </a:t>
            </a:r>
            <a:r>
              <a:rPr lang="en-US" sz="1600" b="1" dirty="0">
                <a:solidFill>
                  <a:srgbClr val="14303C"/>
                </a:solidFill>
                <a:latin typeface="IBM Plex Sans" pitchFamily="34" charset="0"/>
                <a:ea typeface="IBM Plex Sans" pitchFamily="34" charset="-122"/>
                <a:cs typeface="IBM Plex Sans" pitchFamily="34" charset="-120"/>
              </a:rPr>
              <a:t>agregadas antes de unir</a:t>
            </a:r>
            <a:r>
              <a:rPr lang="en-US" sz="1600" dirty="0">
                <a:solidFill>
                  <a:srgbClr val="14303C"/>
                </a:solidFill>
                <a:latin typeface="IBM Plex Sans" pitchFamily="34" charset="0"/>
                <a:ea typeface="IBM Plex Sans" pitchFamily="34" charset="-122"/>
                <a:cs typeface="IBM Plex Sans" pitchFamily="34" charset="-120"/>
              </a:rPr>
              <a:t>: unir fila a fila multiplicaría filas y montos.</a:t>
            </a:r>
            <a:endParaRPr lang="en-US" sz="1600" dirty="0"/>
          </a:p>
        </p:txBody>
      </p:sp>
      <p:sp>
        <p:nvSpPr>
          <p:cNvPr id="30" name="Text 28"/>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31" name="Text 29"/>
          <p:cNvSpPr/>
          <p:nvPr/>
        </p:nvSpPr>
        <p:spPr>
          <a:xfrm>
            <a:off x="9804400" y="6238241"/>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3 / 19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MÉTODO</a:t>
            </a:r>
            <a:endParaRPr lang="en-US" sz="1200" dirty="0"/>
          </a:p>
        </p:txBody>
      </p:sp>
      <p:sp>
        <p:nvSpPr>
          <p:cNvPr id="3" name="Text 1"/>
          <p:cNvSpPr/>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Del problema de decisión a la lista de respaldo</a:t>
            </a:r>
            <a:endParaRPr lang="en-US" sz="3200" dirty="0"/>
          </a:p>
        </p:txBody>
      </p:sp>
      <p:sp>
        <p:nvSpPr>
          <p:cNvPr id="4" name="Shape 2"/>
          <p:cNvSpPr/>
          <p:nvPr/>
        </p:nvSpPr>
        <p:spPr>
          <a:xfrm>
            <a:off x="815975" y="1806575"/>
            <a:ext cx="2520950" cy="1421130"/>
          </a:xfrm>
          <a:prstGeom prst="roundRect">
            <a:avLst>
              <a:gd name="adj" fmla="val 6926"/>
            </a:avLst>
          </a:prstGeom>
          <a:solidFill>
            <a:srgbClr val="FBFAF6"/>
          </a:solidFill>
          <a:ln w="6350">
            <a:solidFill>
              <a:srgbClr val="DDD8CB"/>
            </a:solidFill>
            <a:prstDash val="solid"/>
          </a:ln>
        </p:spPr>
      </p:sp>
      <p:sp>
        <p:nvSpPr>
          <p:cNvPr id="5" name="Text 3"/>
          <p:cNvSpPr/>
          <p:nvPr/>
        </p:nvSpPr>
        <p:spPr>
          <a:xfrm>
            <a:off x="1021080" y="2011680"/>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A12"/>
                </a:solidFill>
                <a:latin typeface="IBM Plex Sans" pitchFamily="34" charset="0"/>
                <a:ea typeface="IBM Plex Sans" pitchFamily="34" charset="-122"/>
                <a:cs typeface="IBM Plex Sans" pitchFamily="34" charset="-120"/>
              </a:rPr>
              <a:t>Paso 1</a:t>
            </a:r>
            <a:endParaRPr lang="en-US" sz="1200" dirty="0"/>
          </a:p>
        </p:txBody>
      </p:sp>
      <p:sp>
        <p:nvSpPr>
          <p:cNvPr id="6" name="Text 4"/>
          <p:cNvSpPr/>
          <p:nvPr/>
        </p:nvSpPr>
        <p:spPr>
          <a:xfrm>
            <a:off x="1021080" y="2288541"/>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3C"/>
                </a:solidFill>
                <a:latin typeface="IBM Plex Sans" pitchFamily="34" charset="0"/>
                <a:ea typeface="IBM Plex Sans" pitchFamily="34" charset="-122"/>
                <a:cs typeface="IBM Plex Sans" pitchFamily="34" charset="-120"/>
              </a:rPr>
              <a:t>Load</a:t>
            </a:r>
            <a:endParaRPr lang="en-US" sz="1600" dirty="0"/>
          </a:p>
        </p:txBody>
      </p:sp>
      <p:sp>
        <p:nvSpPr>
          <p:cNvPr id="7" name="Text 5"/>
          <p:cNvSpPr/>
          <p:nvPr/>
        </p:nvSpPr>
        <p:spPr>
          <a:xfrm>
            <a:off x="1021080" y="2595880"/>
            <a:ext cx="21740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Cargar 6 fuentes como texto y verificar sus huellas</a:t>
            </a:r>
            <a:endParaRPr lang="en-US" sz="1200" dirty="0"/>
          </a:p>
        </p:txBody>
      </p:sp>
      <p:sp>
        <p:nvSpPr>
          <p:cNvPr id="8" name="Shape 6"/>
          <p:cNvSpPr/>
          <p:nvPr/>
        </p:nvSpPr>
        <p:spPr>
          <a:xfrm>
            <a:off x="3495675" y="1806575"/>
            <a:ext cx="2520950" cy="1421130"/>
          </a:xfrm>
          <a:prstGeom prst="roundRect">
            <a:avLst>
              <a:gd name="adj" fmla="val 6926"/>
            </a:avLst>
          </a:prstGeom>
          <a:solidFill>
            <a:srgbClr val="FBFAF6"/>
          </a:solidFill>
          <a:ln w="6350">
            <a:solidFill>
              <a:srgbClr val="DDD8CB"/>
            </a:solidFill>
            <a:prstDash val="solid"/>
          </a:ln>
        </p:spPr>
      </p:sp>
      <p:sp>
        <p:nvSpPr>
          <p:cNvPr id="9" name="Text 7"/>
          <p:cNvSpPr/>
          <p:nvPr/>
        </p:nvSpPr>
        <p:spPr>
          <a:xfrm>
            <a:off x="3700780" y="2011680"/>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A12"/>
                </a:solidFill>
                <a:latin typeface="IBM Plex Sans" pitchFamily="34" charset="0"/>
                <a:ea typeface="IBM Plex Sans" pitchFamily="34" charset="-122"/>
                <a:cs typeface="IBM Plex Sans" pitchFamily="34" charset="-120"/>
              </a:rPr>
              <a:t>Paso 2</a:t>
            </a:r>
            <a:endParaRPr lang="en-US" sz="1200" dirty="0"/>
          </a:p>
        </p:txBody>
      </p:sp>
      <p:sp>
        <p:nvSpPr>
          <p:cNvPr id="10" name="Text 8"/>
          <p:cNvSpPr/>
          <p:nvPr/>
        </p:nvSpPr>
        <p:spPr>
          <a:xfrm>
            <a:off x="3700780" y="2288541"/>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3C"/>
                </a:solidFill>
                <a:latin typeface="IBM Plex Sans" pitchFamily="34" charset="0"/>
                <a:ea typeface="IBM Plex Sans" pitchFamily="34" charset="-122"/>
                <a:cs typeface="IBM Plex Sans" pitchFamily="34" charset="-120"/>
              </a:rPr>
              <a:t>Profile</a:t>
            </a:r>
            <a:endParaRPr lang="en-US" sz="1600" dirty="0"/>
          </a:p>
        </p:txBody>
      </p:sp>
      <p:sp>
        <p:nvSpPr>
          <p:cNvPr id="11" name="Text 9"/>
          <p:cNvSpPr/>
          <p:nvPr/>
        </p:nvSpPr>
        <p:spPr>
          <a:xfrm>
            <a:off x="3700780" y="2595880"/>
            <a:ext cx="21740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Definir qué representa cada fila y sus llaves</a:t>
            </a:r>
            <a:endParaRPr lang="en-US" sz="1200" dirty="0"/>
          </a:p>
        </p:txBody>
      </p:sp>
      <p:sp>
        <p:nvSpPr>
          <p:cNvPr id="12" name="Shape 10"/>
          <p:cNvSpPr/>
          <p:nvPr/>
        </p:nvSpPr>
        <p:spPr>
          <a:xfrm>
            <a:off x="6175375" y="1806575"/>
            <a:ext cx="2520950" cy="1421130"/>
          </a:xfrm>
          <a:prstGeom prst="roundRect">
            <a:avLst>
              <a:gd name="adj" fmla="val 6926"/>
            </a:avLst>
          </a:prstGeom>
          <a:solidFill>
            <a:srgbClr val="FBFAF6"/>
          </a:solidFill>
          <a:ln w="6350">
            <a:solidFill>
              <a:srgbClr val="DDD8CB"/>
            </a:solidFill>
            <a:prstDash val="solid"/>
          </a:ln>
        </p:spPr>
      </p:sp>
      <p:sp>
        <p:nvSpPr>
          <p:cNvPr id="13" name="Text 11"/>
          <p:cNvSpPr/>
          <p:nvPr/>
        </p:nvSpPr>
        <p:spPr>
          <a:xfrm>
            <a:off x="6380480" y="2011680"/>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A12"/>
                </a:solidFill>
                <a:latin typeface="IBM Plex Sans" pitchFamily="34" charset="0"/>
                <a:ea typeface="IBM Plex Sans" pitchFamily="34" charset="-122"/>
                <a:cs typeface="IBM Plex Sans" pitchFamily="34" charset="-120"/>
              </a:rPr>
              <a:t>Paso 3</a:t>
            </a:r>
            <a:endParaRPr lang="en-US" sz="1200" dirty="0"/>
          </a:p>
        </p:txBody>
      </p:sp>
      <p:sp>
        <p:nvSpPr>
          <p:cNvPr id="14" name="Text 12"/>
          <p:cNvSpPr/>
          <p:nvPr/>
        </p:nvSpPr>
        <p:spPr>
          <a:xfrm>
            <a:off x="6380480" y="2288541"/>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3C"/>
                </a:solidFill>
                <a:latin typeface="IBM Plex Sans" pitchFamily="34" charset="0"/>
                <a:ea typeface="IBM Plex Sans" pitchFamily="34" charset="-122"/>
                <a:cs typeface="IBM Plex Sans" pitchFamily="34" charset="-120"/>
              </a:rPr>
              <a:t>Explore</a:t>
            </a:r>
            <a:endParaRPr lang="en-US" sz="1600" dirty="0"/>
          </a:p>
        </p:txBody>
      </p:sp>
      <p:sp>
        <p:nvSpPr>
          <p:cNvPr id="15" name="Text 13"/>
          <p:cNvSpPr/>
          <p:nvPr/>
        </p:nvSpPr>
        <p:spPr>
          <a:xfrm>
            <a:off x="6380480" y="2595880"/>
            <a:ext cx="21740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Ver colas de importes y vacíos ocultos</a:t>
            </a:r>
            <a:endParaRPr lang="en-US" sz="1200" dirty="0"/>
          </a:p>
        </p:txBody>
      </p:sp>
      <p:sp>
        <p:nvSpPr>
          <p:cNvPr id="16" name="Shape 14"/>
          <p:cNvSpPr/>
          <p:nvPr/>
        </p:nvSpPr>
        <p:spPr>
          <a:xfrm>
            <a:off x="8855075" y="1806575"/>
            <a:ext cx="2520950" cy="1421130"/>
          </a:xfrm>
          <a:prstGeom prst="roundRect">
            <a:avLst>
              <a:gd name="adj" fmla="val 6926"/>
            </a:avLst>
          </a:prstGeom>
          <a:solidFill>
            <a:srgbClr val="FBFAF6"/>
          </a:solidFill>
          <a:ln w="6350">
            <a:solidFill>
              <a:srgbClr val="DDD8CB"/>
            </a:solidFill>
            <a:prstDash val="solid"/>
          </a:ln>
        </p:spPr>
      </p:sp>
      <p:sp>
        <p:nvSpPr>
          <p:cNvPr id="17" name="Text 15"/>
          <p:cNvSpPr/>
          <p:nvPr/>
        </p:nvSpPr>
        <p:spPr>
          <a:xfrm>
            <a:off x="9060180" y="2011680"/>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A12"/>
                </a:solidFill>
                <a:latin typeface="IBM Plex Sans" pitchFamily="34" charset="0"/>
                <a:ea typeface="IBM Plex Sans" pitchFamily="34" charset="-122"/>
                <a:cs typeface="IBM Plex Sans" pitchFamily="34" charset="-120"/>
              </a:rPr>
              <a:t>Paso 4</a:t>
            </a:r>
            <a:endParaRPr lang="en-US" sz="1200" dirty="0"/>
          </a:p>
        </p:txBody>
      </p:sp>
      <p:sp>
        <p:nvSpPr>
          <p:cNvPr id="18" name="Text 16"/>
          <p:cNvSpPr/>
          <p:nvPr/>
        </p:nvSpPr>
        <p:spPr>
          <a:xfrm>
            <a:off x="9060180" y="2288541"/>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3C"/>
                </a:solidFill>
                <a:latin typeface="IBM Plex Sans" pitchFamily="34" charset="0"/>
                <a:ea typeface="IBM Plex Sans" pitchFamily="34" charset="-122"/>
                <a:cs typeface="IBM Plex Sans" pitchFamily="34" charset="-120"/>
              </a:rPr>
              <a:t>Clean / Impute</a:t>
            </a:r>
            <a:endParaRPr lang="en-US" sz="1600" dirty="0"/>
          </a:p>
        </p:txBody>
      </p:sp>
      <p:sp>
        <p:nvSpPr>
          <p:cNvPr id="19" name="Text 17"/>
          <p:cNvSpPr/>
          <p:nvPr/>
        </p:nvSpPr>
        <p:spPr>
          <a:xfrm>
            <a:off x="9060180" y="2595880"/>
            <a:ext cx="21740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Convertir tipos; 0 filas eliminadas; sin imputar</a:t>
            </a:r>
            <a:endParaRPr lang="en-US" sz="1200" dirty="0"/>
          </a:p>
        </p:txBody>
      </p:sp>
      <p:sp>
        <p:nvSpPr>
          <p:cNvPr id="20" name="Shape 18"/>
          <p:cNvSpPr/>
          <p:nvPr/>
        </p:nvSpPr>
        <p:spPr>
          <a:xfrm>
            <a:off x="815975" y="3386455"/>
            <a:ext cx="2520950" cy="1421130"/>
          </a:xfrm>
          <a:prstGeom prst="roundRect">
            <a:avLst>
              <a:gd name="adj" fmla="val 6926"/>
            </a:avLst>
          </a:prstGeom>
          <a:solidFill>
            <a:srgbClr val="FBFAF6"/>
          </a:solidFill>
          <a:ln w="6350">
            <a:solidFill>
              <a:srgbClr val="DDD8CB"/>
            </a:solidFill>
            <a:prstDash val="solid"/>
          </a:ln>
        </p:spPr>
      </p:sp>
      <p:sp>
        <p:nvSpPr>
          <p:cNvPr id="21" name="Text 19"/>
          <p:cNvSpPr/>
          <p:nvPr/>
        </p:nvSpPr>
        <p:spPr>
          <a:xfrm>
            <a:off x="1021080" y="3591561"/>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A12"/>
                </a:solidFill>
                <a:latin typeface="IBM Plex Sans" pitchFamily="34" charset="0"/>
                <a:ea typeface="IBM Plex Sans" pitchFamily="34" charset="-122"/>
                <a:cs typeface="IBM Plex Sans" pitchFamily="34" charset="-120"/>
              </a:rPr>
              <a:t>Paso 5</a:t>
            </a:r>
            <a:endParaRPr lang="en-US" sz="1200" dirty="0"/>
          </a:p>
        </p:txBody>
      </p:sp>
      <p:sp>
        <p:nvSpPr>
          <p:cNvPr id="22" name="Text 20"/>
          <p:cNvSpPr/>
          <p:nvPr/>
        </p:nvSpPr>
        <p:spPr>
          <a:xfrm>
            <a:off x="1021080" y="3868420"/>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3C"/>
                </a:solidFill>
                <a:latin typeface="IBM Plex Sans" pitchFamily="34" charset="0"/>
                <a:ea typeface="IBM Plex Sans" pitchFamily="34" charset="-122"/>
                <a:cs typeface="IBM Plex Sans" pitchFamily="34" charset="-120"/>
              </a:rPr>
              <a:t>Transform</a:t>
            </a:r>
            <a:endParaRPr lang="en-US" sz="1600" dirty="0"/>
          </a:p>
        </p:txBody>
      </p:sp>
      <p:sp>
        <p:nvSpPr>
          <p:cNvPr id="23" name="Text 21"/>
          <p:cNvSpPr/>
          <p:nvPr/>
        </p:nvSpPr>
        <p:spPr>
          <a:xfrm>
            <a:off x="1021080" y="4175761"/>
            <a:ext cx="21740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KPI por acción, colegio y dimensión</a:t>
            </a:r>
            <a:endParaRPr lang="en-US" sz="1200" dirty="0"/>
          </a:p>
        </p:txBody>
      </p:sp>
      <p:sp>
        <p:nvSpPr>
          <p:cNvPr id="24" name="Shape 22"/>
          <p:cNvSpPr/>
          <p:nvPr/>
        </p:nvSpPr>
        <p:spPr>
          <a:xfrm>
            <a:off x="3495675" y="3386455"/>
            <a:ext cx="2520950" cy="1421130"/>
          </a:xfrm>
          <a:prstGeom prst="roundRect">
            <a:avLst>
              <a:gd name="adj" fmla="val 6926"/>
            </a:avLst>
          </a:prstGeom>
          <a:solidFill>
            <a:srgbClr val="FBFAF6"/>
          </a:solidFill>
          <a:ln w="6350">
            <a:solidFill>
              <a:srgbClr val="DDD8CB"/>
            </a:solidFill>
            <a:prstDash val="solid"/>
          </a:ln>
        </p:spPr>
      </p:sp>
      <p:sp>
        <p:nvSpPr>
          <p:cNvPr id="25" name="Text 23"/>
          <p:cNvSpPr/>
          <p:nvPr/>
        </p:nvSpPr>
        <p:spPr>
          <a:xfrm>
            <a:off x="3700780" y="3591561"/>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A12"/>
                </a:solidFill>
                <a:latin typeface="IBM Plex Sans" pitchFamily="34" charset="0"/>
                <a:ea typeface="IBM Plex Sans" pitchFamily="34" charset="-122"/>
                <a:cs typeface="IBM Plex Sans" pitchFamily="34" charset="-120"/>
              </a:rPr>
              <a:t>Paso 6</a:t>
            </a:r>
            <a:endParaRPr lang="en-US" sz="1200" dirty="0"/>
          </a:p>
        </p:txBody>
      </p:sp>
      <p:sp>
        <p:nvSpPr>
          <p:cNvPr id="26" name="Text 24"/>
          <p:cNvSpPr/>
          <p:nvPr/>
        </p:nvSpPr>
        <p:spPr>
          <a:xfrm>
            <a:off x="3700780" y="3868420"/>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3C"/>
                </a:solidFill>
                <a:latin typeface="IBM Plex Sans" pitchFamily="34" charset="0"/>
                <a:ea typeface="IBM Plex Sans" pitchFamily="34" charset="-122"/>
                <a:cs typeface="IBM Plex Sans" pitchFamily="34" charset="-120"/>
              </a:rPr>
              <a:t>Validate</a:t>
            </a:r>
            <a:endParaRPr lang="en-US" sz="1600" dirty="0"/>
          </a:p>
        </p:txBody>
      </p:sp>
      <p:sp>
        <p:nvSpPr>
          <p:cNvPr id="27" name="Text 25"/>
          <p:cNvSpPr/>
          <p:nvPr/>
        </p:nvSpPr>
        <p:spPr>
          <a:xfrm>
            <a:off x="3700780" y="4175761"/>
            <a:ext cx="21740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18 controles automáticos</a:t>
            </a:r>
            <a:endParaRPr lang="en-US" sz="1200" dirty="0"/>
          </a:p>
        </p:txBody>
      </p:sp>
      <p:sp>
        <p:nvSpPr>
          <p:cNvPr id="28" name="Shape 26"/>
          <p:cNvSpPr/>
          <p:nvPr/>
        </p:nvSpPr>
        <p:spPr>
          <a:xfrm>
            <a:off x="6175375" y="3386455"/>
            <a:ext cx="2520950" cy="1421130"/>
          </a:xfrm>
          <a:prstGeom prst="roundRect">
            <a:avLst>
              <a:gd name="adj" fmla="val 6926"/>
            </a:avLst>
          </a:prstGeom>
          <a:solidFill>
            <a:srgbClr val="FBFAF6"/>
          </a:solidFill>
          <a:ln w="6350">
            <a:solidFill>
              <a:srgbClr val="DDD8CB"/>
            </a:solidFill>
            <a:prstDash val="solid"/>
          </a:ln>
        </p:spPr>
      </p:sp>
      <p:sp>
        <p:nvSpPr>
          <p:cNvPr id="29" name="Text 27"/>
          <p:cNvSpPr/>
          <p:nvPr/>
        </p:nvSpPr>
        <p:spPr>
          <a:xfrm>
            <a:off x="6380480" y="3591561"/>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A12"/>
                </a:solidFill>
                <a:latin typeface="IBM Plex Sans" pitchFamily="34" charset="0"/>
                <a:ea typeface="IBM Plex Sans" pitchFamily="34" charset="-122"/>
                <a:cs typeface="IBM Plex Sans" pitchFamily="34" charset="-120"/>
              </a:rPr>
              <a:t>Paso 7</a:t>
            </a:r>
            <a:endParaRPr lang="en-US" sz="1200" dirty="0"/>
          </a:p>
        </p:txBody>
      </p:sp>
      <p:sp>
        <p:nvSpPr>
          <p:cNvPr id="30" name="Text 28"/>
          <p:cNvSpPr/>
          <p:nvPr/>
        </p:nvSpPr>
        <p:spPr>
          <a:xfrm>
            <a:off x="6380480" y="3868420"/>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3C"/>
                </a:solidFill>
                <a:latin typeface="IBM Plex Sans" pitchFamily="34" charset="0"/>
                <a:ea typeface="IBM Plex Sans" pitchFamily="34" charset="-122"/>
                <a:cs typeface="IBM Plex Sans" pitchFamily="34" charset="-120"/>
              </a:rPr>
              <a:t>Explore again</a:t>
            </a:r>
            <a:endParaRPr lang="en-US" sz="1600" dirty="0"/>
          </a:p>
        </p:txBody>
      </p:sp>
      <p:sp>
        <p:nvSpPr>
          <p:cNvPr id="31" name="Text 29"/>
          <p:cNvSpPr/>
          <p:nvPr/>
        </p:nvSpPr>
        <p:spPr>
          <a:xfrm>
            <a:off x="6380480" y="4175761"/>
            <a:ext cx="21740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Distribuciones, faltantes, extremos y correlaciones</a:t>
            </a:r>
            <a:endParaRPr lang="en-US" sz="1200" dirty="0"/>
          </a:p>
        </p:txBody>
      </p:sp>
      <p:sp>
        <p:nvSpPr>
          <p:cNvPr id="32" name="Shape 30"/>
          <p:cNvSpPr/>
          <p:nvPr/>
        </p:nvSpPr>
        <p:spPr>
          <a:xfrm>
            <a:off x="8855075" y="3386455"/>
            <a:ext cx="2520950" cy="1421130"/>
          </a:xfrm>
          <a:prstGeom prst="roundRect">
            <a:avLst>
              <a:gd name="adj" fmla="val 6926"/>
            </a:avLst>
          </a:prstGeom>
          <a:solidFill>
            <a:srgbClr val="0F3A4A"/>
          </a:solidFill>
          <a:ln w="6350">
            <a:solidFill>
              <a:srgbClr val="0F3A4A"/>
            </a:solidFill>
            <a:prstDash val="solid"/>
          </a:ln>
        </p:spPr>
      </p:sp>
      <p:sp>
        <p:nvSpPr>
          <p:cNvPr id="33" name="Text 31"/>
          <p:cNvSpPr/>
          <p:nvPr/>
        </p:nvSpPr>
        <p:spPr>
          <a:xfrm>
            <a:off x="9060180" y="3591561"/>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B15A"/>
                </a:solidFill>
                <a:latin typeface="IBM Plex Sans" pitchFamily="34" charset="0"/>
                <a:ea typeface="IBM Plex Sans" pitchFamily="34" charset="-122"/>
                <a:cs typeface="IBM Plex Sans" pitchFamily="34" charset="-120"/>
              </a:rPr>
              <a:t>Paso 8</a:t>
            </a:r>
            <a:endParaRPr lang="en-US" sz="1200" dirty="0"/>
          </a:p>
        </p:txBody>
      </p:sp>
      <p:sp>
        <p:nvSpPr>
          <p:cNvPr id="34" name="Text 32"/>
          <p:cNvSpPr/>
          <p:nvPr/>
        </p:nvSpPr>
        <p:spPr>
          <a:xfrm>
            <a:off x="9060180" y="3868420"/>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Respuesta</a:t>
            </a:r>
            <a:endParaRPr lang="en-US" sz="1600" dirty="0"/>
          </a:p>
        </p:txBody>
      </p:sp>
      <p:sp>
        <p:nvSpPr>
          <p:cNvPr id="35" name="Text 33"/>
          <p:cNvSpPr/>
          <p:nvPr/>
        </p:nvSpPr>
        <p:spPr>
          <a:xfrm>
            <a:off x="9060180" y="4175761"/>
            <a:ext cx="21740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Umbrales y lista de respaldo a solicitar</a:t>
            </a:r>
            <a:endParaRPr lang="en-US" sz="1200" dirty="0"/>
          </a:p>
        </p:txBody>
      </p:sp>
      <p:sp>
        <p:nvSpPr>
          <p:cNvPr id="36" name="Text 34"/>
          <p:cNvSpPr/>
          <p:nvPr/>
        </p:nvSpPr>
        <p:spPr>
          <a:xfrm>
            <a:off x="812800" y="5064761"/>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303C"/>
                </a:solidFill>
                <a:latin typeface="IBM Plex Sans" pitchFamily="34" charset="0"/>
                <a:ea typeface="IBM Plex Sans" pitchFamily="34" charset="-122"/>
                <a:cs typeface="IBM Plex Sans" pitchFamily="34" charset="-120"/>
              </a:rPr>
              <a:t>El proceso es </a:t>
            </a:r>
            <a:r>
              <a:rPr lang="en-US" sz="1600" b="1" dirty="0">
                <a:solidFill>
                  <a:srgbClr val="14303C"/>
                </a:solidFill>
                <a:latin typeface="IBM Plex Sans" pitchFamily="34" charset="0"/>
                <a:ea typeface="IBM Plex Sans" pitchFamily="34" charset="-122"/>
                <a:cs typeface="IBM Plex Sans" pitchFamily="34" charset="-120"/>
              </a:rPr>
              <a:t>iterativo</a:t>
            </a:r>
            <a:r>
              <a:rPr lang="en-US" sz="1600" dirty="0">
                <a:solidFill>
                  <a:srgbClr val="14303C"/>
                </a:solidFill>
                <a:latin typeface="IBM Plex Sans" pitchFamily="34" charset="0"/>
                <a:ea typeface="IBM Plex Sans" pitchFamily="34" charset="-122"/>
                <a:cs typeface="IBM Plex Sans" pitchFamily="34" charset="-120"/>
              </a:rPr>
              <a:t>: si el EDA final revela un problema, se vuelve a limpiar y a validar.</a:t>
            </a:r>
            <a:endParaRPr lang="en-US" sz="1600" dirty="0"/>
          </a:p>
        </p:txBody>
      </p:sp>
      <p:sp>
        <p:nvSpPr>
          <p:cNvPr id="37" name="Text 35"/>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38" name="Text 36"/>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4 / 19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INDICADOR</a:t>
            </a:r>
            <a:endParaRPr lang="en-US" sz="1200" dirty="0"/>
          </a:p>
        </p:txBody>
      </p:sp>
      <p:sp>
        <p:nvSpPr>
          <p:cNvPr id="3" name="Text 1"/>
          <p:cNvSpPr/>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KPI: acciones con $0 o sin implementación completa</a:t>
            </a:r>
            <a:endParaRPr lang="en-US" sz="3200" dirty="0"/>
          </a:p>
        </p:txBody>
      </p:sp>
      <p:sp>
        <p:nvSpPr>
          <p:cNvPr id="4" name="Text 2"/>
          <p:cNvSpPr/>
          <p:nvPr/>
        </p:nvSpPr>
        <p:spPr>
          <a:xfrm>
            <a:off x="812800" y="180340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303C"/>
                </a:solidFill>
                <a:latin typeface="IBM Plex Sans" pitchFamily="34" charset="0"/>
                <a:ea typeface="IBM Plex Sans" pitchFamily="34" charset="-122"/>
                <a:cs typeface="IBM Plex Sans" pitchFamily="34" charset="-120"/>
              </a:rPr>
              <a:t>KPI = 100 × acciones con Z o N ÷ acciones observadas</a:t>
            </a:r>
            <a:endParaRPr lang="en-US" sz="2000" dirty="0"/>
          </a:p>
        </p:txBody>
      </p:sp>
      <p:sp>
        <p:nvSpPr>
          <p:cNvPr id="5" name="Shape 3"/>
          <p:cNvSpPr/>
          <p:nvPr/>
        </p:nvSpPr>
        <p:spPr>
          <a:xfrm>
            <a:off x="815975" y="2390775"/>
            <a:ext cx="2243773" cy="1672590"/>
          </a:xfrm>
          <a:prstGeom prst="roundRect">
            <a:avLst>
              <a:gd name="adj" fmla="val 5885"/>
            </a:avLst>
          </a:prstGeom>
          <a:solidFill>
            <a:srgbClr val="FBFAF6"/>
          </a:solidFill>
          <a:ln w="6350">
            <a:solidFill>
              <a:srgbClr val="DDD8CB"/>
            </a:solidFill>
            <a:prstDash val="solid"/>
          </a:ln>
        </p:spPr>
      </p:sp>
      <p:sp>
        <p:nvSpPr>
          <p:cNvPr id="6" name="Text 4"/>
          <p:cNvSpPr/>
          <p:nvPr/>
        </p:nvSpPr>
        <p:spPr>
          <a:xfrm>
            <a:off x="1021080" y="2595882"/>
            <a:ext cx="1888569"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76B87"/>
                </a:solidFill>
                <a:latin typeface="Source Serif 4" pitchFamily="34" charset="0"/>
                <a:ea typeface="Source Serif 4" pitchFamily="34" charset="-122"/>
                <a:cs typeface="Source Serif 4" pitchFamily="34" charset="-120"/>
              </a:rPr>
              <a:t>298</a:t>
            </a:r>
            <a:endParaRPr lang="en-US" sz="4800" dirty="0"/>
          </a:p>
        </p:txBody>
      </p:sp>
      <p:sp>
        <p:nvSpPr>
          <p:cNvPr id="7" name="Text 5"/>
          <p:cNvSpPr/>
          <p:nvPr/>
        </p:nvSpPr>
        <p:spPr>
          <a:xfrm>
            <a:off x="1021080" y="3329939"/>
            <a:ext cx="1888569"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no completas (N)</a:t>
            </a:r>
            <a:endParaRPr lang="en-US" sz="1600" dirty="0"/>
          </a:p>
        </p:txBody>
      </p:sp>
      <p:sp>
        <p:nvSpPr>
          <p:cNvPr id="8" name="Text 6"/>
          <p:cNvSpPr/>
          <p:nvPr/>
        </p:nvSpPr>
        <p:spPr>
          <a:xfrm>
            <a:off x="3215323" y="2942589"/>
            <a:ext cx="267891" cy="594360"/>
          </a:xfrm>
          <a:prstGeom prst="rect">
            <a:avLst/>
          </a:prstGeom>
          <a:noFill/>
          <a:ln/>
        </p:spPr>
        <p:txBody>
          <a:bodyPr wrap="square" lIns="0" tIns="0" rIns="0" bIns="0" rtlCol="0" anchor="t">
            <a:normAutofit/>
          </a:bodyPr>
          <a:lstStyle/>
          <a:p>
            <a:pPr algn="l" indent="0" marL="0">
              <a:lnSpc>
                <a:spcPts val="4480"/>
              </a:lnSpc>
              <a:buNone/>
            </a:pPr>
            <a:r>
              <a:rPr lang="en-US" sz="3200" dirty="0">
                <a:solidFill>
                  <a:srgbClr val="4A6270"/>
                </a:solidFill>
                <a:latin typeface="Source Serif 4" pitchFamily="34" charset="0"/>
                <a:ea typeface="Source Serif 4" pitchFamily="34" charset="-122"/>
                <a:cs typeface="Source Serif 4" pitchFamily="34" charset="-120"/>
              </a:rPr>
              <a:t>+</a:t>
            </a:r>
            <a:endParaRPr lang="en-US" sz="3200" dirty="0"/>
          </a:p>
        </p:txBody>
      </p:sp>
      <p:sp>
        <p:nvSpPr>
          <p:cNvPr id="9" name="Shape 7"/>
          <p:cNvSpPr/>
          <p:nvPr/>
        </p:nvSpPr>
        <p:spPr>
          <a:xfrm>
            <a:off x="3587988" y="2390775"/>
            <a:ext cx="2243852" cy="1672590"/>
          </a:xfrm>
          <a:prstGeom prst="roundRect">
            <a:avLst>
              <a:gd name="adj" fmla="val 5885"/>
            </a:avLst>
          </a:prstGeom>
          <a:solidFill>
            <a:srgbClr val="FBFAF6"/>
          </a:solidFill>
          <a:ln w="6350">
            <a:solidFill>
              <a:srgbClr val="DDD8CB"/>
            </a:solidFill>
            <a:prstDash val="solid"/>
          </a:ln>
        </p:spPr>
      </p:sp>
      <p:sp>
        <p:nvSpPr>
          <p:cNvPr id="10" name="Text 8"/>
          <p:cNvSpPr/>
          <p:nvPr/>
        </p:nvSpPr>
        <p:spPr>
          <a:xfrm>
            <a:off x="3793093" y="2595882"/>
            <a:ext cx="1888651"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76B87"/>
                </a:solidFill>
                <a:latin typeface="Source Serif 4" pitchFamily="34" charset="0"/>
                <a:ea typeface="Source Serif 4" pitchFamily="34" charset="-122"/>
                <a:cs typeface="Source Serif 4" pitchFamily="34" charset="-120"/>
              </a:rPr>
              <a:t>149</a:t>
            </a:r>
            <a:endParaRPr lang="en-US" sz="4800" dirty="0"/>
          </a:p>
        </p:txBody>
      </p:sp>
      <p:sp>
        <p:nvSpPr>
          <p:cNvPr id="11" name="Text 9"/>
          <p:cNvSpPr/>
          <p:nvPr/>
        </p:nvSpPr>
        <p:spPr>
          <a:xfrm>
            <a:off x="3793093" y="3329939"/>
            <a:ext cx="1888651"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con estimación $0 (Z)</a:t>
            </a:r>
            <a:endParaRPr lang="en-US" sz="1600" dirty="0"/>
          </a:p>
        </p:txBody>
      </p:sp>
      <p:sp>
        <p:nvSpPr>
          <p:cNvPr id="12" name="Text 10"/>
          <p:cNvSpPr/>
          <p:nvPr/>
        </p:nvSpPr>
        <p:spPr>
          <a:xfrm>
            <a:off x="5987415" y="2942589"/>
            <a:ext cx="267891" cy="594360"/>
          </a:xfrm>
          <a:prstGeom prst="rect">
            <a:avLst/>
          </a:prstGeom>
          <a:noFill/>
          <a:ln/>
        </p:spPr>
        <p:txBody>
          <a:bodyPr wrap="square" lIns="0" tIns="0" rIns="0" bIns="0" rtlCol="0" anchor="t">
            <a:normAutofit/>
          </a:bodyPr>
          <a:lstStyle/>
          <a:p>
            <a:pPr algn="l" indent="0" marL="0">
              <a:lnSpc>
                <a:spcPts val="4480"/>
              </a:lnSpc>
              <a:buNone/>
            </a:pPr>
            <a:r>
              <a:rPr lang="en-US" sz="3200" dirty="0">
                <a:solidFill>
                  <a:srgbClr val="4A6270"/>
                </a:solidFill>
                <a:latin typeface="Source Serif 4" pitchFamily="34" charset="0"/>
                <a:ea typeface="Source Serif 4" pitchFamily="34" charset="-122"/>
                <a:cs typeface="Source Serif 4" pitchFamily="34" charset="-120"/>
              </a:rPr>
              <a:t>−</a:t>
            </a:r>
            <a:endParaRPr lang="en-US" sz="3200" dirty="0"/>
          </a:p>
        </p:txBody>
      </p:sp>
      <p:sp>
        <p:nvSpPr>
          <p:cNvPr id="13" name="Shape 11"/>
          <p:cNvSpPr/>
          <p:nvPr/>
        </p:nvSpPr>
        <p:spPr>
          <a:xfrm>
            <a:off x="6360081" y="2390775"/>
            <a:ext cx="2243852" cy="1672590"/>
          </a:xfrm>
          <a:prstGeom prst="roundRect">
            <a:avLst>
              <a:gd name="adj" fmla="val 5885"/>
            </a:avLst>
          </a:prstGeom>
          <a:solidFill>
            <a:srgbClr val="FBFAF6"/>
          </a:solidFill>
          <a:ln w="6350">
            <a:solidFill>
              <a:srgbClr val="DDD8CB"/>
            </a:solidFill>
            <a:prstDash val="solid"/>
          </a:ln>
        </p:spPr>
      </p:sp>
      <p:sp>
        <p:nvSpPr>
          <p:cNvPr id="14" name="Text 12"/>
          <p:cNvSpPr/>
          <p:nvPr/>
        </p:nvSpPr>
        <p:spPr>
          <a:xfrm>
            <a:off x="6565186" y="2595882"/>
            <a:ext cx="1888651"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76B87"/>
                </a:solidFill>
                <a:latin typeface="Source Serif 4" pitchFamily="34" charset="0"/>
                <a:ea typeface="Source Serif 4" pitchFamily="34" charset="-122"/>
                <a:cs typeface="Source Serif 4" pitchFamily="34" charset="-120"/>
              </a:rPr>
              <a:t>78</a:t>
            </a:r>
            <a:endParaRPr lang="en-US" sz="4800" dirty="0"/>
          </a:p>
        </p:txBody>
      </p:sp>
      <p:sp>
        <p:nvSpPr>
          <p:cNvPr id="15" name="Text 13"/>
          <p:cNvSpPr/>
          <p:nvPr/>
        </p:nvSpPr>
        <p:spPr>
          <a:xfrm>
            <a:off x="6565186" y="3329939"/>
            <a:ext cx="1888651"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con ambas, contadas una vez</a:t>
            </a:r>
            <a:endParaRPr lang="en-US" sz="1600" dirty="0"/>
          </a:p>
        </p:txBody>
      </p:sp>
      <p:sp>
        <p:nvSpPr>
          <p:cNvPr id="16" name="Text 14"/>
          <p:cNvSpPr/>
          <p:nvPr/>
        </p:nvSpPr>
        <p:spPr>
          <a:xfrm>
            <a:off x="8759508" y="2942589"/>
            <a:ext cx="267891" cy="594360"/>
          </a:xfrm>
          <a:prstGeom prst="rect">
            <a:avLst/>
          </a:prstGeom>
          <a:noFill/>
          <a:ln/>
        </p:spPr>
        <p:txBody>
          <a:bodyPr wrap="square" lIns="0" tIns="0" rIns="0" bIns="0" rtlCol="0" anchor="t">
            <a:normAutofit/>
          </a:bodyPr>
          <a:lstStyle/>
          <a:p>
            <a:pPr algn="l" indent="0" marL="0">
              <a:lnSpc>
                <a:spcPts val="4480"/>
              </a:lnSpc>
              <a:buNone/>
            </a:pPr>
            <a:r>
              <a:rPr lang="en-US" sz="3200" dirty="0">
                <a:solidFill>
                  <a:srgbClr val="4A6270"/>
                </a:solidFill>
                <a:latin typeface="Source Serif 4" pitchFamily="34" charset="0"/>
                <a:ea typeface="Source Serif 4" pitchFamily="34" charset="-122"/>
                <a:cs typeface="Source Serif 4" pitchFamily="34" charset="-120"/>
              </a:rPr>
              <a:t>=</a:t>
            </a:r>
            <a:endParaRPr lang="en-US" sz="3200" dirty="0"/>
          </a:p>
        </p:txBody>
      </p:sp>
      <p:sp>
        <p:nvSpPr>
          <p:cNvPr id="17" name="Shape 15"/>
          <p:cNvSpPr/>
          <p:nvPr/>
        </p:nvSpPr>
        <p:spPr>
          <a:xfrm>
            <a:off x="9132174" y="2390775"/>
            <a:ext cx="2243852" cy="1672590"/>
          </a:xfrm>
          <a:prstGeom prst="roundRect">
            <a:avLst>
              <a:gd name="adj" fmla="val 5885"/>
            </a:avLst>
          </a:prstGeom>
          <a:solidFill>
            <a:srgbClr val="0F3A4A"/>
          </a:solidFill>
          <a:ln w="6350">
            <a:solidFill>
              <a:srgbClr val="0F3A4A"/>
            </a:solidFill>
            <a:prstDash val="solid"/>
          </a:ln>
        </p:spPr>
      </p:sp>
      <p:sp>
        <p:nvSpPr>
          <p:cNvPr id="18" name="Text 16"/>
          <p:cNvSpPr/>
          <p:nvPr/>
        </p:nvSpPr>
        <p:spPr>
          <a:xfrm>
            <a:off x="9337278" y="2595882"/>
            <a:ext cx="1888651"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E8B15A"/>
                </a:solidFill>
                <a:latin typeface="Source Serif 4" pitchFamily="34" charset="0"/>
                <a:ea typeface="Source Serif 4" pitchFamily="34" charset="-122"/>
                <a:cs typeface="Source Serif 4" pitchFamily="34" charset="-120"/>
              </a:rPr>
              <a:t>369</a:t>
            </a:r>
            <a:endParaRPr lang="en-US" sz="4800" dirty="0"/>
          </a:p>
        </p:txBody>
      </p:sp>
      <p:sp>
        <p:nvSpPr>
          <p:cNvPr id="19" name="Text 17"/>
          <p:cNvSpPr/>
          <p:nvPr/>
        </p:nvSpPr>
        <p:spPr>
          <a:xfrm>
            <a:off x="9337278" y="3329939"/>
            <a:ext cx="1888651"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IBM Plex Sans" pitchFamily="34" charset="0"/>
                <a:ea typeface="IBM Plex Sans" pitchFamily="34" charset="-122"/>
                <a:cs typeface="IBM Plex Sans" pitchFamily="34" charset="-120"/>
              </a:rPr>
              <a:t>de 767 acciones: 48,1 %</a:t>
            </a:r>
            <a:endParaRPr lang="en-US" sz="1600" dirty="0"/>
          </a:p>
        </p:txBody>
      </p:sp>
      <p:sp>
        <p:nvSpPr>
          <p:cNvPr id="20" name="Text 18"/>
          <p:cNvSpPr/>
          <p:nvPr/>
        </p:nvSpPr>
        <p:spPr>
          <a:xfrm>
            <a:off x="812800" y="4320539"/>
            <a:ext cx="10883392"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4303C"/>
                </a:solidFill>
                <a:latin typeface="IBM Plex Sans" pitchFamily="34" charset="0"/>
                <a:ea typeface="IBM Plex Sans" pitchFamily="34" charset="-122"/>
                <a:cs typeface="IBM Plex Sans" pitchFamily="34" charset="-120"/>
              </a:rPr>
              <a:t>Z</a:t>
            </a:r>
            <a:r>
              <a:rPr lang="en-US" sz="1600" dirty="0">
                <a:solidFill>
                  <a:srgbClr val="14303C"/>
                </a:solidFill>
                <a:latin typeface="IBM Plex Sans" pitchFamily="34" charset="0"/>
                <a:ea typeface="IBM Plex Sans" pitchFamily="34" charset="-122"/>
                <a:cs typeface="IBM Plex Sans" pitchFamily="34" charset="-120"/>
              </a:rPr>
              <a:t>: estimación total igual a $0. </a:t>
            </a:r>
            <a:r>
              <a:rPr lang="en-US" sz="1600" b="1" dirty="0">
                <a:solidFill>
                  <a:srgbClr val="14303C"/>
                </a:solidFill>
                <a:latin typeface="IBM Plex Sans" pitchFamily="34" charset="0"/>
                <a:ea typeface="IBM Plex Sans" pitchFamily="34" charset="-122"/>
                <a:cs typeface="IBM Plex Sans" pitchFamily="34" charset="-120"/>
              </a:rPr>
              <a:t>N</a:t>
            </a:r>
            <a:r>
              <a:rPr lang="en-US" sz="1600" dirty="0">
                <a:solidFill>
                  <a:srgbClr val="14303C"/>
                </a:solidFill>
                <a:latin typeface="IBM Plex Sans" pitchFamily="34" charset="0"/>
                <a:ea typeface="IBM Plex Sans" pitchFamily="34" charset="-122"/>
                <a:cs typeface="IBM Plex Sans" pitchFamily="34" charset="-120"/>
              </a:rPr>
              <a:t>: no se declara implementación completa (incluye avances de 1 a 99 %). Sirve para priorizar el respaldo; </a:t>
            </a:r>
            <a:r>
              <a:rPr lang="en-US" sz="1600" b="1" dirty="0">
                <a:solidFill>
                  <a:srgbClr val="14303C"/>
                </a:solidFill>
                <a:latin typeface="IBM Plex Sans" pitchFamily="34" charset="0"/>
                <a:ea typeface="IBM Plex Sans" pitchFamily="34" charset="-122"/>
                <a:cs typeface="IBM Plex Sans" pitchFamily="34" charset="-120"/>
              </a:rPr>
              <a:t>no mide malgasto</a:t>
            </a:r>
            <a:r>
              <a:rPr lang="en-US" sz="1600" dirty="0">
                <a:solidFill>
                  <a:srgbClr val="14303C"/>
                </a:solidFill>
                <a:latin typeface="IBM Plex Sans" pitchFamily="34" charset="0"/>
                <a:ea typeface="IBM Plex Sans" pitchFamily="34" charset="-122"/>
                <a:cs typeface="IBM Plex Sans" pitchFamily="34" charset="-120"/>
              </a:rPr>
              <a:t>.</a:t>
            </a:r>
            <a:endParaRPr lang="en-US" sz="1600" dirty="0"/>
          </a:p>
        </p:txBody>
      </p:sp>
      <p:sp>
        <p:nvSpPr>
          <p:cNvPr id="21" name="Text 19"/>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22" name="Text 20"/>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5 / 19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CALIDAD DE DATOS</a:t>
            </a:r>
            <a:endParaRPr lang="en-US" sz="1200" dirty="0"/>
          </a:p>
        </p:txBody>
      </p:sp>
      <p:sp>
        <p:nvSpPr>
          <p:cNvPr id="3" name="Text 1"/>
          <p:cNvSpPr/>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Limpieza: qué se hizo y qué no se hizo</a:t>
            </a:r>
            <a:endParaRPr lang="en-US" sz="3200" dirty="0"/>
          </a:p>
        </p:txBody>
      </p:sp>
      <p:sp>
        <p:nvSpPr>
          <p:cNvPr id="4" name="Shape 2"/>
          <p:cNvSpPr/>
          <p:nvPr/>
        </p:nvSpPr>
        <p:spPr>
          <a:xfrm>
            <a:off x="815975" y="1806575"/>
            <a:ext cx="3380264" cy="2213610"/>
          </a:xfrm>
          <a:prstGeom prst="roundRect">
            <a:avLst>
              <a:gd name="adj" fmla="val 4446"/>
            </a:avLst>
          </a:prstGeom>
          <a:solidFill>
            <a:srgbClr val="FBFAF6"/>
          </a:solidFill>
          <a:ln w="6350">
            <a:solidFill>
              <a:srgbClr val="DDD8CB"/>
            </a:solidFill>
            <a:prstDash val="solid"/>
          </a:ln>
        </p:spPr>
      </p:sp>
      <p:sp>
        <p:nvSpPr>
          <p:cNvPr id="5" name="Text 3"/>
          <p:cNvSpPr/>
          <p:nvPr/>
        </p:nvSpPr>
        <p:spPr>
          <a:xfrm>
            <a:off x="1046480" y="2037082"/>
            <a:ext cx="3006831"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76B87"/>
                </a:solidFill>
                <a:latin typeface="Source Serif 4" pitchFamily="34" charset="0"/>
                <a:ea typeface="Source Serif 4" pitchFamily="34" charset="-122"/>
                <a:cs typeface="Source Serif 4" pitchFamily="34" charset="-120"/>
              </a:rPr>
              <a:t>0</a:t>
            </a:r>
            <a:endParaRPr lang="en-US" sz="4800" dirty="0"/>
          </a:p>
        </p:txBody>
      </p:sp>
      <p:sp>
        <p:nvSpPr>
          <p:cNvPr id="6" name="Text 4"/>
          <p:cNvSpPr/>
          <p:nvPr/>
        </p:nvSpPr>
        <p:spPr>
          <a:xfrm>
            <a:off x="1046480" y="2771139"/>
            <a:ext cx="300683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filas eliminadas</a:t>
            </a:r>
            <a:endParaRPr lang="en-US" sz="1600" dirty="0"/>
          </a:p>
        </p:txBody>
      </p:sp>
      <p:sp>
        <p:nvSpPr>
          <p:cNvPr id="7" name="Text 5"/>
          <p:cNvSpPr/>
          <p:nvPr/>
        </p:nvSpPr>
        <p:spPr>
          <a:xfrm>
            <a:off x="1046480" y="3098800"/>
            <a:ext cx="300683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de 3.589 filas, con balance antes y después</a:t>
            </a:r>
            <a:endParaRPr lang="en-US" sz="1200" dirty="0"/>
          </a:p>
        </p:txBody>
      </p:sp>
      <p:sp>
        <p:nvSpPr>
          <p:cNvPr id="8" name="Shape 6"/>
          <p:cNvSpPr/>
          <p:nvPr/>
        </p:nvSpPr>
        <p:spPr>
          <a:xfrm>
            <a:off x="4405789" y="1806575"/>
            <a:ext cx="3380343" cy="2213610"/>
          </a:xfrm>
          <a:prstGeom prst="roundRect">
            <a:avLst>
              <a:gd name="adj" fmla="val 4446"/>
            </a:avLst>
          </a:prstGeom>
          <a:solidFill>
            <a:srgbClr val="FBFAF6"/>
          </a:solidFill>
          <a:ln w="6350">
            <a:solidFill>
              <a:srgbClr val="DDD8CB"/>
            </a:solidFill>
            <a:prstDash val="solid"/>
          </a:ln>
        </p:spPr>
      </p:sp>
      <p:sp>
        <p:nvSpPr>
          <p:cNvPr id="9" name="Text 7"/>
          <p:cNvSpPr/>
          <p:nvPr/>
        </p:nvSpPr>
        <p:spPr>
          <a:xfrm>
            <a:off x="4636294" y="2037082"/>
            <a:ext cx="3006913"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76B87"/>
                </a:solidFill>
                <a:latin typeface="Source Serif 4" pitchFamily="34" charset="0"/>
                <a:ea typeface="Source Serif 4" pitchFamily="34" charset="-122"/>
                <a:cs typeface="Source Serif 4" pitchFamily="34" charset="-120"/>
              </a:rPr>
              <a:t>0</a:t>
            </a:r>
            <a:endParaRPr lang="en-US" sz="4800" dirty="0"/>
          </a:p>
        </p:txBody>
      </p:sp>
      <p:sp>
        <p:nvSpPr>
          <p:cNvPr id="10" name="Text 8"/>
          <p:cNvSpPr/>
          <p:nvPr/>
        </p:nvSpPr>
        <p:spPr>
          <a:xfrm>
            <a:off x="4636294" y="2771139"/>
            <a:ext cx="3006913"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valores imputados</a:t>
            </a:r>
            <a:endParaRPr lang="en-US" sz="1600" dirty="0"/>
          </a:p>
        </p:txBody>
      </p:sp>
      <p:sp>
        <p:nvSpPr>
          <p:cNvPr id="11" name="Text 9"/>
          <p:cNvSpPr/>
          <p:nvPr/>
        </p:nvSpPr>
        <p:spPr>
          <a:xfrm>
            <a:off x="4636294" y="3098800"/>
            <a:ext cx="300691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Ausente no es cero: se conserva como ausente</a:t>
            </a:r>
            <a:endParaRPr lang="en-US" sz="1200" dirty="0"/>
          </a:p>
        </p:txBody>
      </p:sp>
      <p:sp>
        <p:nvSpPr>
          <p:cNvPr id="12" name="Shape 10"/>
          <p:cNvSpPr/>
          <p:nvPr/>
        </p:nvSpPr>
        <p:spPr>
          <a:xfrm>
            <a:off x="7995682" y="1806575"/>
            <a:ext cx="3380343" cy="2213610"/>
          </a:xfrm>
          <a:prstGeom prst="roundRect">
            <a:avLst>
              <a:gd name="adj" fmla="val 4446"/>
            </a:avLst>
          </a:prstGeom>
          <a:solidFill>
            <a:srgbClr val="FBFAF6"/>
          </a:solidFill>
          <a:ln w="6350">
            <a:solidFill>
              <a:srgbClr val="DDD8CB"/>
            </a:solidFill>
            <a:prstDash val="solid"/>
          </a:ln>
        </p:spPr>
      </p:sp>
      <p:sp>
        <p:nvSpPr>
          <p:cNvPr id="13" name="Text 11"/>
          <p:cNvSpPr/>
          <p:nvPr/>
        </p:nvSpPr>
        <p:spPr>
          <a:xfrm>
            <a:off x="8226187" y="2037082"/>
            <a:ext cx="3006913"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76B87"/>
                </a:solidFill>
                <a:latin typeface="Source Serif 4" pitchFamily="34" charset="0"/>
                <a:ea typeface="Source Serif 4" pitchFamily="34" charset="-122"/>
                <a:cs typeface="Source Serif 4" pitchFamily="34" charset="-120"/>
              </a:rPr>
              <a:t>21–33×</a:t>
            </a:r>
            <a:endParaRPr lang="en-US" sz="4800" dirty="0"/>
          </a:p>
        </p:txBody>
      </p:sp>
      <p:sp>
        <p:nvSpPr>
          <p:cNvPr id="14" name="Text 12"/>
          <p:cNvSpPr/>
          <p:nvPr/>
        </p:nvSpPr>
        <p:spPr>
          <a:xfrm>
            <a:off x="8226187" y="2771139"/>
            <a:ext cx="3006913"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sobreestimación al sumar la OC por ítem</a:t>
            </a:r>
            <a:endParaRPr lang="en-US" sz="1600" dirty="0"/>
          </a:p>
        </p:txBody>
      </p:sp>
      <p:sp>
        <p:nvSpPr>
          <p:cNvPr id="15" name="Text 13"/>
          <p:cNvSpPr/>
          <p:nvPr/>
        </p:nvSpPr>
        <p:spPr>
          <a:xfrm>
            <a:off x="8226187" y="3362961"/>
            <a:ext cx="300691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Años 2022 a 2024; ahora se cuenta una vez por código</a:t>
            </a:r>
            <a:endParaRPr lang="en-US" sz="1200" dirty="0"/>
          </a:p>
        </p:txBody>
      </p:sp>
      <p:sp>
        <p:nvSpPr>
          <p:cNvPr id="16" name="Text 14"/>
          <p:cNvSpPr/>
          <p:nvPr/>
        </p:nvSpPr>
        <p:spPr>
          <a:xfrm>
            <a:off x="812800" y="4277361"/>
            <a:ext cx="10883392"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303C"/>
                </a:solidFill>
                <a:latin typeface="IBM Plex Sans" pitchFamily="34" charset="0"/>
                <a:ea typeface="IBM Plex Sans" pitchFamily="34" charset="-122"/>
                <a:cs typeface="IBM Plex Sans" pitchFamily="34" charset="-120"/>
              </a:rPr>
              <a:t>También: 26 vacíos escondidos como texto (16 en IDPS y 10 en SIMCE), códigos IDPS homologados en 2025 y extremos marcados, no borrados.</a:t>
            </a:r>
            <a:endParaRPr lang="en-US" sz="1600" dirty="0"/>
          </a:p>
        </p:txBody>
      </p:sp>
      <p:sp>
        <p:nvSpPr>
          <p:cNvPr id="17" name="Text 15"/>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18" name="Text 16"/>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6 / 19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DISTRIBUCIONES</a:t>
            </a:r>
            <a:endParaRPr lang="en-US" sz="1200" dirty="0"/>
          </a:p>
        </p:txBody>
      </p:sp>
      <p:sp>
        <p:nvSpPr>
          <p:cNvPr id="3" name="Text 1"/>
          <p:cNvSpPr/>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Importes PME: asimétricos, con cola larga</a:t>
            </a:r>
            <a:endParaRPr lang="en-US" sz="3200" dirty="0"/>
          </a:p>
        </p:txBody>
      </p:sp>
      <p:sp>
        <p:nvSpPr>
          <p:cNvPr id="4" name="Shape 2"/>
          <p:cNvSpPr/>
          <p:nvPr/>
        </p:nvSpPr>
        <p:spPr>
          <a:xfrm>
            <a:off x="812800" y="1803400"/>
            <a:ext cx="9525000" cy="2673350"/>
          </a:xfrm>
          <a:prstGeom prst="roundRect">
            <a:avLst>
              <a:gd name="adj" fmla="val 2850"/>
            </a:avLst>
          </a:prstGeom>
          <a:solidFill>
            <a:srgbClr val="FFFFFF"/>
          </a:solidFill>
          <a:ln/>
        </p:spPr>
      </p:sp>
      <p:pic>
        <p:nvPicPr>
          <p:cNvPr id="5" name="Image 0" descr="Histograma, densidad y ECDF de las estimaciones PME 2024">    </p:cNvPr>
          <p:cNvPicPr>
            <a:picLocks noChangeAspect="1"/>
          </p:cNvPicPr>
          <p:nvPr/>
        </p:nvPicPr>
        <p:blipFill>
          <a:blip r:embed="rId1"/>
          <a:srcRect l="0" r="0" t="-41" b="-41"/>
          <a:stretch/>
        </p:blipFill>
        <p:spPr>
          <a:xfrm>
            <a:off x="812800" y="1803400"/>
            <a:ext cx="9525000" cy="2673350"/>
          </a:xfrm>
          <a:prstGeom prst="roundRect">
            <a:avLst>
              <a:gd name="adj" fmla="val 2850"/>
            </a:avLst>
          </a:prstGeom>
        </p:spPr>
      </p:pic>
      <p:sp>
        <p:nvSpPr>
          <p:cNvPr id="6" name="Shape 3"/>
          <p:cNvSpPr/>
          <p:nvPr/>
        </p:nvSpPr>
        <p:spPr>
          <a:xfrm>
            <a:off x="831850" y="4730750"/>
            <a:ext cx="0" cy="607060"/>
          </a:xfrm>
          <a:prstGeom prst="line">
            <a:avLst/>
          </a:prstGeom>
          <a:noFill/>
          <a:ln w="38100">
            <a:solidFill>
              <a:srgbClr val="D28E32"/>
            </a:solidFill>
            <a:prstDash val="solid"/>
          </a:ln>
        </p:spPr>
      </p:sp>
      <p:sp>
        <p:nvSpPr>
          <p:cNvPr id="7" name="Text 4"/>
          <p:cNvSpPr/>
          <p:nvPr/>
        </p:nvSpPr>
        <p:spPr>
          <a:xfrm>
            <a:off x="1000760" y="4730750"/>
            <a:ext cx="237027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303C"/>
                </a:solidFill>
                <a:latin typeface="IBM Plex Sans" pitchFamily="34" charset="0"/>
                <a:ea typeface="IBM Plex Sans" pitchFamily="34" charset="-122"/>
                <a:cs typeface="IBM Plex Sans" pitchFamily="34" charset="-120"/>
              </a:rPr>
              <a:t>$11,7 M</a:t>
            </a:r>
            <a:endParaRPr lang="en-US" sz="2000" dirty="0"/>
          </a:p>
        </p:txBody>
      </p:sp>
      <p:sp>
        <p:nvSpPr>
          <p:cNvPr id="8" name="Text 5"/>
          <p:cNvSpPr/>
          <p:nvPr/>
        </p:nvSpPr>
        <p:spPr>
          <a:xfrm>
            <a:off x="1000760" y="5124450"/>
            <a:ext cx="237027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media por acción</a:t>
            </a:r>
            <a:endParaRPr lang="en-US" sz="1200" dirty="0"/>
          </a:p>
        </p:txBody>
      </p:sp>
      <p:sp>
        <p:nvSpPr>
          <p:cNvPr id="9" name="Shape 6"/>
          <p:cNvSpPr/>
          <p:nvPr/>
        </p:nvSpPr>
        <p:spPr>
          <a:xfrm>
            <a:off x="3524250" y="4730750"/>
            <a:ext cx="0" cy="607060"/>
          </a:xfrm>
          <a:prstGeom prst="line">
            <a:avLst/>
          </a:prstGeom>
          <a:noFill/>
          <a:ln w="38100">
            <a:solidFill>
              <a:srgbClr val="D28E32"/>
            </a:solidFill>
            <a:prstDash val="solid"/>
          </a:ln>
        </p:spPr>
      </p:sp>
      <p:sp>
        <p:nvSpPr>
          <p:cNvPr id="10" name="Text 7"/>
          <p:cNvSpPr/>
          <p:nvPr/>
        </p:nvSpPr>
        <p:spPr>
          <a:xfrm>
            <a:off x="3693160" y="4730750"/>
            <a:ext cx="237027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303C"/>
                </a:solidFill>
                <a:latin typeface="IBM Plex Sans" pitchFamily="34" charset="0"/>
                <a:ea typeface="IBM Plex Sans" pitchFamily="34" charset="-122"/>
                <a:cs typeface="IBM Plex Sans" pitchFamily="34" charset="-120"/>
              </a:rPr>
              <a:t>$4,6 M</a:t>
            </a:r>
            <a:endParaRPr lang="en-US" sz="2000" dirty="0"/>
          </a:p>
        </p:txBody>
      </p:sp>
      <p:sp>
        <p:nvSpPr>
          <p:cNvPr id="11" name="Text 8"/>
          <p:cNvSpPr/>
          <p:nvPr/>
        </p:nvSpPr>
        <p:spPr>
          <a:xfrm>
            <a:off x="3693160" y="5124450"/>
            <a:ext cx="237027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mediana por acción</a:t>
            </a:r>
            <a:endParaRPr lang="en-US" sz="1200" dirty="0"/>
          </a:p>
        </p:txBody>
      </p:sp>
      <p:sp>
        <p:nvSpPr>
          <p:cNvPr id="12" name="Shape 9"/>
          <p:cNvSpPr/>
          <p:nvPr/>
        </p:nvSpPr>
        <p:spPr>
          <a:xfrm>
            <a:off x="6216650" y="4730750"/>
            <a:ext cx="0" cy="607060"/>
          </a:xfrm>
          <a:prstGeom prst="line">
            <a:avLst/>
          </a:prstGeom>
          <a:noFill/>
          <a:ln w="38100">
            <a:solidFill>
              <a:srgbClr val="D28E32"/>
            </a:solidFill>
            <a:prstDash val="solid"/>
          </a:ln>
        </p:spPr>
      </p:sp>
      <p:sp>
        <p:nvSpPr>
          <p:cNvPr id="13" name="Text 10"/>
          <p:cNvSpPr/>
          <p:nvPr/>
        </p:nvSpPr>
        <p:spPr>
          <a:xfrm>
            <a:off x="6385560" y="4730750"/>
            <a:ext cx="237027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303C"/>
                </a:solidFill>
                <a:latin typeface="IBM Plex Sans" pitchFamily="34" charset="0"/>
                <a:ea typeface="IBM Plex Sans" pitchFamily="34" charset="-122"/>
                <a:cs typeface="IBM Plex Sans" pitchFamily="34" charset="-120"/>
              </a:rPr>
              <a:t>53,1 %</a:t>
            </a:r>
            <a:endParaRPr lang="en-US" sz="2000" dirty="0"/>
          </a:p>
        </p:txBody>
      </p:sp>
      <p:sp>
        <p:nvSpPr>
          <p:cNvPr id="14" name="Text 11"/>
          <p:cNvSpPr/>
          <p:nvPr/>
        </p:nvSpPr>
        <p:spPr>
          <a:xfrm>
            <a:off x="6385560" y="5124450"/>
            <a:ext cx="237027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del total en el 10 % superior</a:t>
            </a:r>
            <a:endParaRPr lang="en-US" sz="1200" dirty="0"/>
          </a:p>
        </p:txBody>
      </p:sp>
      <p:sp>
        <p:nvSpPr>
          <p:cNvPr id="15" name="Shape 12"/>
          <p:cNvSpPr/>
          <p:nvPr/>
        </p:nvSpPr>
        <p:spPr>
          <a:xfrm>
            <a:off x="8909050" y="4730750"/>
            <a:ext cx="0" cy="607060"/>
          </a:xfrm>
          <a:prstGeom prst="line">
            <a:avLst/>
          </a:prstGeom>
          <a:noFill/>
          <a:ln w="38100">
            <a:solidFill>
              <a:srgbClr val="D28E32"/>
            </a:solidFill>
            <a:prstDash val="solid"/>
          </a:ln>
        </p:spPr>
      </p:sp>
      <p:sp>
        <p:nvSpPr>
          <p:cNvPr id="16" name="Text 13"/>
          <p:cNvSpPr/>
          <p:nvPr/>
        </p:nvSpPr>
        <p:spPr>
          <a:xfrm>
            <a:off x="9077960" y="4730750"/>
            <a:ext cx="237027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303C"/>
                </a:solidFill>
                <a:latin typeface="IBM Plex Sans" pitchFamily="34" charset="0"/>
                <a:ea typeface="IBM Plex Sans" pitchFamily="34" charset="-122"/>
                <a:cs typeface="IBM Plex Sans" pitchFamily="34" charset="-120"/>
              </a:rPr>
              <a:t>149</a:t>
            </a:r>
            <a:endParaRPr lang="en-US" sz="2000" dirty="0"/>
          </a:p>
        </p:txBody>
      </p:sp>
      <p:sp>
        <p:nvSpPr>
          <p:cNvPr id="17" name="Text 14"/>
          <p:cNvSpPr/>
          <p:nvPr/>
        </p:nvSpPr>
        <p:spPr>
          <a:xfrm>
            <a:off x="9077960" y="5124450"/>
            <a:ext cx="237027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acciones con $0 (19,4 %)</a:t>
            </a:r>
            <a:endParaRPr lang="en-US" sz="1200" dirty="0"/>
          </a:p>
        </p:txBody>
      </p:sp>
      <p:sp>
        <p:nvSpPr>
          <p:cNvPr id="18" name="Text 15"/>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19" name="Text 16"/>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7 / 19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RESULTADO POR DIMENSIÓN</a:t>
            </a:r>
            <a:endParaRPr lang="en-US" sz="1200" dirty="0"/>
          </a:p>
        </p:txBody>
      </p:sp>
      <p:sp>
        <p:nvSpPr>
          <p:cNvPr id="3" name="Text 1"/>
          <p:cNvSpPr/>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KPI por dimensión: casi parejo, salvo Recursos</a:t>
            </a:r>
            <a:endParaRPr lang="en-US" sz="3200" dirty="0"/>
          </a:p>
        </p:txBody>
      </p:sp>
      <p:sp>
        <p:nvSpPr>
          <p:cNvPr id="4" name="Text 2"/>
          <p:cNvSpPr/>
          <p:nvPr/>
        </p:nvSpPr>
        <p:spPr>
          <a:xfrm>
            <a:off x="812800" y="1838961"/>
            <a:ext cx="27470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Gestión Pedagógica</a:t>
            </a:r>
            <a:endParaRPr lang="en-US" sz="1600" dirty="0"/>
          </a:p>
        </p:txBody>
      </p:sp>
      <p:sp>
        <p:nvSpPr>
          <p:cNvPr id="5" name="Shape 3"/>
          <p:cNvSpPr/>
          <p:nvPr/>
        </p:nvSpPr>
        <p:spPr>
          <a:xfrm>
            <a:off x="3632200" y="1803400"/>
            <a:ext cx="2870200" cy="355600"/>
          </a:xfrm>
          <a:prstGeom prst="roundRect">
            <a:avLst>
              <a:gd name="adj" fmla="val 14286"/>
            </a:avLst>
          </a:prstGeom>
          <a:solidFill>
            <a:srgbClr val="176B87"/>
          </a:solidFill>
          <a:ln/>
        </p:spPr>
      </p:sp>
      <p:sp>
        <p:nvSpPr>
          <p:cNvPr id="6" name="Text 4"/>
          <p:cNvSpPr/>
          <p:nvPr/>
        </p:nvSpPr>
        <p:spPr>
          <a:xfrm>
            <a:off x="6654800" y="1838961"/>
            <a:ext cx="1003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3C"/>
                </a:solidFill>
                <a:latin typeface="IBM Plex Sans" pitchFamily="34" charset="0"/>
                <a:ea typeface="IBM Plex Sans" pitchFamily="34" charset="-122"/>
                <a:cs typeface="IBM Plex Sans" pitchFamily="34" charset="-120"/>
              </a:rPr>
              <a:t>50,2 %</a:t>
            </a:r>
            <a:endParaRPr lang="en-US" sz="1600" dirty="0"/>
          </a:p>
        </p:txBody>
      </p:sp>
      <p:sp>
        <p:nvSpPr>
          <p:cNvPr id="7" name="Text 5"/>
          <p:cNvSpPr/>
          <p:nvPr/>
        </p:nvSpPr>
        <p:spPr>
          <a:xfrm>
            <a:off x="7759700" y="1874521"/>
            <a:ext cx="14811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119 de 237 acciones</a:t>
            </a:r>
            <a:endParaRPr lang="en-US" sz="1200" dirty="0"/>
          </a:p>
        </p:txBody>
      </p:sp>
      <p:sp>
        <p:nvSpPr>
          <p:cNvPr id="8" name="Text 6"/>
          <p:cNvSpPr/>
          <p:nvPr/>
        </p:nvSpPr>
        <p:spPr>
          <a:xfrm>
            <a:off x="812800" y="2372361"/>
            <a:ext cx="27470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Liderazgo</a:t>
            </a:r>
            <a:endParaRPr lang="en-US" sz="1600" dirty="0"/>
          </a:p>
        </p:txBody>
      </p:sp>
      <p:sp>
        <p:nvSpPr>
          <p:cNvPr id="9" name="Shape 7"/>
          <p:cNvSpPr/>
          <p:nvPr/>
        </p:nvSpPr>
        <p:spPr>
          <a:xfrm>
            <a:off x="3632200" y="2336800"/>
            <a:ext cx="2838450" cy="355600"/>
          </a:xfrm>
          <a:prstGeom prst="roundRect">
            <a:avLst>
              <a:gd name="adj" fmla="val 14286"/>
            </a:avLst>
          </a:prstGeom>
          <a:solidFill>
            <a:srgbClr val="176B87"/>
          </a:solidFill>
          <a:ln/>
        </p:spPr>
      </p:sp>
      <p:sp>
        <p:nvSpPr>
          <p:cNvPr id="10" name="Text 8"/>
          <p:cNvSpPr/>
          <p:nvPr/>
        </p:nvSpPr>
        <p:spPr>
          <a:xfrm>
            <a:off x="6623050" y="2372361"/>
            <a:ext cx="1003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3C"/>
                </a:solidFill>
                <a:latin typeface="IBM Plex Sans" pitchFamily="34" charset="0"/>
                <a:ea typeface="IBM Plex Sans" pitchFamily="34" charset="-122"/>
                <a:cs typeface="IBM Plex Sans" pitchFamily="34" charset="-120"/>
              </a:rPr>
              <a:t>49,7 %</a:t>
            </a:r>
            <a:endParaRPr lang="en-US" sz="1600" dirty="0"/>
          </a:p>
        </p:txBody>
      </p:sp>
      <p:sp>
        <p:nvSpPr>
          <p:cNvPr id="11" name="Text 9"/>
          <p:cNvSpPr/>
          <p:nvPr/>
        </p:nvSpPr>
        <p:spPr>
          <a:xfrm>
            <a:off x="7727950" y="2407921"/>
            <a:ext cx="13896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79 de 159 acciones</a:t>
            </a:r>
            <a:endParaRPr lang="en-US" sz="1200" dirty="0"/>
          </a:p>
        </p:txBody>
      </p:sp>
      <p:sp>
        <p:nvSpPr>
          <p:cNvPr id="12" name="Text 10"/>
          <p:cNvSpPr/>
          <p:nvPr/>
        </p:nvSpPr>
        <p:spPr>
          <a:xfrm>
            <a:off x="812800" y="2905761"/>
            <a:ext cx="27470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Convivencia Escolar</a:t>
            </a:r>
            <a:endParaRPr lang="en-US" sz="1600" dirty="0"/>
          </a:p>
        </p:txBody>
      </p:sp>
      <p:sp>
        <p:nvSpPr>
          <p:cNvPr id="13" name="Shape 11"/>
          <p:cNvSpPr/>
          <p:nvPr/>
        </p:nvSpPr>
        <p:spPr>
          <a:xfrm>
            <a:off x="3632200" y="2870200"/>
            <a:ext cx="2813050" cy="355600"/>
          </a:xfrm>
          <a:prstGeom prst="roundRect">
            <a:avLst>
              <a:gd name="adj" fmla="val 14286"/>
            </a:avLst>
          </a:prstGeom>
          <a:solidFill>
            <a:srgbClr val="176B87"/>
          </a:solidFill>
          <a:ln/>
        </p:spPr>
      </p:sp>
      <p:sp>
        <p:nvSpPr>
          <p:cNvPr id="14" name="Text 12"/>
          <p:cNvSpPr/>
          <p:nvPr/>
        </p:nvSpPr>
        <p:spPr>
          <a:xfrm>
            <a:off x="6597650" y="2905761"/>
            <a:ext cx="1003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3C"/>
                </a:solidFill>
                <a:latin typeface="IBM Plex Sans" pitchFamily="34" charset="0"/>
                <a:ea typeface="IBM Plex Sans" pitchFamily="34" charset="-122"/>
                <a:cs typeface="IBM Plex Sans" pitchFamily="34" charset="-120"/>
              </a:rPr>
              <a:t>49,2 %</a:t>
            </a:r>
            <a:endParaRPr lang="en-US" sz="1600" dirty="0"/>
          </a:p>
        </p:txBody>
      </p:sp>
      <p:sp>
        <p:nvSpPr>
          <p:cNvPr id="15" name="Text 13"/>
          <p:cNvSpPr/>
          <p:nvPr/>
        </p:nvSpPr>
        <p:spPr>
          <a:xfrm>
            <a:off x="7702550" y="2941321"/>
            <a:ext cx="13896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96 de 195 acciones</a:t>
            </a:r>
            <a:endParaRPr lang="en-US" sz="1200" dirty="0"/>
          </a:p>
        </p:txBody>
      </p:sp>
      <p:sp>
        <p:nvSpPr>
          <p:cNvPr id="16" name="Text 14"/>
          <p:cNvSpPr/>
          <p:nvPr/>
        </p:nvSpPr>
        <p:spPr>
          <a:xfrm>
            <a:off x="812800" y="3439161"/>
            <a:ext cx="27470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Gestión de Recursos</a:t>
            </a:r>
            <a:endParaRPr lang="en-US" sz="1600" dirty="0"/>
          </a:p>
        </p:txBody>
      </p:sp>
      <p:sp>
        <p:nvSpPr>
          <p:cNvPr id="17" name="Shape 15"/>
          <p:cNvSpPr/>
          <p:nvPr/>
        </p:nvSpPr>
        <p:spPr>
          <a:xfrm>
            <a:off x="3632200" y="3403600"/>
            <a:ext cx="2432050" cy="355600"/>
          </a:xfrm>
          <a:prstGeom prst="roundRect">
            <a:avLst>
              <a:gd name="adj" fmla="val 14286"/>
            </a:avLst>
          </a:prstGeom>
          <a:solidFill>
            <a:srgbClr val="D28E32"/>
          </a:solidFill>
          <a:ln/>
        </p:spPr>
      </p:sp>
      <p:sp>
        <p:nvSpPr>
          <p:cNvPr id="18" name="Text 16"/>
          <p:cNvSpPr/>
          <p:nvPr/>
        </p:nvSpPr>
        <p:spPr>
          <a:xfrm>
            <a:off x="6216650" y="3439161"/>
            <a:ext cx="1003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3C"/>
                </a:solidFill>
                <a:latin typeface="IBM Plex Sans" pitchFamily="34" charset="0"/>
                <a:ea typeface="IBM Plex Sans" pitchFamily="34" charset="-122"/>
                <a:cs typeface="IBM Plex Sans" pitchFamily="34" charset="-120"/>
              </a:rPr>
              <a:t>42,6 %</a:t>
            </a:r>
            <a:endParaRPr lang="en-US" sz="1600" dirty="0"/>
          </a:p>
        </p:txBody>
      </p:sp>
      <p:sp>
        <p:nvSpPr>
          <p:cNvPr id="19" name="Text 17"/>
          <p:cNvSpPr/>
          <p:nvPr/>
        </p:nvSpPr>
        <p:spPr>
          <a:xfrm>
            <a:off x="7321550" y="3474721"/>
            <a:ext cx="13896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75 de 176 acciones</a:t>
            </a:r>
            <a:endParaRPr lang="en-US" sz="1200" dirty="0"/>
          </a:p>
        </p:txBody>
      </p:sp>
      <p:sp>
        <p:nvSpPr>
          <p:cNvPr id="20" name="Text 18"/>
          <p:cNvSpPr/>
          <p:nvPr/>
        </p:nvSpPr>
        <p:spPr>
          <a:xfrm>
            <a:off x="812800" y="4013200"/>
            <a:ext cx="10883392"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303C"/>
                </a:solidFill>
                <a:latin typeface="IBM Plex Sans" pitchFamily="34" charset="0"/>
                <a:ea typeface="IBM Plex Sans" pitchFamily="34" charset="-122"/>
                <a:cs typeface="IBM Plex Sans" pitchFamily="34" charset="-120"/>
              </a:rPr>
              <a:t>Gestión de Recursos tiene la mediana más alta ($11,8 M) y el KPI más bajo. Que una dimensión sea más cara no demuestra ineficiencia.</a:t>
            </a:r>
            <a:endParaRPr lang="en-US" sz="1600" dirty="0"/>
          </a:p>
        </p:txBody>
      </p:sp>
      <p:sp>
        <p:nvSpPr>
          <p:cNvPr id="21" name="Text 19"/>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22" name="Text 20"/>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8 / 19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RESULTADO POR COLEGIO</a:t>
            </a:r>
            <a:endParaRPr lang="en-US" sz="1200" dirty="0"/>
          </a:p>
        </p:txBody>
      </p:sp>
      <p:sp>
        <p:nvSpPr>
          <p:cNvPr id="3" name="Text 1"/>
          <p:cNvSpPr/>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KPI por colegio: bimodal, con 24 sobre el umbral</a:t>
            </a:r>
            <a:endParaRPr lang="en-US" sz="3200" dirty="0"/>
          </a:p>
        </p:txBody>
      </p:sp>
      <p:sp>
        <p:nvSpPr>
          <p:cNvPr id="4" name="Shape 2"/>
          <p:cNvSpPr/>
          <p:nvPr/>
        </p:nvSpPr>
        <p:spPr>
          <a:xfrm>
            <a:off x="812800" y="1803400"/>
            <a:ext cx="8890000" cy="2978150"/>
          </a:xfrm>
          <a:prstGeom prst="roundRect">
            <a:avLst>
              <a:gd name="adj" fmla="val 2559"/>
            </a:avLst>
          </a:prstGeom>
          <a:solidFill>
            <a:srgbClr val="FFFFFF"/>
          </a:solidFill>
          <a:ln/>
        </p:spPr>
      </p:sp>
      <p:pic>
        <p:nvPicPr>
          <p:cNvPr id="5" name="Image 0" descr="Histograma del KPI por colegio y composición de la señal por tipo de oferta">    </p:cNvPr>
          <p:cNvPicPr>
            <a:picLocks noChangeAspect="1"/>
          </p:cNvPicPr>
          <p:nvPr/>
        </p:nvPicPr>
        <p:blipFill>
          <a:blip r:embed="rId1"/>
          <a:srcRect l="-42" r="-42" t="0" b="0"/>
          <a:stretch/>
        </p:blipFill>
        <p:spPr>
          <a:xfrm>
            <a:off x="812800" y="1803400"/>
            <a:ext cx="8890000" cy="2978150"/>
          </a:xfrm>
          <a:prstGeom prst="roundRect">
            <a:avLst>
              <a:gd name="adj" fmla="val 2559"/>
            </a:avLst>
          </a:prstGeom>
        </p:spPr>
      </p:pic>
      <p:sp>
        <p:nvSpPr>
          <p:cNvPr id="6" name="Text 3"/>
          <p:cNvSpPr/>
          <p:nvPr/>
        </p:nvSpPr>
        <p:spPr>
          <a:xfrm>
            <a:off x="812800" y="5035550"/>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303C"/>
                </a:solidFill>
                <a:latin typeface="IBM Plex Sans" pitchFamily="34" charset="0"/>
                <a:ea typeface="IBM Plex Sans" pitchFamily="34" charset="-122"/>
                <a:cs typeface="IBM Plex Sans" pitchFamily="34" charset="-120"/>
              </a:rPr>
              <a:t>15 colegios con 25 % o menos, 14 intermedios y 17 con 75 % o más. Con el umbral de 50 % entran </a:t>
            </a:r>
            <a:r>
              <a:rPr lang="en-US" sz="1600" b="1" dirty="0">
                <a:solidFill>
                  <a:srgbClr val="14303C"/>
                </a:solidFill>
                <a:latin typeface="IBM Plex Sans" pitchFamily="34" charset="0"/>
                <a:ea typeface="IBM Plex Sans" pitchFamily="34" charset="-122"/>
                <a:cs typeface="IBM Plex Sans" pitchFamily="34" charset="-120"/>
              </a:rPr>
              <a:t>24 de 46</a:t>
            </a:r>
            <a:r>
              <a:rPr lang="en-US" sz="1600" dirty="0">
                <a:solidFill>
                  <a:srgbClr val="14303C"/>
                </a:solidFill>
                <a:latin typeface="IBM Plex Sans" pitchFamily="34" charset="0"/>
                <a:ea typeface="IBM Plex Sans" pitchFamily="34" charset="-122"/>
                <a:cs typeface="IBM Plex Sans" pitchFamily="34" charset="-120"/>
              </a:rPr>
              <a:t>.</a:t>
            </a:r>
            <a:endParaRPr lang="en-US" sz="1600" dirty="0"/>
          </a:p>
        </p:txBody>
      </p:sp>
      <p:sp>
        <p:nvSpPr>
          <p:cNvPr id="7" name="Text 4"/>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8" name="Text 5"/>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9 / 19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3A4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B15A"/>
                </a:solidFill>
                <a:latin typeface="IBM Plex Sans" pitchFamily="34" charset="0"/>
                <a:ea typeface="IBM Plex Sans" pitchFamily="34" charset="-122"/>
                <a:cs typeface="IBM Plex Sans" pitchFamily="34" charset="-120"/>
              </a:rPr>
              <a:t>CÓMO LEER EL 48,1 %</a:t>
            </a:r>
            <a:endParaRPr lang="en-US" sz="1200" dirty="0"/>
          </a:p>
        </p:txBody>
      </p:sp>
      <p:sp>
        <p:nvSpPr>
          <p:cNvPr id="3" name="Text 1"/>
          <p:cNvSpPr/>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6F4EE"/>
                </a:solidFill>
                <a:latin typeface="Source Serif 4" pitchFamily="34" charset="0"/>
                <a:ea typeface="Source Serif 4" pitchFamily="34" charset="-122"/>
                <a:cs typeface="Source Serif 4" pitchFamily="34" charset="-120"/>
              </a:rPr>
              <a:t>Detrás del KPI: la definición pesa</a:t>
            </a:r>
            <a:endParaRPr lang="en-US" sz="3200" dirty="0"/>
          </a:p>
        </p:txBody>
      </p:sp>
      <p:sp>
        <p:nvSpPr>
          <p:cNvPr id="4" name="Shape 2"/>
          <p:cNvSpPr/>
          <p:nvPr/>
        </p:nvSpPr>
        <p:spPr>
          <a:xfrm>
            <a:off x="812800" y="2948942"/>
            <a:ext cx="3318907" cy="0"/>
          </a:xfrm>
          <a:prstGeom prst="line">
            <a:avLst/>
          </a:prstGeom>
          <a:noFill/>
          <a:ln w="25400">
            <a:solidFill>
              <a:srgbClr val="E8B15A"/>
            </a:solidFill>
            <a:prstDash val="solid"/>
          </a:ln>
        </p:spPr>
      </p:sp>
      <p:sp>
        <p:nvSpPr>
          <p:cNvPr id="5" name="Text 3"/>
          <p:cNvSpPr/>
          <p:nvPr/>
        </p:nvSpPr>
        <p:spPr>
          <a:xfrm>
            <a:off x="812800" y="3114042"/>
            <a:ext cx="3418474"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E8B15A"/>
                </a:solidFill>
                <a:latin typeface="Source Serif 4" pitchFamily="34" charset="0"/>
                <a:ea typeface="Source Serif 4" pitchFamily="34" charset="-122"/>
                <a:cs typeface="Source Serif 4" pitchFamily="34" charset="-120"/>
              </a:rPr>
              <a:t>63 %</a:t>
            </a:r>
            <a:endParaRPr lang="en-US" sz="4800" dirty="0"/>
          </a:p>
        </p:txBody>
      </p:sp>
      <p:sp>
        <p:nvSpPr>
          <p:cNvPr id="6" name="Text 4"/>
          <p:cNvSpPr/>
          <p:nvPr/>
        </p:nvSpPr>
        <p:spPr>
          <a:xfrm>
            <a:off x="812800" y="3886200"/>
            <a:ext cx="3418474"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6F4EE"/>
                </a:solidFill>
                <a:latin typeface="IBM Plex Sans" pitchFamily="34" charset="0"/>
                <a:ea typeface="IBM Plex Sans" pitchFamily="34" charset="-122"/>
                <a:cs typeface="IBM Plex Sans" pitchFamily="34" charset="-120"/>
              </a:rPr>
              <a:t>de las acciones no completas están en avance de 75 a 99 %</a:t>
            </a:r>
            <a:endParaRPr lang="en-US" sz="1600" dirty="0"/>
          </a:p>
        </p:txBody>
      </p:sp>
      <p:sp>
        <p:nvSpPr>
          <p:cNvPr id="7" name="Shape 5"/>
          <p:cNvSpPr/>
          <p:nvPr/>
        </p:nvSpPr>
        <p:spPr>
          <a:xfrm>
            <a:off x="4436507" y="2948942"/>
            <a:ext cx="3318986" cy="0"/>
          </a:xfrm>
          <a:prstGeom prst="line">
            <a:avLst/>
          </a:prstGeom>
          <a:noFill/>
          <a:ln w="25400">
            <a:solidFill>
              <a:srgbClr val="E8B15A"/>
            </a:solidFill>
            <a:prstDash val="solid"/>
          </a:ln>
        </p:spPr>
      </p:sp>
      <p:sp>
        <p:nvSpPr>
          <p:cNvPr id="8" name="Text 6"/>
          <p:cNvSpPr/>
          <p:nvPr/>
        </p:nvSpPr>
        <p:spPr>
          <a:xfrm>
            <a:off x="4436507" y="3114042"/>
            <a:ext cx="3418556"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E8B15A"/>
                </a:solidFill>
                <a:latin typeface="Source Serif 4" pitchFamily="34" charset="0"/>
                <a:ea typeface="Source Serif 4" pitchFamily="34" charset="-122"/>
                <a:cs typeface="Source Serif 4" pitchFamily="34" charset="-120"/>
              </a:rPr>
              <a:t>50,5 %</a:t>
            </a:r>
            <a:endParaRPr lang="en-US" sz="4800" dirty="0"/>
          </a:p>
        </p:txBody>
      </p:sp>
      <p:sp>
        <p:nvSpPr>
          <p:cNvPr id="9" name="Text 7"/>
          <p:cNvSpPr/>
          <p:nvPr/>
        </p:nvSpPr>
        <p:spPr>
          <a:xfrm>
            <a:off x="4436507" y="3886200"/>
            <a:ext cx="3418556"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6F4EE"/>
                </a:solidFill>
                <a:latin typeface="IBM Plex Sans" pitchFamily="34" charset="0"/>
                <a:ea typeface="IBM Plex Sans" pitchFamily="34" charset="-122"/>
                <a:cs typeface="IBM Plex Sans" pitchFamily="34" charset="-120"/>
              </a:rPr>
              <a:t>de las acciones de escuelas especiales tienen $0, frente a 14,9 % en básica y media</a:t>
            </a:r>
            <a:endParaRPr lang="en-US" sz="1600" dirty="0"/>
          </a:p>
        </p:txBody>
      </p:sp>
      <p:sp>
        <p:nvSpPr>
          <p:cNvPr id="10" name="Shape 8"/>
          <p:cNvSpPr/>
          <p:nvPr/>
        </p:nvSpPr>
        <p:spPr>
          <a:xfrm>
            <a:off x="8060293" y="2948942"/>
            <a:ext cx="3318907" cy="0"/>
          </a:xfrm>
          <a:prstGeom prst="line">
            <a:avLst/>
          </a:prstGeom>
          <a:noFill/>
          <a:ln w="25400">
            <a:solidFill>
              <a:srgbClr val="E8B15A"/>
            </a:solidFill>
            <a:prstDash val="solid"/>
          </a:ln>
        </p:spPr>
      </p:sp>
      <p:sp>
        <p:nvSpPr>
          <p:cNvPr id="11" name="Text 9"/>
          <p:cNvSpPr/>
          <p:nvPr/>
        </p:nvSpPr>
        <p:spPr>
          <a:xfrm>
            <a:off x="8060293" y="3114042"/>
            <a:ext cx="3418474"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E8B15A"/>
                </a:solidFill>
                <a:latin typeface="Source Serif 4" pitchFamily="34" charset="0"/>
                <a:ea typeface="Source Serif 4" pitchFamily="34" charset="-122"/>
                <a:cs typeface="Source Serif 4" pitchFamily="34" charset="-120"/>
              </a:rPr>
              <a:t>19,6 %</a:t>
            </a:r>
            <a:endParaRPr lang="en-US" sz="4800" dirty="0"/>
          </a:p>
        </p:txBody>
      </p:sp>
      <p:sp>
        <p:nvSpPr>
          <p:cNvPr id="12" name="Text 10"/>
          <p:cNvSpPr/>
          <p:nvPr/>
        </p:nvSpPr>
        <p:spPr>
          <a:xfrm>
            <a:off x="8060293" y="3886200"/>
            <a:ext cx="3418474"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6F4EE"/>
                </a:solidFill>
                <a:latin typeface="IBM Plex Sans" pitchFamily="34" charset="0"/>
                <a:ea typeface="IBM Plex Sans" pitchFamily="34" charset="-122"/>
                <a:cs typeface="IBM Plex Sans" pitchFamily="34" charset="-120"/>
              </a:rPr>
              <a:t>es el KPI con la definición estricta: $0 o no efectuada (0 %)</a:t>
            </a:r>
            <a:endParaRPr lang="en-US" sz="1600" dirty="0"/>
          </a:p>
        </p:txBody>
      </p:sp>
      <p:sp>
        <p:nvSpPr>
          <p:cNvPr id="13" name="Text 11"/>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14" name="Text 12"/>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10 / 19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DATOS AUSENTES</a:t>
            </a:r>
            <a:endParaRPr lang="en-US" sz="1200" dirty="0"/>
          </a:p>
        </p:txBody>
      </p:sp>
      <p:sp>
        <p:nvSpPr>
          <p:cNvPr id="3" name="Text 1"/>
          <p:cNvSpPr/>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Faltantes: son estructurales, no errores</a:t>
            </a:r>
            <a:endParaRPr lang="en-US" sz="3200" dirty="0"/>
          </a:p>
        </p:txBody>
      </p:sp>
      <p:sp>
        <p:nvSpPr>
          <p:cNvPr id="4" name="Shape 2"/>
          <p:cNvSpPr/>
          <p:nvPr/>
        </p:nvSpPr>
        <p:spPr>
          <a:xfrm>
            <a:off x="812800" y="1803400"/>
            <a:ext cx="6604000" cy="3276600"/>
          </a:xfrm>
          <a:prstGeom prst="roundRect">
            <a:avLst>
              <a:gd name="adj" fmla="val 2326"/>
            </a:avLst>
          </a:prstGeom>
          <a:solidFill>
            <a:srgbClr val="FFFFFF"/>
          </a:solidFill>
          <a:ln/>
        </p:spPr>
      </p:sp>
      <p:pic>
        <p:nvPicPr>
          <p:cNvPr id="5" name="Image 0" descr="Mapa de datos observados y ausentes por colegio-año y variable">    </p:cNvPr>
          <p:cNvPicPr>
            <a:picLocks noChangeAspect="1"/>
          </p:cNvPicPr>
          <p:nvPr/>
        </p:nvPicPr>
        <p:blipFill>
          <a:blip r:embed="rId1"/>
          <a:srcRect l="0" r="0" t="-43" b="-43"/>
          <a:stretch/>
        </p:blipFill>
        <p:spPr>
          <a:xfrm>
            <a:off x="812800" y="1803400"/>
            <a:ext cx="6604000" cy="3276600"/>
          </a:xfrm>
          <a:prstGeom prst="roundRect">
            <a:avLst>
              <a:gd name="adj" fmla="val 2326"/>
            </a:avLst>
          </a:prstGeom>
        </p:spPr>
      </p:pic>
      <p:sp>
        <p:nvSpPr>
          <p:cNvPr id="6" name="Shape 3"/>
          <p:cNvSpPr/>
          <p:nvPr/>
        </p:nvSpPr>
        <p:spPr>
          <a:xfrm>
            <a:off x="7791450" y="2527300"/>
            <a:ext cx="0" cy="274320"/>
          </a:xfrm>
          <a:prstGeom prst="line">
            <a:avLst/>
          </a:prstGeom>
          <a:noFill/>
          <a:ln w="38100">
            <a:solidFill>
              <a:srgbClr val="D28E32"/>
            </a:solidFill>
            <a:prstDash val="solid"/>
          </a:ln>
        </p:spPr>
      </p:sp>
      <p:sp>
        <p:nvSpPr>
          <p:cNvPr id="7" name="Text 4"/>
          <p:cNvSpPr/>
          <p:nvPr/>
        </p:nvSpPr>
        <p:spPr>
          <a:xfrm>
            <a:off x="7960360" y="2527300"/>
            <a:ext cx="3521405"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303C"/>
                </a:solidFill>
                <a:latin typeface="IBM Plex Sans" pitchFamily="34" charset="0"/>
                <a:ea typeface="IBM Plex Sans" pitchFamily="34" charset="-122"/>
                <a:cs typeface="IBM Plex Sans" pitchFamily="34" charset="-120"/>
              </a:rPr>
              <a:t>PME: solo 2024</a:t>
            </a:r>
            <a:endParaRPr lang="en-US" sz="1600" dirty="0"/>
          </a:p>
        </p:txBody>
      </p:sp>
      <p:sp>
        <p:nvSpPr>
          <p:cNvPr id="8" name="Shape 5"/>
          <p:cNvSpPr/>
          <p:nvPr/>
        </p:nvSpPr>
        <p:spPr>
          <a:xfrm>
            <a:off x="7791450" y="2954021"/>
            <a:ext cx="0" cy="274320"/>
          </a:xfrm>
          <a:prstGeom prst="line">
            <a:avLst/>
          </a:prstGeom>
          <a:noFill/>
          <a:ln w="38100">
            <a:solidFill>
              <a:srgbClr val="D28E32"/>
            </a:solidFill>
            <a:prstDash val="solid"/>
          </a:ln>
        </p:spPr>
      </p:sp>
      <p:sp>
        <p:nvSpPr>
          <p:cNvPr id="9" name="Text 6"/>
          <p:cNvSpPr/>
          <p:nvPr/>
        </p:nvSpPr>
        <p:spPr>
          <a:xfrm>
            <a:off x="7960360" y="2954021"/>
            <a:ext cx="3521405"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303C"/>
                </a:solidFill>
                <a:latin typeface="IBM Plex Sans" pitchFamily="34" charset="0"/>
                <a:ea typeface="IBM Plex Sans" pitchFamily="34" charset="-122"/>
                <a:cs typeface="IBM Plex Sans" pitchFamily="34" charset="-120"/>
              </a:rPr>
              <a:t>Agencia: desde 2023</a:t>
            </a:r>
            <a:endParaRPr lang="en-US" sz="1600" dirty="0"/>
          </a:p>
        </p:txBody>
      </p:sp>
      <p:sp>
        <p:nvSpPr>
          <p:cNvPr id="10" name="Shape 7"/>
          <p:cNvSpPr/>
          <p:nvPr/>
        </p:nvSpPr>
        <p:spPr>
          <a:xfrm>
            <a:off x="7791450" y="3380742"/>
            <a:ext cx="0" cy="274320"/>
          </a:xfrm>
          <a:prstGeom prst="line">
            <a:avLst/>
          </a:prstGeom>
          <a:noFill/>
          <a:ln w="38100">
            <a:solidFill>
              <a:srgbClr val="D28E32"/>
            </a:solidFill>
            <a:prstDash val="solid"/>
          </a:ln>
        </p:spPr>
      </p:sp>
      <p:sp>
        <p:nvSpPr>
          <p:cNvPr id="11" name="Text 8"/>
          <p:cNvSpPr/>
          <p:nvPr/>
        </p:nvSpPr>
        <p:spPr>
          <a:xfrm>
            <a:off x="7960360" y="3380742"/>
            <a:ext cx="3521405"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303C"/>
                </a:solidFill>
                <a:latin typeface="IBM Plex Sans" pitchFamily="34" charset="0"/>
                <a:ea typeface="IBM Plex Sans" pitchFamily="34" charset="-122"/>
                <a:cs typeface="IBM Plex Sans" pitchFamily="34" charset="-120"/>
              </a:rPr>
              <a:t>Compras: solo sector público</a:t>
            </a:r>
            <a:endParaRPr lang="en-US" sz="1600" dirty="0"/>
          </a:p>
        </p:txBody>
      </p:sp>
      <p:sp>
        <p:nvSpPr>
          <p:cNvPr id="12" name="Shape 9"/>
          <p:cNvSpPr/>
          <p:nvPr/>
        </p:nvSpPr>
        <p:spPr>
          <a:xfrm>
            <a:off x="7791450" y="3807464"/>
            <a:ext cx="0" cy="548640"/>
          </a:xfrm>
          <a:prstGeom prst="line">
            <a:avLst/>
          </a:prstGeom>
          <a:noFill/>
          <a:ln w="38100">
            <a:solidFill>
              <a:srgbClr val="D28E32"/>
            </a:solidFill>
            <a:prstDash val="solid"/>
          </a:ln>
        </p:spPr>
      </p:sp>
      <p:sp>
        <p:nvSpPr>
          <p:cNvPr id="13" name="Text 10"/>
          <p:cNvSpPr/>
          <p:nvPr/>
        </p:nvSpPr>
        <p:spPr>
          <a:xfrm>
            <a:off x="7960360" y="3807464"/>
            <a:ext cx="3521405"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303C"/>
                </a:solidFill>
                <a:latin typeface="IBM Plex Sans" pitchFamily="34" charset="0"/>
                <a:ea typeface="IBM Plex Sans" pitchFamily="34" charset="-122"/>
                <a:cs typeface="IBM Plex Sans" pitchFamily="34" charset="-120"/>
              </a:rPr>
              <a:t>Imputar con 0 o con la mediana inventaría evidencia</a:t>
            </a:r>
            <a:endParaRPr lang="en-US" sz="1600" dirty="0"/>
          </a:p>
        </p:txBody>
      </p:sp>
      <p:sp>
        <p:nvSpPr>
          <p:cNvPr id="14" name="Text 11"/>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15" name="Text 12"/>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11 / 19</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ASOCIACIONES</a:t>
            </a:r>
            <a:endParaRPr lang="en-US" sz="1200" dirty="0"/>
          </a:p>
        </p:txBody>
      </p:sp>
      <p:sp>
        <p:nvSpPr>
          <p:cNvPr id="3" name="Text 1"/>
          <p:cNvSpPr/>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Correlaciones: descriptivas, sin causalidad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2184400"/>
        </p:xfrm>
        <a:graphic>
          <a:graphicData uri="http://schemas.openxmlformats.org/drawingml/2006/table">
            <a:tbl>
              <a:tblPr/>
              <a:tblGrid>
                <a:gridCol w="4433621"/>
                <a:gridCol w="1477874"/>
                <a:gridCol w="844499"/>
                <a:gridCol w="3800246"/>
              </a:tblGrid>
              <a:tr h="436880">
                <a:tc>
                  <a:txBody>
                    <a:bodyPr/>
                    <a:lstStyle/>
                    <a:p>
                      <a:pPr indent="0" marL="0">
                        <a:lnSpc>
                          <a:spcPts val="2240"/>
                        </a:lnSpc>
                        <a:buNone/>
                      </a:pPr>
                      <a:r>
                        <a:rPr lang="en-US" sz="1600" b="1" dirty="0">
                          <a:solidFill>
                            <a:srgbClr val="14303C"/>
                          </a:solidFill>
                          <a:latin typeface="IBM Plex Sans" pitchFamily="34" charset="0"/>
                          <a:ea typeface="IBM Plex Sans" pitchFamily="34" charset="-122"/>
                          <a:cs typeface="IBM Plex Sans" pitchFamily="34" charset="-120"/>
                        </a:rPr>
                        <a:t>Par de variables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2240"/>
                        </a:lnSpc>
                        <a:buNone/>
                      </a:pPr>
                      <a:r>
                        <a:rPr lang="en-US" sz="1600" b="1" dirty="0">
                          <a:solidFill>
                            <a:srgbClr val="14303C"/>
                          </a:solidFill>
                          <a:latin typeface="IBM Plex Sans" pitchFamily="34" charset="0"/>
                          <a:ea typeface="IBM Plex Sans" pitchFamily="34" charset="-122"/>
                          <a:cs typeface="IBM Plex Sans" pitchFamily="34" charset="-120"/>
                        </a:rPr>
                        <a:t>Spearman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2240"/>
                        </a:lnSpc>
                        <a:buNone/>
                      </a:pPr>
                      <a:r>
                        <a:rPr lang="en-US" sz="1600" b="1" dirty="0">
                          <a:solidFill>
                            <a:srgbClr val="14303C"/>
                          </a:solidFill>
                          <a:latin typeface="IBM Plex Sans" pitchFamily="34" charset="0"/>
                          <a:ea typeface="IBM Plex Sans" pitchFamily="34" charset="-122"/>
                          <a:cs typeface="IBM Plex Sans" pitchFamily="34" charset="-120"/>
                        </a:rPr>
                        <a:t>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2240"/>
                        </a:lnSpc>
                        <a:buNone/>
                      </a:pPr>
                      <a:r>
                        <a:rPr lang="en-US" sz="1600" b="1" dirty="0">
                          <a:solidFill>
                            <a:srgbClr val="14303C"/>
                          </a:solidFill>
                          <a:latin typeface="IBM Plex Sans" pitchFamily="34" charset="0"/>
                          <a:ea typeface="IBM Plex Sans" pitchFamily="34" charset="-122"/>
                          <a:cs typeface="IBM Plex Sans" pitchFamily="34" charset="-120"/>
                        </a:rPr>
                        <a:t>Lectura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436880">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Matrícula y estimación PME (log)</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0,85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46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Escala del colegio</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Matrícula y KPI</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−0,65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46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Colegios pequeños, KPI mayor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Estimación PME y SIMCE Lectura 4.º</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−0,13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29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Sin relación clara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KPI y IDPS clima de convivencia 4.º</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0,03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28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3C"/>
                          </a:solidFill>
                          <a:latin typeface="IBM Plex Sans" pitchFamily="34" charset="0"/>
                          <a:ea typeface="IBM Plex Sans" pitchFamily="34" charset="-122"/>
                          <a:cs typeface="IBM Plex Sans" pitchFamily="34" charset="-120"/>
                        </a:rPr>
                        <a:t>Sin relación clara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4251964"/>
            <a:ext cx="10883392"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303C"/>
                </a:solidFill>
                <a:latin typeface="IBM Plex Sans" pitchFamily="34" charset="0"/>
                <a:ea typeface="IBM Plex Sans" pitchFamily="34" charset="-122"/>
                <a:cs typeface="IBM Plex Sans" pitchFamily="34" charset="-120"/>
              </a:rPr>
              <a:t>Corte 2024, una fila por colegio. Los 46 colegios no son una muestra aleatoria y con menos de 10 pares no se reporta ninguna correlación (por eso no hay cifras para los 8 públicos).</a:t>
            </a:r>
            <a:endParaRPr lang="en-US" sz="1600" dirty="0"/>
          </a:p>
        </p:txBody>
      </p:sp>
      <p:sp>
        <p:nvSpPr>
          <p:cNvPr id="6" name="Text 3"/>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7" name="Text 4"/>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12 / 19</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EVIDENCIA</a:t>
            </a:r>
            <a:endParaRPr lang="en-US" sz="1200" dirty="0"/>
          </a:p>
        </p:txBody>
      </p:sp>
      <p:sp>
        <p:nvSpPr>
          <p:cNvPr id="3" name="Text 1"/>
          <p:cNvSpPr/>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Qué se puede afirmar y qué es hipótesis</a:t>
            </a:r>
            <a:endParaRPr lang="en-US" sz="3200" dirty="0"/>
          </a:p>
        </p:txBody>
      </p:sp>
      <p:sp>
        <p:nvSpPr>
          <p:cNvPr id="4" name="Shape 2"/>
          <p:cNvSpPr/>
          <p:nvPr/>
        </p:nvSpPr>
        <p:spPr>
          <a:xfrm>
            <a:off x="812800" y="1803400"/>
            <a:ext cx="5181600" cy="2969260"/>
          </a:xfrm>
          <a:prstGeom prst="roundRect">
            <a:avLst>
              <a:gd name="adj" fmla="val 3422"/>
            </a:avLst>
          </a:prstGeom>
          <a:solidFill>
            <a:srgbClr val="FBFAF6"/>
          </a:solidFill>
          <a:ln/>
        </p:spPr>
      </p:sp>
      <p:sp>
        <p:nvSpPr>
          <p:cNvPr id="5" name="Shape 3"/>
          <p:cNvSpPr/>
          <p:nvPr/>
        </p:nvSpPr>
        <p:spPr>
          <a:xfrm>
            <a:off x="812800" y="1803400"/>
            <a:ext cx="5181600" cy="2969260"/>
          </a:xfrm>
          <a:custGeom>
            <a:avLst/>
            <a:gdLst/>
            <a:ahLst/>
            <a:cxnLst/>
            <a:rect l="l" t="t" r="r" b="b"/>
            <a:pathLst>
              <a:path w="5181600" h="296926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176B87"/>
          </a:solidFill>
          <a:ln/>
        </p:spPr>
      </p:sp>
      <p:sp>
        <p:nvSpPr>
          <p:cNvPr id="6" name="Text 4"/>
          <p:cNvSpPr/>
          <p:nvPr/>
        </p:nvSpPr>
        <p:spPr>
          <a:xfrm>
            <a:off x="1041400" y="2082800"/>
            <a:ext cx="48661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303C"/>
                </a:solidFill>
                <a:latin typeface="IBM Plex Sans" pitchFamily="34" charset="0"/>
                <a:ea typeface="IBM Plex Sans" pitchFamily="34" charset="-122"/>
                <a:cs typeface="IBM Plex Sans" pitchFamily="34" charset="-120"/>
              </a:rPr>
              <a:t>Defendible</a:t>
            </a:r>
            <a:endParaRPr lang="en-US" sz="2000" dirty="0"/>
          </a:p>
        </p:txBody>
      </p:sp>
      <p:sp>
        <p:nvSpPr>
          <p:cNvPr id="7" name="Text 5"/>
          <p:cNvSpPr/>
          <p:nvPr/>
        </p:nvSpPr>
        <p:spPr>
          <a:xfrm>
            <a:off x="1041400" y="2501900"/>
            <a:ext cx="486613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Datos trazables: 18 de 18 validaciones OK</a:t>
            </a:r>
            <a:endParaRPr lang="en-US" sz="1600" dirty="0"/>
          </a:p>
        </p:txBody>
      </p:sp>
      <p:sp>
        <p:nvSpPr>
          <p:cNvPr id="8" name="Text 6"/>
          <p:cNvSpPr/>
          <p:nvPr/>
        </p:nvSpPr>
        <p:spPr>
          <a:xfrm>
            <a:off x="1041400" y="2880364"/>
            <a:ext cx="486613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Sumar la OC por ítem sobreestima 21 a 33 veces</a:t>
            </a:r>
            <a:endParaRPr lang="en-US" sz="1600" dirty="0"/>
          </a:p>
        </p:txBody>
      </p:sp>
      <p:sp>
        <p:nvSpPr>
          <p:cNvPr id="9" name="Text 7"/>
          <p:cNvSpPr/>
          <p:nvPr/>
        </p:nvSpPr>
        <p:spPr>
          <a:xfrm>
            <a:off x="1041400" y="3258821"/>
            <a:ext cx="4866132"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Importes asimétricos: media $11,7 M, mediana $4,6 M</a:t>
            </a:r>
            <a:endParaRPr lang="en-US" sz="1600" dirty="0"/>
          </a:p>
        </p:txBody>
      </p:sp>
      <p:sp>
        <p:nvSpPr>
          <p:cNvPr id="10" name="Text 8"/>
          <p:cNvSpPr/>
          <p:nvPr/>
        </p:nvSpPr>
        <p:spPr>
          <a:xfrm>
            <a:off x="1041400" y="3901442"/>
            <a:ext cx="486613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369 de 767 acciones (48,1 %) piden explicación</a:t>
            </a:r>
            <a:endParaRPr lang="en-US" sz="1600" dirty="0"/>
          </a:p>
        </p:txBody>
      </p:sp>
      <p:sp>
        <p:nvSpPr>
          <p:cNvPr id="11" name="Text 9"/>
          <p:cNvSpPr/>
          <p:nvPr/>
        </p:nvSpPr>
        <p:spPr>
          <a:xfrm>
            <a:off x="1041400" y="4279900"/>
            <a:ext cx="486613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El KPI por colegio es bimodal</a:t>
            </a:r>
            <a:endParaRPr lang="en-US" sz="1600" dirty="0"/>
          </a:p>
        </p:txBody>
      </p:sp>
      <p:sp>
        <p:nvSpPr>
          <p:cNvPr id="12" name="Shape 10"/>
          <p:cNvSpPr/>
          <p:nvPr/>
        </p:nvSpPr>
        <p:spPr>
          <a:xfrm>
            <a:off x="6197600" y="1803400"/>
            <a:ext cx="5181600" cy="2969260"/>
          </a:xfrm>
          <a:prstGeom prst="roundRect">
            <a:avLst>
              <a:gd name="adj" fmla="val 3422"/>
            </a:avLst>
          </a:prstGeom>
          <a:solidFill>
            <a:srgbClr val="FBFAF6"/>
          </a:solidFill>
          <a:ln/>
        </p:spPr>
      </p:sp>
      <p:sp>
        <p:nvSpPr>
          <p:cNvPr id="13" name="Shape 11"/>
          <p:cNvSpPr/>
          <p:nvPr/>
        </p:nvSpPr>
        <p:spPr>
          <a:xfrm>
            <a:off x="6197600" y="1803400"/>
            <a:ext cx="5181600" cy="2969260"/>
          </a:xfrm>
          <a:custGeom>
            <a:avLst/>
            <a:gdLst/>
            <a:ahLst/>
            <a:cxnLst/>
            <a:rect l="l" t="t" r="r" b="b"/>
            <a:pathLst>
              <a:path w="5181600" h="296926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D28E32"/>
          </a:solidFill>
          <a:ln/>
        </p:spPr>
      </p:sp>
      <p:sp>
        <p:nvSpPr>
          <p:cNvPr id="14" name="Text 12"/>
          <p:cNvSpPr/>
          <p:nvPr/>
        </p:nvSpPr>
        <p:spPr>
          <a:xfrm>
            <a:off x="6426200" y="2082800"/>
            <a:ext cx="48661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303C"/>
                </a:solidFill>
                <a:latin typeface="IBM Plex Sans" pitchFamily="34" charset="0"/>
                <a:ea typeface="IBM Plex Sans" pitchFamily="34" charset="-122"/>
                <a:cs typeface="IBM Plex Sans" pitchFamily="34" charset="-120"/>
              </a:rPr>
              <a:t>Provisional</a:t>
            </a:r>
            <a:endParaRPr lang="en-US" sz="2000" dirty="0"/>
          </a:p>
        </p:txBody>
      </p:sp>
      <p:sp>
        <p:nvSpPr>
          <p:cNvPr id="15" name="Text 13"/>
          <p:cNvSpPr/>
          <p:nvPr/>
        </p:nvSpPr>
        <p:spPr>
          <a:xfrm>
            <a:off x="6426200" y="2501900"/>
            <a:ext cx="486613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El umbral de 50 % sirve para priorizar</a:t>
            </a:r>
            <a:endParaRPr lang="en-US" sz="1600" dirty="0"/>
          </a:p>
        </p:txBody>
      </p:sp>
      <p:sp>
        <p:nvSpPr>
          <p:cNvPr id="16" name="Text 14"/>
          <p:cNvSpPr/>
          <p:nvPr/>
        </p:nvSpPr>
        <p:spPr>
          <a:xfrm>
            <a:off x="6426200" y="2880364"/>
            <a:ext cx="486613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Las escuelas especiales concentran el $0</a:t>
            </a:r>
            <a:endParaRPr lang="en-US" sz="1600" dirty="0"/>
          </a:p>
        </p:txBody>
      </p:sp>
      <p:sp>
        <p:nvSpPr>
          <p:cNvPr id="17" name="Text 15"/>
          <p:cNvSpPr/>
          <p:nvPr/>
        </p:nvSpPr>
        <p:spPr>
          <a:xfrm>
            <a:off x="6426200" y="3258821"/>
            <a:ext cx="486613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Colegios pequeños, KPI más alto (−0,65)</a:t>
            </a:r>
            <a:endParaRPr lang="en-US" sz="1600" dirty="0"/>
          </a:p>
        </p:txBody>
      </p:sp>
      <p:sp>
        <p:nvSpPr>
          <p:cNvPr id="18" name="Text 16"/>
          <p:cNvSpPr/>
          <p:nvPr/>
        </p:nvSpPr>
        <p:spPr>
          <a:xfrm>
            <a:off x="6426200" y="3637279"/>
            <a:ext cx="486613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Sin relación entre KPI y SIMCE o IDPS</a:t>
            </a:r>
            <a:endParaRPr lang="en-US" sz="1600" dirty="0"/>
          </a:p>
        </p:txBody>
      </p:sp>
      <p:sp>
        <p:nvSpPr>
          <p:cNvPr id="19" name="Text 17"/>
          <p:cNvSpPr/>
          <p:nvPr/>
        </p:nvSpPr>
        <p:spPr>
          <a:xfrm>
            <a:off x="6426200" y="4015742"/>
            <a:ext cx="486613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13 colegios sin PME quedan fuera del KPI</a:t>
            </a:r>
            <a:endParaRPr lang="en-US" sz="1600" dirty="0"/>
          </a:p>
        </p:txBody>
      </p:sp>
      <p:sp>
        <p:nvSpPr>
          <p:cNvPr id="20" name="Text 18"/>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21" name="Text 19"/>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13 / 19</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DECISIÓN</a:t>
            </a:r>
            <a:endParaRPr lang="en-US" sz="1200" dirty="0"/>
          </a:p>
        </p:txBody>
      </p:sp>
      <p:sp>
        <p:nvSpPr>
          <p:cNvPr id="3" name="Text 1"/>
          <p:cNvSpPr/>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Prioridad: 24 de 46 colegios con umbral de 50 %</a:t>
            </a:r>
            <a:endParaRPr lang="en-US" sz="3200" dirty="0"/>
          </a:p>
        </p:txBody>
      </p:sp>
      <p:sp>
        <p:nvSpPr>
          <p:cNvPr id="4" name="Shape 2"/>
          <p:cNvSpPr/>
          <p:nvPr/>
        </p:nvSpPr>
        <p:spPr>
          <a:xfrm>
            <a:off x="815975" y="1806575"/>
            <a:ext cx="3380264" cy="1685290"/>
          </a:xfrm>
          <a:prstGeom prst="roundRect">
            <a:avLst>
              <a:gd name="adj" fmla="val 5840"/>
            </a:avLst>
          </a:prstGeom>
          <a:solidFill>
            <a:srgbClr val="FBFAF6"/>
          </a:solidFill>
          <a:ln w="6350">
            <a:solidFill>
              <a:srgbClr val="DDD8CB"/>
            </a:solidFill>
            <a:prstDash val="solid"/>
          </a:ln>
        </p:spPr>
      </p:sp>
      <p:sp>
        <p:nvSpPr>
          <p:cNvPr id="5" name="Text 3"/>
          <p:cNvSpPr/>
          <p:nvPr/>
        </p:nvSpPr>
        <p:spPr>
          <a:xfrm>
            <a:off x="1021080" y="2011679"/>
            <a:ext cx="305915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6270"/>
                </a:solidFill>
                <a:latin typeface="IBM Plex Sans" pitchFamily="34" charset="0"/>
                <a:ea typeface="IBM Plex Sans" pitchFamily="34" charset="-122"/>
                <a:cs typeface="IBM Plex Sans" pitchFamily="34" charset="-120"/>
              </a:rPr>
              <a:t>Contraste</a:t>
            </a:r>
            <a:endParaRPr lang="en-US" sz="1200" dirty="0"/>
          </a:p>
        </p:txBody>
      </p:sp>
      <p:sp>
        <p:nvSpPr>
          <p:cNvPr id="6" name="Text 4"/>
          <p:cNvSpPr/>
          <p:nvPr/>
        </p:nvSpPr>
        <p:spPr>
          <a:xfrm>
            <a:off x="1021080" y="2288542"/>
            <a:ext cx="3059155"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76B87"/>
                </a:solidFill>
                <a:latin typeface="Source Serif 4" pitchFamily="34" charset="0"/>
                <a:ea typeface="Source Serif 4" pitchFamily="34" charset="-122"/>
                <a:cs typeface="Source Serif 4" pitchFamily="34" charset="-120"/>
              </a:rPr>
              <a:t>31</a:t>
            </a:r>
            <a:endParaRPr lang="en-US" sz="4800" dirty="0"/>
          </a:p>
        </p:txBody>
      </p:sp>
      <p:sp>
        <p:nvSpPr>
          <p:cNvPr id="7" name="Text 5"/>
          <p:cNvSpPr/>
          <p:nvPr/>
        </p:nvSpPr>
        <p:spPr>
          <a:xfrm>
            <a:off x="1021080" y="3022600"/>
            <a:ext cx="3059155"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colegios con KPI de 25 % o más</a:t>
            </a:r>
            <a:endParaRPr lang="en-US" sz="1600" dirty="0"/>
          </a:p>
        </p:txBody>
      </p:sp>
      <p:sp>
        <p:nvSpPr>
          <p:cNvPr id="8" name="Shape 6"/>
          <p:cNvSpPr/>
          <p:nvPr/>
        </p:nvSpPr>
        <p:spPr>
          <a:xfrm>
            <a:off x="4405789" y="1806575"/>
            <a:ext cx="3380343" cy="1685290"/>
          </a:xfrm>
          <a:prstGeom prst="roundRect">
            <a:avLst>
              <a:gd name="adj" fmla="val 5840"/>
            </a:avLst>
          </a:prstGeom>
          <a:solidFill>
            <a:srgbClr val="0F3A4A"/>
          </a:solidFill>
          <a:ln w="6350">
            <a:solidFill>
              <a:srgbClr val="0F3A4A"/>
            </a:solidFill>
            <a:prstDash val="solid"/>
          </a:ln>
        </p:spPr>
      </p:sp>
      <p:sp>
        <p:nvSpPr>
          <p:cNvPr id="9" name="Text 7"/>
          <p:cNvSpPr/>
          <p:nvPr/>
        </p:nvSpPr>
        <p:spPr>
          <a:xfrm>
            <a:off x="4610894" y="2011679"/>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B15A"/>
                </a:solidFill>
                <a:latin typeface="IBM Plex Sans" pitchFamily="34" charset="0"/>
                <a:ea typeface="IBM Plex Sans" pitchFamily="34" charset="-122"/>
                <a:cs typeface="IBM Plex Sans" pitchFamily="34" charset="-120"/>
              </a:rPr>
              <a:t>Umbral propuesto</a:t>
            </a:r>
            <a:endParaRPr lang="en-US" sz="1200" dirty="0"/>
          </a:p>
        </p:txBody>
      </p:sp>
      <p:sp>
        <p:nvSpPr>
          <p:cNvPr id="10" name="Text 8"/>
          <p:cNvSpPr/>
          <p:nvPr/>
        </p:nvSpPr>
        <p:spPr>
          <a:xfrm>
            <a:off x="4610894" y="2288542"/>
            <a:ext cx="3059237"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E8B15A"/>
                </a:solidFill>
                <a:latin typeface="Source Serif 4" pitchFamily="34" charset="0"/>
                <a:ea typeface="Source Serif 4" pitchFamily="34" charset="-122"/>
                <a:cs typeface="Source Serif 4" pitchFamily="34" charset="-120"/>
              </a:rPr>
              <a:t>24</a:t>
            </a:r>
            <a:endParaRPr lang="en-US" sz="4800" dirty="0"/>
          </a:p>
        </p:txBody>
      </p:sp>
      <p:sp>
        <p:nvSpPr>
          <p:cNvPr id="11" name="Text 9"/>
          <p:cNvSpPr/>
          <p:nvPr/>
        </p:nvSpPr>
        <p:spPr>
          <a:xfrm>
            <a:off x="4610894" y="3022600"/>
            <a:ext cx="3059237"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IBM Plex Sans" pitchFamily="34" charset="0"/>
                <a:ea typeface="IBM Plex Sans" pitchFamily="34" charset="-122"/>
                <a:cs typeface="IBM Plex Sans" pitchFamily="34" charset="-120"/>
              </a:rPr>
              <a:t>colegios con KPI de 50 % o más</a:t>
            </a:r>
            <a:endParaRPr lang="en-US" sz="1600" dirty="0"/>
          </a:p>
        </p:txBody>
      </p:sp>
      <p:sp>
        <p:nvSpPr>
          <p:cNvPr id="12" name="Shape 10"/>
          <p:cNvSpPr/>
          <p:nvPr/>
        </p:nvSpPr>
        <p:spPr>
          <a:xfrm>
            <a:off x="7995682" y="1806575"/>
            <a:ext cx="3380343" cy="1685290"/>
          </a:xfrm>
          <a:prstGeom prst="roundRect">
            <a:avLst>
              <a:gd name="adj" fmla="val 5840"/>
            </a:avLst>
          </a:prstGeom>
          <a:solidFill>
            <a:srgbClr val="FBFAF6"/>
          </a:solidFill>
          <a:ln w="6350">
            <a:solidFill>
              <a:srgbClr val="DDD8CB"/>
            </a:solidFill>
            <a:prstDash val="solid"/>
          </a:ln>
        </p:spPr>
      </p:sp>
      <p:sp>
        <p:nvSpPr>
          <p:cNvPr id="13" name="Text 11"/>
          <p:cNvSpPr/>
          <p:nvPr/>
        </p:nvSpPr>
        <p:spPr>
          <a:xfrm>
            <a:off x="8200787" y="2011679"/>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6270"/>
                </a:solidFill>
                <a:latin typeface="IBM Plex Sans" pitchFamily="34" charset="0"/>
                <a:ea typeface="IBM Plex Sans" pitchFamily="34" charset="-122"/>
                <a:cs typeface="IBM Plex Sans" pitchFamily="34" charset="-120"/>
              </a:rPr>
              <a:t>Contraste</a:t>
            </a:r>
            <a:endParaRPr lang="en-US" sz="1200" dirty="0"/>
          </a:p>
        </p:txBody>
      </p:sp>
      <p:sp>
        <p:nvSpPr>
          <p:cNvPr id="14" name="Text 12"/>
          <p:cNvSpPr/>
          <p:nvPr/>
        </p:nvSpPr>
        <p:spPr>
          <a:xfrm>
            <a:off x="8200787" y="2288542"/>
            <a:ext cx="3059237"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76B87"/>
                </a:solidFill>
                <a:latin typeface="Source Serif 4" pitchFamily="34" charset="0"/>
                <a:ea typeface="Source Serif 4" pitchFamily="34" charset="-122"/>
                <a:cs typeface="Source Serif 4" pitchFamily="34" charset="-120"/>
              </a:rPr>
              <a:t>17</a:t>
            </a:r>
            <a:endParaRPr lang="en-US" sz="4800" dirty="0"/>
          </a:p>
        </p:txBody>
      </p:sp>
      <p:sp>
        <p:nvSpPr>
          <p:cNvPr id="15" name="Text 13"/>
          <p:cNvSpPr/>
          <p:nvPr/>
        </p:nvSpPr>
        <p:spPr>
          <a:xfrm>
            <a:off x="8200787" y="3022600"/>
            <a:ext cx="3059237"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303C"/>
                </a:solidFill>
                <a:latin typeface="IBM Plex Sans" pitchFamily="34" charset="0"/>
                <a:ea typeface="IBM Plex Sans" pitchFamily="34" charset="-122"/>
                <a:cs typeface="IBM Plex Sans" pitchFamily="34" charset="-120"/>
              </a:rPr>
              <a:t>colegios con KPI de 75 % o más</a:t>
            </a:r>
            <a:endParaRPr lang="en-US" sz="1600" dirty="0"/>
          </a:p>
        </p:txBody>
      </p:sp>
      <p:sp>
        <p:nvSpPr>
          <p:cNvPr id="16" name="Text 14"/>
          <p:cNvSpPr/>
          <p:nvPr/>
        </p:nvSpPr>
        <p:spPr>
          <a:xfrm>
            <a:off x="812800" y="3749042"/>
            <a:ext cx="10883392"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4303C"/>
                </a:solidFill>
                <a:latin typeface="IBM Plex Sans" pitchFamily="34" charset="0"/>
                <a:ea typeface="IBM Plex Sans" pitchFamily="34" charset="-122"/>
                <a:cs typeface="IBM Plex Sans" pitchFamily="34" charset="-120"/>
              </a:rPr>
              <a:t>Qué se pediría por acción:</a:t>
            </a:r>
            <a:r>
              <a:rPr lang="en-US" sz="1600" dirty="0">
                <a:solidFill>
                  <a:srgbClr val="14303C"/>
                </a:solidFill>
                <a:latin typeface="IBM Plex Sans" pitchFamily="34" charset="0"/>
                <a:ea typeface="IBM Plex Sans" pitchFamily="34" charset="-122"/>
                <a:cs typeface="IBM Plex Sans" pitchFamily="34" charset="-120"/>
              </a:rPr>
              <a:t> presupuesto desglosado, explicación del $0, medios de verificación, avance y razones de reprogramación.</a:t>
            </a:r>
            <a:endParaRPr lang="en-US" sz="1600" dirty="0"/>
          </a:p>
        </p:txBody>
      </p:sp>
      <p:sp>
        <p:nvSpPr>
          <p:cNvPr id="17" name="Text 15"/>
          <p:cNvSpPr/>
          <p:nvPr/>
        </p:nvSpPr>
        <p:spPr>
          <a:xfrm>
            <a:off x="812800" y="4551679"/>
            <a:ext cx="10883392" cy="29972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4303C"/>
                </a:solidFill>
                <a:latin typeface="IBM Plex Sans" pitchFamily="34" charset="0"/>
                <a:ea typeface="IBM Plex Sans" pitchFamily="34" charset="-122"/>
                <a:cs typeface="IBM Plex Sans" pitchFamily="34" charset="-120"/>
              </a:rPr>
              <a:t>Propuesta:</a:t>
            </a:r>
            <a:r>
              <a:rPr lang="en-US" sz="1600" dirty="0">
                <a:solidFill>
                  <a:srgbClr val="14303C"/>
                </a:solidFill>
                <a:latin typeface="IBM Plex Sans" pitchFamily="34" charset="0"/>
                <a:ea typeface="IBM Plex Sans" pitchFamily="34" charset="-122"/>
                <a:cs typeface="IBM Plex Sans" pitchFamily="34" charset="-120"/>
              </a:rPr>
              <a:t> revisar la cola por segmento y partir por las 78 acciones con $0 y no completa a la vez.</a:t>
            </a:r>
            <a:endParaRPr lang="en-US" sz="1600" dirty="0"/>
          </a:p>
        </p:txBody>
      </p:sp>
      <p:sp>
        <p:nvSpPr>
          <p:cNvPr id="18" name="Text 16"/>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19" name="Text 17"/>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14 / 19</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CONTINUIDAD</a:t>
            </a:r>
            <a:endParaRPr lang="en-US" sz="1200" dirty="0"/>
          </a:p>
        </p:txBody>
      </p:sp>
      <p:sp>
        <p:nvSpPr>
          <p:cNvPr id="3" name="Text 1"/>
          <p:cNvSpPr/>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ML y dashboard: propuesta para la etapa siguiente</a:t>
            </a:r>
            <a:endParaRPr lang="en-US" sz="3200" dirty="0"/>
          </a:p>
        </p:txBody>
      </p:sp>
      <p:sp>
        <p:nvSpPr>
          <p:cNvPr id="4" name="Shape 2"/>
          <p:cNvSpPr/>
          <p:nvPr/>
        </p:nvSpPr>
        <p:spPr>
          <a:xfrm>
            <a:off x="815975" y="1806575"/>
            <a:ext cx="3414157" cy="2432050"/>
          </a:xfrm>
          <a:prstGeom prst="roundRect">
            <a:avLst>
              <a:gd name="adj" fmla="val 4047"/>
            </a:avLst>
          </a:prstGeom>
          <a:solidFill>
            <a:srgbClr val="FBFAF6"/>
          </a:solidFill>
          <a:ln w="6350">
            <a:solidFill>
              <a:srgbClr val="DDD8CB"/>
            </a:solidFill>
            <a:prstDash val="solid"/>
          </a:ln>
        </p:spPr>
      </p:sp>
      <p:sp>
        <p:nvSpPr>
          <p:cNvPr id="5" name="Text 3"/>
          <p:cNvSpPr/>
          <p:nvPr/>
        </p:nvSpPr>
        <p:spPr>
          <a:xfrm>
            <a:off x="1021080" y="2011679"/>
            <a:ext cx="3094065"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6B87"/>
                </a:solidFill>
                <a:latin typeface="IBM Plex Sans" pitchFamily="34" charset="0"/>
                <a:ea typeface="IBM Plex Sans" pitchFamily="34" charset="-122"/>
                <a:cs typeface="IBM Plex Sans" pitchFamily="34" charset="-120"/>
              </a:rPr>
              <a:t>Tarea A · Perfiles de colegios (clustering)</a:t>
            </a:r>
            <a:endParaRPr lang="en-US" sz="1600" dirty="0"/>
          </a:p>
        </p:txBody>
      </p:sp>
      <p:sp>
        <p:nvSpPr>
          <p:cNvPr id="6" name="Text 4"/>
          <p:cNvSpPr/>
          <p:nvPr/>
        </p:nvSpPr>
        <p:spPr>
          <a:xfrm>
            <a:off x="1021080" y="2562864"/>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Unidad: colegio en 2024 (46 casos).</a:t>
            </a:r>
            <a:endParaRPr lang="en-US" sz="1200" dirty="0"/>
          </a:p>
        </p:txBody>
      </p:sp>
      <p:sp>
        <p:nvSpPr>
          <p:cNvPr id="7" name="Text 5"/>
          <p:cNvSpPr/>
          <p:nvPr/>
        </p:nvSpPr>
        <p:spPr>
          <a:xfrm>
            <a:off x="1021080" y="283972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Entradas: proporción por dimensión, mediana de estimación, matrícula, sector.</a:t>
            </a:r>
            <a:endParaRPr lang="en-US" sz="1200" dirty="0"/>
          </a:p>
        </p:txBody>
      </p:sp>
      <p:sp>
        <p:nvSpPr>
          <p:cNvPr id="8" name="Text 6"/>
          <p:cNvSpPr/>
          <p:nvPr/>
        </p:nvSpPr>
        <p:spPr>
          <a:xfrm>
            <a:off x="1021080" y="3329942"/>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Sin etiqueta: no se inventa ningún resultado.</a:t>
            </a:r>
            <a:endParaRPr lang="en-US" sz="1200" dirty="0"/>
          </a:p>
        </p:txBody>
      </p:sp>
      <p:sp>
        <p:nvSpPr>
          <p:cNvPr id="9" name="Text 7"/>
          <p:cNvSpPr/>
          <p:nvPr/>
        </p:nvSpPr>
        <p:spPr>
          <a:xfrm>
            <a:off x="1021080" y="3820164"/>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Límite: muestra pequeña.</a:t>
            </a:r>
            <a:endParaRPr lang="en-US" sz="1200" dirty="0"/>
          </a:p>
        </p:txBody>
      </p:sp>
      <p:sp>
        <p:nvSpPr>
          <p:cNvPr id="10" name="Shape 8"/>
          <p:cNvSpPr/>
          <p:nvPr/>
        </p:nvSpPr>
        <p:spPr>
          <a:xfrm>
            <a:off x="4388882" y="1806575"/>
            <a:ext cx="3414236" cy="2432050"/>
          </a:xfrm>
          <a:prstGeom prst="roundRect">
            <a:avLst>
              <a:gd name="adj" fmla="val 4047"/>
            </a:avLst>
          </a:prstGeom>
          <a:solidFill>
            <a:srgbClr val="FBFAF6"/>
          </a:solidFill>
          <a:ln w="6350">
            <a:solidFill>
              <a:srgbClr val="DDD8CB"/>
            </a:solidFill>
            <a:prstDash val="solid"/>
          </a:ln>
        </p:spPr>
      </p:sp>
      <p:sp>
        <p:nvSpPr>
          <p:cNvPr id="11" name="Text 9"/>
          <p:cNvSpPr/>
          <p:nvPr/>
        </p:nvSpPr>
        <p:spPr>
          <a:xfrm>
            <a:off x="4593987" y="2011679"/>
            <a:ext cx="3094147"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6B87"/>
                </a:solidFill>
                <a:latin typeface="IBM Plex Sans" pitchFamily="34" charset="0"/>
                <a:ea typeface="IBM Plex Sans" pitchFamily="34" charset="-122"/>
                <a:cs typeface="IBM Plex Sans" pitchFamily="34" charset="-120"/>
              </a:rPr>
              <a:t>Tarea B · Anticipar acciones no completas</a:t>
            </a:r>
            <a:endParaRPr lang="en-US" sz="1600" dirty="0"/>
          </a:p>
        </p:txBody>
      </p:sp>
      <p:sp>
        <p:nvSpPr>
          <p:cNvPr id="12" name="Text 10"/>
          <p:cNvSpPr/>
          <p:nvPr/>
        </p:nvSpPr>
        <p:spPr>
          <a:xfrm>
            <a:off x="4593987" y="2562864"/>
            <a:ext cx="30941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Unidad: acción PME. Resultado: estado al cierre (N).</a:t>
            </a:r>
            <a:endParaRPr lang="en-US" sz="1200" dirty="0"/>
          </a:p>
        </p:txBody>
      </p:sp>
      <p:sp>
        <p:nvSpPr>
          <p:cNvPr id="13" name="Text 11"/>
          <p:cNvSpPr/>
          <p:nvPr/>
        </p:nvSpPr>
        <p:spPr>
          <a:xfrm>
            <a:off x="4593987" y="3053079"/>
            <a:ext cx="30941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Entradas: solo datos de planificación; el $0 no puede ser entrada.</a:t>
            </a:r>
            <a:endParaRPr lang="en-US" sz="1200" dirty="0"/>
          </a:p>
        </p:txBody>
      </p:sp>
      <p:sp>
        <p:nvSpPr>
          <p:cNvPr id="14" name="Text 12"/>
          <p:cNvSpPr/>
          <p:nvPr/>
        </p:nvSpPr>
        <p:spPr>
          <a:xfrm>
            <a:off x="4593987" y="3543300"/>
            <a:ext cx="30941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Requiere PME de otros años para entrenar y probar.</a:t>
            </a:r>
            <a:endParaRPr lang="en-US" sz="1200" dirty="0"/>
          </a:p>
        </p:txBody>
      </p:sp>
      <p:sp>
        <p:nvSpPr>
          <p:cNvPr id="15" name="Shape 13"/>
          <p:cNvSpPr/>
          <p:nvPr/>
        </p:nvSpPr>
        <p:spPr>
          <a:xfrm>
            <a:off x="7961868" y="1806575"/>
            <a:ext cx="3414157" cy="2432050"/>
          </a:xfrm>
          <a:prstGeom prst="roundRect">
            <a:avLst>
              <a:gd name="adj" fmla="val 4047"/>
            </a:avLst>
          </a:prstGeom>
          <a:solidFill>
            <a:srgbClr val="0F3A4A"/>
          </a:solidFill>
          <a:ln w="6350">
            <a:solidFill>
              <a:srgbClr val="0F3A4A"/>
            </a:solidFill>
            <a:prstDash val="solid"/>
          </a:ln>
        </p:spPr>
      </p:sp>
      <p:sp>
        <p:nvSpPr>
          <p:cNvPr id="16" name="Text 14"/>
          <p:cNvSpPr/>
          <p:nvPr/>
        </p:nvSpPr>
        <p:spPr>
          <a:xfrm>
            <a:off x="8166974" y="2011679"/>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B15A"/>
                </a:solidFill>
                <a:latin typeface="IBM Plex Sans" pitchFamily="34" charset="0"/>
                <a:ea typeface="IBM Plex Sans" pitchFamily="34" charset="-122"/>
                <a:cs typeface="IBM Plex Sans" pitchFamily="34" charset="-120"/>
              </a:rPr>
              <a:t>Dashboard</a:t>
            </a:r>
            <a:endParaRPr lang="en-US" sz="1600" dirty="0"/>
          </a:p>
        </p:txBody>
      </p:sp>
      <p:sp>
        <p:nvSpPr>
          <p:cNvPr id="17" name="Text 15"/>
          <p:cNvSpPr/>
          <p:nvPr/>
        </p:nvSpPr>
        <p:spPr>
          <a:xfrm>
            <a:off x="8166974" y="231902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Usuario: quien solicita respaldos. Decisión: qué colegio y acciones revisar.</a:t>
            </a:r>
            <a:endParaRPr lang="en-US" sz="1200" dirty="0"/>
          </a:p>
        </p:txBody>
      </p:sp>
      <p:sp>
        <p:nvSpPr>
          <p:cNvPr id="18" name="Text 16"/>
          <p:cNvSpPr/>
          <p:nvPr/>
        </p:nvSpPr>
        <p:spPr>
          <a:xfrm>
            <a:off x="8166974" y="2809242"/>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Indicadores: KPI con numerador y denominador.</a:t>
            </a:r>
            <a:endParaRPr lang="en-US" sz="1200" dirty="0"/>
          </a:p>
        </p:txBody>
      </p:sp>
      <p:sp>
        <p:nvSpPr>
          <p:cNvPr id="19" name="Text 17"/>
          <p:cNvSpPr/>
          <p:nvPr/>
        </p:nvSpPr>
        <p:spPr>
          <a:xfrm>
            <a:off x="8166974" y="3299464"/>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Filtros: dimensión, sector, oferta y umbral.</a:t>
            </a:r>
            <a:endParaRPr lang="en-US" sz="1200" dirty="0"/>
          </a:p>
        </p:txBody>
      </p:sp>
      <p:sp>
        <p:nvSpPr>
          <p:cNvPr id="20" name="Text 18"/>
          <p:cNvSpPr/>
          <p:nvPr/>
        </p:nvSpPr>
        <p:spPr>
          <a:xfrm>
            <a:off x="812800" y="4495800"/>
            <a:ext cx="10883392"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303C"/>
                </a:solidFill>
                <a:latin typeface="IBM Plex Sans" pitchFamily="34" charset="0"/>
                <a:ea typeface="IBM Plex Sans" pitchFamily="34" charset="-122"/>
                <a:cs typeface="IBM Plex Sans" pitchFamily="34" charset="-120"/>
              </a:rPr>
              <a:t>Es una propuesta para revisión: </a:t>
            </a:r>
            <a:r>
              <a:rPr lang="en-US" sz="1600" b="1" dirty="0">
                <a:solidFill>
                  <a:srgbClr val="14303C"/>
                </a:solidFill>
                <a:latin typeface="IBM Plex Sans" pitchFamily="34" charset="0"/>
                <a:ea typeface="IBM Plex Sans" pitchFamily="34" charset="-122"/>
                <a:cs typeface="IBM Plex Sans" pitchFamily="34" charset="-120"/>
              </a:rPr>
              <a:t>no se entrenó ningún modelo ni se construyó el dashboard</a:t>
            </a:r>
            <a:r>
              <a:rPr lang="en-US" sz="1600" dirty="0">
                <a:solidFill>
                  <a:srgbClr val="14303C"/>
                </a:solidFill>
                <a:latin typeface="IBM Plex Sans" pitchFamily="34" charset="0"/>
                <a:ea typeface="IBM Plex Sans" pitchFamily="34" charset="-122"/>
                <a:cs typeface="IBM Plex Sans" pitchFamily="34" charset="-120"/>
              </a:rPr>
              <a:t>, y la viabilidad no está demostrada.</a:t>
            </a:r>
            <a:endParaRPr lang="en-US" sz="1600" dirty="0"/>
          </a:p>
        </p:txBody>
      </p:sp>
      <p:sp>
        <p:nvSpPr>
          <p:cNvPr id="21" name="Text 19"/>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22" name="Text 20"/>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15 / 19</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3A4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B15A"/>
                </a:solidFill>
                <a:latin typeface="IBM Plex Sans" pitchFamily="34" charset="0"/>
                <a:ea typeface="IBM Plex Sans" pitchFamily="34" charset="-122"/>
                <a:cs typeface="IBM Plex Sans" pitchFamily="34" charset="-120"/>
              </a:rPr>
              <a:t>CIERRE</a:t>
            </a:r>
            <a:endParaRPr lang="en-US" sz="1200" dirty="0"/>
          </a:p>
        </p:txBody>
      </p:sp>
      <p:sp>
        <p:nvSpPr>
          <p:cNvPr id="3" name="Text 1"/>
          <p:cNvSpPr/>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6F4EE"/>
                </a:solidFill>
                <a:latin typeface="Source Serif 4" pitchFamily="34" charset="0"/>
                <a:ea typeface="Source Serif 4" pitchFamily="34" charset="-122"/>
                <a:cs typeface="Source Serif 4" pitchFamily="34" charset="-120"/>
              </a:rPr>
              <a:t>Límites y próximos pasos</a:t>
            </a:r>
            <a:endParaRPr lang="en-US" sz="3200" dirty="0"/>
          </a:p>
        </p:txBody>
      </p:sp>
      <p:sp>
        <p:nvSpPr>
          <p:cNvPr id="4" name="Text 2"/>
          <p:cNvSpPr/>
          <p:nvPr/>
        </p:nvSpPr>
        <p:spPr>
          <a:xfrm>
            <a:off x="812800" y="1803400"/>
            <a:ext cx="52324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8B15A"/>
                </a:solidFill>
                <a:latin typeface="IBM Plex Sans" pitchFamily="34" charset="0"/>
                <a:ea typeface="IBM Plex Sans" pitchFamily="34" charset="-122"/>
                <a:cs typeface="IBM Plex Sans" pitchFamily="34" charset="-120"/>
              </a:rPr>
              <a:t>Límites</a:t>
            </a:r>
            <a:endParaRPr lang="en-US" sz="2000" dirty="0"/>
          </a:p>
        </p:txBody>
      </p:sp>
      <p:sp>
        <p:nvSpPr>
          <p:cNvPr id="5" name="Shape 3"/>
          <p:cNvSpPr/>
          <p:nvPr/>
        </p:nvSpPr>
        <p:spPr>
          <a:xfrm>
            <a:off x="831850" y="2247900"/>
            <a:ext cx="0" cy="264160"/>
          </a:xfrm>
          <a:prstGeom prst="line">
            <a:avLst/>
          </a:prstGeom>
          <a:noFill/>
          <a:ln w="38100">
            <a:solidFill>
              <a:srgbClr val="E8B15A"/>
            </a:solidFill>
            <a:prstDash val="solid"/>
          </a:ln>
        </p:spPr>
      </p:sp>
      <p:sp>
        <p:nvSpPr>
          <p:cNvPr id="6" name="Text 4"/>
          <p:cNvSpPr/>
          <p:nvPr/>
        </p:nvSpPr>
        <p:spPr>
          <a:xfrm>
            <a:off x="1000760" y="2247900"/>
            <a:ext cx="503880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IBM Plex Sans" pitchFamily="34" charset="0"/>
                <a:ea typeface="IBM Plex Sans" pitchFamily="34" charset="-122"/>
                <a:cs typeface="IBM Plex Sans" pitchFamily="34" charset="-120"/>
              </a:rPr>
              <a:t>Un PME es un plan, no un gasto ejecutado</a:t>
            </a:r>
            <a:endParaRPr lang="en-US" sz="1600" dirty="0"/>
          </a:p>
        </p:txBody>
      </p:sp>
      <p:sp>
        <p:nvSpPr>
          <p:cNvPr id="7" name="Shape 5"/>
          <p:cNvSpPr/>
          <p:nvPr/>
        </p:nvSpPr>
        <p:spPr>
          <a:xfrm>
            <a:off x="831850" y="2651758"/>
            <a:ext cx="0" cy="264160"/>
          </a:xfrm>
          <a:prstGeom prst="line">
            <a:avLst/>
          </a:prstGeom>
          <a:noFill/>
          <a:ln w="38100">
            <a:solidFill>
              <a:srgbClr val="E8B15A"/>
            </a:solidFill>
            <a:prstDash val="solid"/>
          </a:ln>
        </p:spPr>
      </p:sp>
      <p:sp>
        <p:nvSpPr>
          <p:cNvPr id="8" name="Text 6"/>
          <p:cNvSpPr/>
          <p:nvPr/>
        </p:nvSpPr>
        <p:spPr>
          <a:xfrm>
            <a:off x="1000760" y="2651758"/>
            <a:ext cx="503880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IBM Plex Sans" pitchFamily="34" charset="0"/>
                <a:ea typeface="IBM Plex Sans" pitchFamily="34" charset="-122"/>
                <a:cs typeface="IBM Plex Sans" pitchFamily="34" charset="-120"/>
              </a:rPr>
              <a:t>Una OC no es un pago</a:t>
            </a:r>
            <a:endParaRPr lang="en-US" sz="1600" dirty="0"/>
          </a:p>
        </p:txBody>
      </p:sp>
      <p:sp>
        <p:nvSpPr>
          <p:cNvPr id="9" name="Shape 7"/>
          <p:cNvSpPr/>
          <p:nvPr/>
        </p:nvSpPr>
        <p:spPr>
          <a:xfrm>
            <a:off x="831850" y="3055627"/>
            <a:ext cx="0" cy="264160"/>
          </a:xfrm>
          <a:prstGeom prst="line">
            <a:avLst/>
          </a:prstGeom>
          <a:noFill/>
          <a:ln w="38100">
            <a:solidFill>
              <a:srgbClr val="E8B15A"/>
            </a:solidFill>
            <a:prstDash val="solid"/>
          </a:ln>
        </p:spPr>
      </p:sp>
      <p:sp>
        <p:nvSpPr>
          <p:cNvPr id="10" name="Text 8"/>
          <p:cNvSpPr/>
          <p:nvPr/>
        </p:nvSpPr>
        <p:spPr>
          <a:xfrm>
            <a:off x="1000760" y="3055627"/>
            <a:ext cx="503880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IBM Plex Sans" pitchFamily="34" charset="0"/>
                <a:ea typeface="IBM Plex Sans" pitchFamily="34" charset="-122"/>
                <a:cs typeface="IBM Plex Sans" pitchFamily="34" charset="-120"/>
              </a:rPr>
              <a:t>Un solo año PME: sin tendencia</a:t>
            </a:r>
            <a:endParaRPr lang="en-US" sz="1600" dirty="0"/>
          </a:p>
        </p:txBody>
      </p:sp>
      <p:sp>
        <p:nvSpPr>
          <p:cNvPr id="11" name="Shape 9"/>
          <p:cNvSpPr/>
          <p:nvPr/>
        </p:nvSpPr>
        <p:spPr>
          <a:xfrm>
            <a:off x="831850" y="3459485"/>
            <a:ext cx="0" cy="264160"/>
          </a:xfrm>
          <a:prstGeom prst="line">
            <a:avLst/>
          </a:prstGeom>
          <a:noFill/>
          <a:ln w="38100">
            <a:solidFill>
              <a:srgbClr val="E8B15A"/>
            </a:solidFill>
            <a:prstDash val="solid"/>
          </a:ln>
        </p:spPr>
      </p:sp>
      <p:sp>
        <p:nvSpPr>
          <p:cNvPr id="12" name="Text 10"/>
          <p:cNvSpPr/>
          <p:nvPr/>
        </p:nvSpPr>
        <p:spPr>
          <a:xfrm>
            <a:off x="1000760" y="3459485"/>
            <a:ext cx="503880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IBM Plex Sans" pitchFamily="34" charset="0"/>
                <a:ea typeface="IBM Plex Sans" pitchFamily="34" charset="-122"/>
                <a:cs typeface="IBM Plex Sans" pitchFamily="34" charset="-120"/>
              </a:rPr>
              <a:t>13 de 59 colegios sin acciones en el extracto</a:t>
            </a:r>
            <a:endParaRPr lang="en-US" sz="1600" dirty="0"/>
          </a:p>
        </p:txBody>
      </p:sp>
      <p:sp>
        <p:nvSpPr>
          <p:cNvPr id="13" name="Shape 11"/>
          <p:cNvSpPr/>
          <p:nvPr/>
        </p:nvSpPr>
        <p:spPr>
          <a:xfrm>
            <a:off x="831850" y="3863342"/>
            <a:ext cx="0" cy="264160"/>
          </a:xfrm>
          <a:prstGeom prst="line">
            <a:avLst/>
          </a:prstGeom>
          <a:noFill/>
          <a:ln w="38100">
            <a:solidFill>
              <a:srgbClr val="E8B15A"/>
            </a:solidFill>
            <a:prstDash val="solid"/>
          </a:ln>
        </p:spPr>
      </p:sp>
      <p:sp>
        <p:nvSpPr>
          <p:cNvPr id="14" name="Text 12"/>
          <p:cNvSpPr/>
          <p:nvPr/>
        </p:nvSpPr>
        <p:spPr>
          <a:xfrm>
            <a:off x="1000760" y="3863342"/>
            <a:ext cx="503880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IBM Plex Sans" pitchFamily="34" charset="0"/>
                <a:ea typeface="IBM Plex Sans" pitchFamily="34" charset="-122"/>
                <a:cs typeface="IBM Plex Sans" pitchFamily="34" charset="-120"/>
              </a:rPr>
              <a:t>El umbral de 50 % no está validado</a:t>
            </a:r>
            <a:endParaRPr lang="en-US" sz="1600" dirty="0"/>
          </a:p>
        </p:txBody>
      </p:sp>
      <p:sp>
        <p:nvSpPr>
          <p:cNvPr id="15" name="Text 13"/>
          <p:cNvSpPr/>
          <p:nvPr/>
        </p:nvSpPr>
        <p:spPr>
          <a:xfrm>
            <a:off x="6299200" y="1803400"/>
            <a:ext cx="52324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8B15A"/>
                </a:solidFill>
                <a:latin typeface="IBM Plex Sans" pitchFamily="34" charset="0"/>
                <a:ea typeface="IBM Plex Sans" pitchFamily="34" charset="-122"/>
                <a:cs typeface="IBM Plex Sans" pitchFamily="34" charset="-120"/>
              </a:rPr>
              <a:t>Próximos pasos</a:t>
            </a:r>
            <a:endParaRPr lang="en-US" sz="2000" dirty="0"/>
          </a:p>
        </p:txBody>
      </p:sp>
      <p:sp>
        <p:nvSpPr>
          <p:cNvPr id="16" name="Shape 14"/>
          <p:cNvSpPr/>
          <p:nvPr/>
        </p:nvSpPr>
        <p:spPr>
          <a:xfrm>
            <a:off x="6318250" y="2247900"/>
            <a:ext cx="0" cy="264160"/>
          </a:xfrm>
          <a:prstGeom prst="line">
            <a:avLst/>
          </a:prstGeom>
          <a:noFill/>
          <a:ln w="38100">
            <a:solidFill>
              <a:srgbClr val="E8B15A"/>
            </a:solidFill>
            <a:prstDash val="solid"/>
          </a:ln>
        </p:spPr>
      </p:sp>
      <p:sp>
        <p:nvSpPr>
          <p:cNvPr id="17" name="Text 15"/>
          <p:cNvSpPr/>
          <p:nvPr/>
        </p:nvSpPr>
        <p:spPr>
          <a:xfrm>
            <a:off x="6487160" y="2247900"/>
            <a:ext cx="503880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IBM Plex Sans" pitchFamily="34" charset="0"/>
                <a:ea typeface="IBM Plex Sans" pitchFamily="34" charset="-122"/>
                <a:cs typeface="IBM Plex Sans" pitchFamily="34" charset="-120"/>
              </a:rPr>
              <a:t>Validar el umbral con la capacidad real de revisión</a:t>
            </a:r>
            <a:endParaRPr lang="en-US" sz="1600" dirty="0"/>
          </a:p>
        </p:txBody>
      </p:sp>
      <p:sp>
        <p:nvSpPr>
          <p:cNvPr id="18" name="Shape 16"/>
          <p:cNvSpPr/>
          <p:nvPr/>
        </p:nvSpPr>
        <p:spPr>
          <a:xfrm>
            <a:off x="6318250" y="2651758"/>
            <a:ext cx="0" cy="528320"/>
          </a:xfrm>
          <a:prstGeom prst="line">
            <a:avLst/>
          </a:prstGeom>
          <a:noFill/>
          <a:ln w="38100">
            <a:solidFill>
              <a:srgbClr val="E8B15A"/>
            </a:solidFill>
            <a:prstDash val="solid"/>
          </a:ln>
        </p:spPr>
      </p:sp>
      <p:sp>
        <p:nvSpPr>
          <p:cNvPr id="19" name="Text 17"/>
          <p:cNvSpPr/>
          <p:nvPr/>
        </p:nvSpPr>
        <p:spPr>
          <a:xfrm>
            <a:off x="6487160" y="2651758"/>
            <a:ext cx="5038801"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IBM Plex Sans" pitchFamily="34" charset="0"/>
                <a:ea typeface="IBM Plex Sans" pitchFamily="34" charset="-122"/>
                <a:cs typeface="IBM Plex Sans" pitchFamily="34" charset="-120"/>
              </a:rPr>
              <a:t>Confirmar si el PME aplica a los 13 colegios sin acciones</a:t>
            </a:r>
            <a:endParaRPr lang="en-US" sz="1600" dirty="0"/>
          </a:p>
        </p:txBody>
      </p:sp>
      <p:sp>
        <p:nvSpPr>
          <p:cNvPr id="20" name="Shape 18"/>
          <p:cNvSpPr/>
          <p:nvPr/>
        </p:nvSpPr>
        <p:spPr>
          <a:xfrm>
            <a:off x="6318250" y="3319785"/>
            <a:ext cx="0" cy="264160"/>
          </a:xfrm>
          <a:prstGeom prst="line">
            <a:avLst/>
          </a:prstGeom>
          <a:noFill/>
          <a:ln w="38100">
            <a:solidFill>
              <a:srgbClr val="E8B15A"/>
            </a:solidFill>
            <a:prstDash val="solid"/>
          </a:ln>
        </p:spPr>
      </p:sp>
      <p:sp>
        <p:nvSpPr>
          <p:cNvPr id="21" name="Text 19"/>
          <p:cNvSpPr/>
          <p:nvPr/>
        </p:nvSpPr>
        <p:spPr>
          <a:xfrm>
            <a:off x="6487160" y="3319785"/>
            <a:ext cx="503880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IBM Plex Sans" pitchFamily="34" charset="0"/>
                <a:ea typeface="IBM Plex Sans" pitchFamily="34" charset="-122"/>
                <a:cs typeface="IBM Plex Sans" pitchFamily="34" charset="-120"/>
              </a:rPr>
              <a:t>Obtener rendiciones y pagos (línea A)</a:t>
            </a:r>
            <a:endParaRPr lang="en-US" sz="1600" dirty="0"/>
          </a:p>
        </p:txBody>
      </p:sp>
      <p:sp>
        <p:nvSpPr>
          <p:cNvPr id="22" name="Shape 20"/>
          <p:cNvSpPr/>
          <p:nvPr/>
        </p:nvSpPr>
        <p:spPr>
          <a:xfrm>
            <a:off x="6318250" y="3723642"/>
            <a:ext cx="0" cy="528320"/>
          </a:xfrm>
          <a:prstGeom prst="line">
            <a:avLst/>
          </a:prstGeom>
          <a:noFill/>
          <a:ln w="38100">
            <a:solidFill>
              <a:srgbClr val="E8B15A"/>
            </a:solidFill>
            <a:prstDash val="solid"/>
          </a:ln>
        </p:spPr>
      </p:sp>
      <p:sp>
        <p:nvSpPr>
          <p:cNvPr id="23" name="Text 21"/>
          <p:cNvSpPr/>
          <p:nvPr/>
        </p:nvSpPr>
        <p:spPr>
          <a:xfrm>
            <a:off x="6487160" y="3723642"/>
            <a:ext cx="5038801"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IBM Plex Sans" pitchFamily="34" charset="0"/>
                <a:ea typeface="IBM Plex Sans" pitchFamily="34" charset="-122"/>
                <a:cs typeface="IBM Plex Sans" pitchFamily="34" charset="-120"/>
              </a:rPr>
              <a:t>Revisar una muestra bajo el umbral para ver omisiones</a:t>
            </a:r>
            <a:endParaRPr lang="en-US" sz="1600" dirty="0"/>
          </a:p>
        </p:txBody>
      </p:sp>
      <p:sp>
        <p:nvSpPr>
          <p:cNvPr id="24" name="Text 22"/>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25" name="Text 23"/>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16 / 19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19551"/>
          </a:xfrm>
          <a:prstGeom prst="rect">
            <a:avLst/>
          </a:prstGeom>
          <a:noFill/>
          <a:ln/>
        </p:spPr>
        <p:txBody>
          <a:bodyPr wrap="square" lIns="0" tIns="0" rIns="0" bIns="0" rtlCol="0" anchor="t">
            <a:normAutofit/>
          </a:bodyPr>
          <a:lstStyle/>
          <a:p>
            <a:pPr algn="l" indent="0" marL="0">
              <a:lnSpc>
                <a:spcPts val="1570"/>
              </a:lnSpc>
              <a:buNone/>
            </a:pPr>
            <a:r>
              <a:rPr lang="en-US" sz="1121" b="1" spc="100" kern="0" dirty="0">
                <a:solidFill>
                  <a:srgbClr val="9A5A12"/>
                </a:solidFill>
                <a:latin typeface="IBM Plex Sans" pitchFamily="34" charset="0"/>
                <a:ea typeface="IBM Plex Sans" pitchFamily="34" charset="-122"/>
                <a:cs typeface="IBM Plex Sans" pitchFamily="34" charset="-120"/>
              </a:rPr>
              <a:t>ANEXO</a:t>
            </a:r>
            <a:endParaRPr lang="en-US" sz="1121" dirty="0"/>
          </a:p>
        </p:txBody>
      </p:sp>
      <p:sp>
        <p:nvSpPr>
          <p:cNvPr id="3" name="Text 1"/>
          <p:cNvSpPr/>
          <p:nvPr/>
        </p:nvSpPr>
        <p:spPr>
          <a:xfrm>
            <a:off x="812800" y="1083159"/>
            <a:ext cx="10883392" cy="432197"/>
          </a:xfrm>
          <a:prstGeom prst="rect">
            <a:avLst/>
          </a:prstGeom>
          <a:noFill/>
          <a:ln/>
        </p:spPr>
        <p:txBody>
          <a:bodyPr wrap="square" lIns="0" tIns="0" rIns="0" bIns="0" rtlCol="0" anchor="t">
            <a:normAutofit/>
          </a:bodyPr>
          <a:lstStyle/>
          <a:p>
            <a:pPr algn="l" indent="0" marL="0">
              <a:lnSpc>
                <a:spcPts val="3223"/>
              </a:lnSpc>
              <a:buNone/>
            </a:pPr>
            <a:r>
              <a:rPr lang="en-US" sz="2930" b="1" dirty="0">
                <a:solidFill>
                  <a:srgbClr val="14303C"/>
                </a:solidFill>
                <a:latin typeface="Source Serif 4" pitchFamily="34" charset="0"/>
                <a:ea typeface="Source Serif 4" pitchFamily="34" charset="-122"/>
                <a:cs typeface="Source Serif 4" pitchFamily="34" charset="-120"/>
              </a:rPr>
              <a:t>Metodología: qué se hizo y por qué</a:t>
            </a:r>
            <a:endParaRPr lang="en-US" sz="2930" dirty="0"/>
          </a:p>
        </p:txBody>
      </p:sp>
      <p:sp>
        <p:nvSpPr>
          <p:cNvPr id="4" name="Shape 2"/>
          <p:cNvSpPr/>
          <p:nvPr/>
        </p:nvSpPr>
        <p:spPr>
          <a:xfrm>
            <a:off x="812800" y="1743956"/>
            <a:ext cx="6731000" cy="4098052"/>
          </a:xfrm>
          <a:prstGeom prst="roundRect">
            <a:avLst>
              <a:gd name="adj" fmla="val 1859"/>
            </a:avLst>
          </a:prstGeom>
          <a:solidFill>
            <a:srgbClr val="FFFFFF"/>
          </a:solidFill>
          <a:ln/>
        </p:spPr>
      </p:sp>
      <p:pic>
        <p:nvPicPr>
          <p:cNvPr id="5" name="Image 0" descr="Diagrama de ocho pasos de la metodología, con qué se hizo y por qué en cada uno">    </p:cNvPr>
          <p:cNvPicPr>
            <a:picLocks noChangeAspect="1"/>
          </p:cNvPicPr>
          <p:nvPr/>
        </p:nvPicPr>
        <p:blipFill>
          <a:blip r:embed="rId1"/>
          <a:stretch>
            <a:fillRect/>
          </a:stretch>
        </p:blipFill>
        <p:spPr>
          <a:xfrm>
            <a:off x="1084041" y="1743956"/>
            <a:ext cx="6188519" cy="4098052"/>
          </a:xfrm>
          <a:prstGeom prst="rect">
            <a:avLst/>
          </a:prstGeom>
        </p:spPr>
      </p:pic>
      <p:sp>
        <p:nvSpPr>
          <p:cNvPr id="6" name="Text 3"/>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7" name="Text 4"/>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17 / 19</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ANEXO</a:t>
            </a:r>
            <a:endParaRPr lang="en-US" sz="1200" dirty="0"/>
          </a:p>
        </p:txBody>
      </p:sp>
      <p:sp>
        <p:nvSpPr>
          <p:cNvPr id="3" name="Text 1"/>
          <p:cNvSpPr/>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Five Cs aplicadas a la investigación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1981200"/>
        </p:xfrm>
        <a:graphic>
          <a:graphicData uri="http://schemas.openxmlformats.org/drawingml/2006/table">
            <a:tbl>
              <a:tblPr/>
              <a:tblGrid>
                <a:gridCol w="2111248"/>
                <a:gridCol w="8444992"/>
              </a:tblGrid>
              <a:tr h="330200">
                <a:tc>
                  <a:txBody>
                    <a:bodyPr/>
                    <a:lstStyle/>
                    <a:p>
                      <a:pPr indent="0" marL="0">
                        <a:lnSpc>
                          <a:spcPts val="1680"/>
                        </a:lnSpc>
                        <a:buNone/>
                      </a:pPr>
                      <a:r>
                        <a:rPr lang="en-US" sz="1200" b="1" dirty="0">
                          <a:solidFill>
                            <a:srgbClr val="14303C"/>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680"/>
                        </a:lnSpc>
                        <a:buNone/>
                      </a:pPr>
                      <a:r>
                        <a:rPr lang="en-US" sz="1200" b="1" dirty="0">
                          <a:solidFill>
                            <a:srgbClr val="14303C"/>
                          </a:solidFill>
                          <a:latin typeface="IBM Plex Sans" pitchFamily="34" charset="0"/>
                          <a:ea typeface="IBM Plex Sans" pitchFamily="34" charset="-122"/>
                          <a:cs typeface="IBM Plex Sans" pitchFamily="34" charset="-120"/>
                        </a:rPr>
                        <a:t>Evidencia en este proyecto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330200">
                <a:tc>
                  <a:txBody>
                    <a:bodyPr/>
                    <a:lstStyle/>
                    <a:p>
                      <a:pPr indent="0" marL="0">
                        <a:lnSpc>
                          <a:spcPts val="1680"/>
                        </a:lnSpc>
                        <a:buNone/>
                      </a:pPr>
                      <a:r>
                        <a:rPr lang="en-US" sz="1200" dirty="0">
                          <a:solidFill>
                            <a:srgbClr val="14303C"/>
                          </a:solidFill>
                          <a:latin typeface="IBM Plex Sans" pitchFamily="34" charset="0"/>
                          <a:ea typeface="IBM Plex Sans" pitchFamily="34" charset="-122"/>
                          <a:cs typeface="IBM Plex Sans" pitchFamily="34" charset="-120"/>
                        </a:rPr>
                        <a:t>Clean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303C"/>
                          </a:solidFill>
                          <a:latin typeface="IBM Plex Sans" pitchFamily="34" charset="0"/>
                          <a:ea typeface="IBM Plex Sans" pitchFamily="34" charset="-122"/>
                          <a:cs typeface="IBM Plex Sans" pitchFamily="34" charset="-120"/>
                        </a:rPr>
                        <a:t>0 duplicados, 0 importes negativos y 18 validaciones superadas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303C"/>
                          </a:solidFill>
                          <a:latin typeface="IBM Plex Sans" pitchFamily="34" charset="0"/>
                          <a:ea typeface="IBM Plex Sans" pitchFamily="34" charset="-122"/>
                          <a:cs typeface="IBM Plex Sans" pitchFamily="34" charset="-120"/>
                        </a:rPr>
                        <a:t>Consistent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303C"/>
                          </a:solidFill>
                          <a:latin typeface="IBM Plex Sans" pitchFamily="34" charset="0"/>
                          <a:ea typeface="IBM Plex Sans" pitchFamily="34" charset="-122"/>
                          <a:cs typeface="IBM Plex Sans" pitchFamily="34" charset="-120"/>
                        </a:rPr>
                        <a:t>IDPS cambia sus códigos en 2025; SIMCE evalúa otros grados cada año; los colegios públicos pasan a SLEP en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303C"/>
                          </a:solidFill>
                          <a:latin typeface="IBM Plex Sans" pitchFamily="34" charset="0"/>
                          <a:ea typeface="IBM Plex Sans" pitchFamily="34" charset="-122"/>
                          <a:cs typeface="IBM Plex Sans" pitchFamily="34" charset="-120"/>
                        </a:rPr>
                        <a:t>Conformed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303C"/>
                          </a:solidFill>
                          <a:latin typeface="IBM Plex Sans" pitchFamily="34" charset="0"/>
                          <a:ea typeface="IBM Plex Sans" pitchFamily="34" charset="-122"/>
                          <a:cs typeface="IBM Plex Sans" pitchFamily="34" charset="-120"/>
                        </a:rPr>
                        <a:t>0 discordancias entre la dependencia del PME y la del Directorio; RBD común en todas las fuentes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303C"/>
                          </a:solidFill>
                          <a:latin typeface="IBM Plex Sans" pitchFamily="34" charset="0"/>
                          <a:ea typeface="IBM Plex Sans" pitchFamily="34" charset="-122"/>
                          <a:cs typeface="IBM Plex Sans" pitchFamily="34" charset="-120"/>
                        </a:rPr>
                        <a:t>Current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303C"/>
                          </a:solidFill>
                          <a:latin typeface="IBM Plex Sans" pitchFamily="34" charset="0"/>
                          <a:ea typeface="IBM Plex Sans" pitchFamily="34" charset="-122"/>
                          <a:cs typeface="IBM Plex Sans" pitchFamily="34" charset="-120"/>
                        </a:rPr>
                        <a:t>La Implementación 2024 cerró el 14-12-2024: los datos tienen casi dos años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303C"/>
                          </a:solidFill>
                          <a:latin typeface="IBM Plex Sans" pitchFamily="34" charset="0"/>
                          <a:ea typeface="IBM Plex Sans" pitchFamily="34" charset="-122"/>
                          <a:cs typeface="IBM Plex Sans" pitchFamily="34" charset="-120"/>
                        </a:rPr>
                        <a:t>Comprehensive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303C"/>
                          </a:solidFill>
                          <a:latin typeface="IBM Plex Sans" pitchFamily="34" charset="0"/>
                          <a:ea typeface="IBM Plex Sans" pitchFamily="34" charset="-122"/>
                          <a:cs typeface="IBM Plex Sans" pitchFamily="34" charset="-120"/>
                        </a:rPr>
                        <a:t>46 de 59 colegios con PME; compras solo de los 8 públicos; sin rendiciones ni pagos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6" name="Text 3"/>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18 / 19</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A12"/>
                </a:solidFill>
                <a:latin typeface="IBM Plex Sans" pitchFamily="34" charset="0"/>
                <a:ea typeface="IBM Plex Sans" pitchFamily="34" charset="-122"/>
                <a:cs typeface="IBM Plex Sans" pitchFamily="34" charset="-120"/>
              </a:rPr>
              <a:t>ANEXO</a:t>
            </a:r>
            <a:endParaRPr lang="en-US" sz="1200" dirty="0"/>
          </a:p>
        </p:txBody>
      </p:sp>
      <p:sp>
        <p:nvSpPr>
          <p:cNvPr id="3" name="Text 1"/>
          <p:cNvSpPr/>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303C"/>
                </a:solidFill>
                <a:latin typeface="Source Serif 4" pitchFamily="34" charset="0"/>
                <a:ea typeface="Source Serif 4" pitchFamily="34" charset="-122"/>
                <a:cs typeface="Source Serif 4" pitchFamily="34" charset="-120"/>
              </a:rPr>
              <a:t>Matrices de correlación 2024 (Pearson y Spearman)</a:t>
            </a:r>
            <a:endParaRPr lang="en-US" sz="3200" dirty="0"/>
          </a:p>
        </p:txBody>
      </p:sp>
      <p:sp>
        <p:nvSpPr>
          <p:cNvPr id="4" name="Shape 2"/>
          <p:cNvSpPr/>
          <p:nvPr/>
        </p:nvSpPr>
        <p:spPr>
          <a:xfrm>
            <a:off x="812800" y="1803400"/>
            <a:ext cx="9525000" cy="3879850"/>
          </a:xfrm>
          <a:prstGeom prst="roundRect">
            <a:avLst>
              <a:gd name="adj" fmla="val 1964"/>
            </a:avLst>
          </a:prstGeom>
          <a:solidFill>
            <a:srgbClr val="FFFFFF"/>
          </a:solidFill>
          <a:ln/>
        </p:spPr>
      </p:sp>
      <p:pic>
        <p:nvPicPr>
          <p:cNvPr id="5" name="Image 0" descr="Matrices de correlación de Pearson y Spearman del corte 2024 por colegio">    </p:cNvPr>
          <p:cNvPicPr>
            <a:picLocks noChangeAspect="1"/>
          </p:cNvPicPr>
          <p:nvPr/>
        </p:nvPicPr>
        <p:blipFill>
          <a:blip r:embed="rId1"/>
          <a:srcRect l="-26" r="-26" t="0" b="0"/>
          <a:stretch/>
        </p:blipFill>
        <p:spPr>
          <a:xfrm>
            <a:off x="812800" y="1803400"/>
            <a:ext cx="9525000" cy="3879850"/>
          </a:xfrm>
          <a:prstGeom prst="roundRect">
            <a:avLst>
              <a:gd name="adj" fmla="val 1964"/>
            </a:avLst>
          </a:prstGeom>
        </p:spPr>
      </p:pic>
      <p:sp>
        <p:nvSpPr>
          <p:cNvPr id="6" name="Text 3"/>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La Cisterna · PME 2024 · Grupo 03 · C1</a:t>
            </a:r>
            <a:endParaRPr lang="en-US" sz="1200" dirty="0"/>
          </a:p>
        </p:txBody>
      </p:sp>
      <p:sp>
        <p:nvSpPr>
          <p:cNvPr id="7" name="Text 4"/>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270"/>
                </a:solidFill>
                <a:latin typeface="IBM Plex Sans" pitchFamily="34" charset="0"/>
                <a:ea typeface="IBM Plex Sans" pitchFamily="34" charset="-122"/>
                <a:cs typeface="IBM Plex Sans" pitchFamily="34" charset="-120"/>
              </a:rPr>
              <a:t>19 / 19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Cisterna: PME 2024 y respaldo documental (C1)</dc:title>
  <dc:subject>PptxGenJS Presentation</dc:subject>
  <dc:creator>PptxGenJS</dc:creator>
  <cp:lastModifiedBy>PptxGenJS</cp:lastModifiedBy>
  <cp:revision>1</cp:revision>
  <dcterms:created xsi:type="dcterms:W3CDTF">2026-09-28T18:56:34Z</dcterms:created>
  <dcterms:modified xsi:type="dcterms:W3CDTF">2026-09-28T18:56:34Z</dcterms:modified>
</cp:coreProperties>
</file>