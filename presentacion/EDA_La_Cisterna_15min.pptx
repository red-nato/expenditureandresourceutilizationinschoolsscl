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536cdfe7b164b02" /><Relationship Type="http://schemas.openxmlformats.org/officeDocument/2006/relationships/extended-properties" Target="/docProps/app.xml" Id="Rfa29151536b148b0" /><Relationship Type="http://schemas.openxmlformats.org/officeDocument/2006/relationships/officeDocument" Target="/ppt/presentation.xml" Id="R0714706177794397" /></Relationships>
</file>

<file path=ppt/presentation.xml><?xml version="1.0" encoding="utf-8"?>
<p:presentation xmlns:p="http://schemas.openxmlformats.org/presentationml/2006/main">
  <p:sldMasterIdLst>
    <p:sldMasterId xmlns:r="http://schemas.openxmlformats.org/officeDocument/2006/relationships" id="2147483648" r:id="R06be84c73d4941a8"/>
  </p:sldMasterIdLst>
  <p:notesMasterIdLst>
    <p:notesMasterId xmlns:r="http://schemas.openxmlformats.org/officeDocument/2006/relationships" r:id="Rc1790ccff81a40eb"/>
  </p:notesMasterIdLst>
  <p:sldIdLst>
    <p:sldId xmlns:r="http://schemas.openxmlformats.org/officeDocument/2006/relationships" id="256" r:id="R0d5ae50f0ccb4b7e"/>
    <p:sldId xmlns:r="http://schemas.openxmlformats.org/officeDocument/2006/relationships" id="257" r:id="R575db5e0cbcd460c"/>
    <p:sldId xmlns:r="http://schemas.openxmlformats.org/officeDocument/2006/relationships" id="258" r:id="R7d2a36059f704ecb"/>
    <p:sldId xmlns:r="http://schemas.openxmlformats.org/officeDocument/2006/relationships" id="259" r:id="Ra920d18a8aff425a"/>
    <p:sldId xmlns:r="http://schemas.openxmlformats.org/officeDocument/2006/relationships" id="260" r:id="R7b7b8e50ff9e446e"/>
    <p:sldId xmlns:r="http://schemas.openxmlformats.org/officeDocument/2006/relationships" id="261" r:id="R0462d2e9d16f4c43"/>
    <p:sldId xmlns:r="http://schemas.openxmlformats.org/officeDocument/2006/relationships" id="262" r:id="Reec2828fae6b4cad"/>
    <p:sldId xmlns:r="http://schemas.openxmlformats.org/officeDocument/2006/relationships" id="263" r:id="R14f18119d55545cb"/>
    <p:sldId xmlns:r="http://schemas.openxmlformats.org/officeDocument/2006/relationships" id="264" r:id="R39dfed9eefd54840"/>
    <p:sldId xmlns:r="http://schemas.openxmlformats.org/officeDocument/2006/relationships" id="265" r:id="Re6557dcac4ec4556"/>
    <p:sldId xmlns:r="http://schemas.openxmlformats.org/officeDocument/2006/relationships" id="266" r:id="R2d6d0b8617114f6b"/>
    <p:sldId xmlns:r="http://schemas.openxmlformats.org/officeDocument/2006/relationships" id="267" r:id="Raa5aba53bc334f42"/>
    <p:sldId xmlns:r="http://schemas.openxmlformats.org/officeDocument/2006/relationships" id="268" r:id="R596c2103affa45f4"/>
    <p:sldId xmlns:r="http://schemas.openxmlformats.org/officeDocument/2006/relationships" id="269" r:id="Ra2cc747d5b824f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1f43416ec84fa5" /><Relationship Type="http://schemas.openxmlformats.org/officeDocument/2006/relationships/slideMaster" Target="/ppt/slideMasters/slideMaster1.xml" Id="R06be84c73d4941a8" /><Relationship Type="http://schemas.openxmlformats.org/officeDocument/2006/relationships/notesMaster" Target="/ppt/notesMasters/notesMaster1.xml" Id="Rc1790ccff81a40eb" /><Relationship Type="http://schemas.openxmlformats.org/officeDocument/2006/relationships/presProps" Target="/ppt/presProps.xml" Id="R6c19533e755a47a0" /><Relationship Type="http://schemas.openxmlformats.org/officeDocument/2006/relationships/tableStyles" Target="/ppt/tableStyles.xml" Id="R7ff0bac52aca4d38" /><Relationship Type="http://schemas.openxmlformats.org/officeDocument/2006/relationships/slide" Target="/ppt/slides/slide1.xml" Id="R0d5ae50f0ccb4b7e" /><Relationship Type="http://schemas.openxmlformats.org/officeDocument/2006/relationships/slide" Target="/ppt/slides/slide2.xml" Id="R575db5e0cbcd460c" /><Relationship Type="http://schemas.openxmlformats.org/officeDocument/2006/relationships/slide" Target="/ppt/slides/slide3.xml" Id="R7d2a36059f704ecb" /><Relationship Type="http://schemas.openxmlformats.org/officeDocument/2006/relationships/slide" Target="/ppt/slides/slide4.xml" Id="Ra920d18a8aff425a" /><Relationship Type="http://schemas.openxmlformats.org/officeDocument/2006/relationships/slide" Target="/ppt/slides/slide5.xml" Id="R7b7b8e50ff9e446e" /><Relationship Type="http://schemas.openxmlformats.org/officeDocument/2006/relationships/slide" Target="/ppt/slides/slide6.xml" Id="R0462d2e9d16f4c43" /><Relationship Type="http://schemas.openxmlformats.org/officeDocument/2006/relationships/slide" Target="/ppt/slides/slide7.xml" Id="Reec2828fae6b4cad" /><Relationship Type="http://schemas.openxmlformats.org/officeDocument/2006/relationships/slide" Target="/ppt/slides/slide8.xml" Id="R14f18119d55545cb" /><Relationship Type="http://schemas.openxmlformats.org/officeDocument/2006/relationships/slide" Target="/ppt/slides/slide9.xml" Id="R39dfed9eefd54840" /><Relationship Type="http://schemas.openxmlformats.org/officeDocument/2006/relationships/slide" Target="/ppt/slides/slide10.xml" Id="Re6557dcac4ec4556" /><Relationship Type="http://schemas.openxmlformats.org/officeDocument/2006/relationships/slide" Target="/ppt/slides/slide11.xml" Id="R2d6d0b8617114f6b" /><Relationship Type="http://schemas.openxmlformats.org/officeDocument/2006/relationships/slide" Target="/ppt/slides/slide12.xml" Id="Raa5aba53bc334f42" /><Relationship Type="http://schemas.openxmlformats.org/officeDocument/2006/relationships/slide" Target="/ppt/slides/slide13.xml" Id="R596c2103affa45f4" /><Relationship Type="http://schemas.openxmlformats.org/officeDocument/2006/relationships/slide" Target="/ppt/slides/slide14.xml" Id="Ra2cc747d5b824f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c318a2a7bf42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cd7dddaae04a1e" /><Relationship Type="http://schemas.openxmlformats.org/officeDocument/2006/relationships/notesMaster" Target="/ppt/notesMasters/notesMaster1.xml" Id="R4892d2906f064d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98ddc37a0614452" /><Relationship Type="http://schemas.openxmlformats.org/officeDocument/2006/relationships/notesMaster" Target="/ppt/notesMasters/notesMaster1.xml" Id="R68dfe68e630846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6deadb255740e3" /><Relationship Type="http://schemas.openxmlformats.org/officeDocument/2006/relationships/notesMaster" Target="/ppt/notesMasters/notesMaster1.xml" Id="R263123d4f64144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4f7320e34b4b81" /><Relationship Type="http://schemas.openxmlformats.org/officeDocument/2006/relationships/notesMaster" Target="/ppt/notesMasters/notesMaster1.xml" Id="R87bdfb2b2b714c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ef67bbbe7f4fad" /><Relationship Type="http://schemas.openxmlformats.org/officeDocument/2006/relationships/notesMaster" Target="/ppt/notesMasters/notesMaster1.xml" Id="R6ccb61a233be487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1fc010188814947" /><Relationship Type="http://schemas.openxmlformats.org/officeDocument/2006/relationships/notesMaster" Target="/ppt/notesMasters/notesMaster1.xml" Id="R4bbf3f924d1a45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73ab80d2ee4723" /><Relationship Type="http://schemas.openxmlformats.org/officeDocument/2006/relationships/notesMaster" Target="/ppt/notesMasters/notesMaster1.xml" Id="R0caa1e3540044eb1" /></Relationships>
</file>

<file path=ppt/notesSlides/_rels/notesSlide8.xml.rels>&#65279;<?xml version="1.0" encoding="utf-8"?><Relationships xmlns="http://schemas.openxmlformats.org/package/2006/relationships"><Relationship Type="http://schemas.openxmlformats.org/officeDocument/2006/relationships/slide" Target="/ppt/slides/slide8.xml" Id="R76d40b58773f498a" /><Relationship Type="http://schemas.openxmlformats.org/officeDocument/2006/relationships/notesMaster" Target="/ppt/notesMasters/notesMaster1.xml" Id="R0f558b5e848048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6fc545dac7d74316" /><Relationship Type="http://schemas.openxmlformats.org/officeDocument/2006/relationships/notesMaster" Target="/ppt/notesMasters/notesMaster1.xml" Id="R910a38d520ed4dc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c0bf87738974478" /><Relationship Type="http://schemas.openxmlformats.org/officeDocument/2006/relationships/notesMaster" Target="/ppt/notesMasters/notesMaster1.xml" Id="R9d7609a8b3f7495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51fc4b4d79a4f04" /><Relationship Type="http://schemas.openxmlformats.org/officeDocument/2006/relationships/notesMaster" Target="/ppt/notesMasters/notesMaster1.xml" Id="Rc27f910000e0406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43f24981f3a44dd" /><Relationship Type="http://schemas.openxmlformats.org/officeDocument/2006/relationships/notesMaster" Target="/ppt/notesMasters/notesMaster1.xml" Id="R6a6ebf3d85ba455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cfbea66f0e4be1" /><Relationship Type="http://schemas.openxmlformats.org/officeDocument/2006/relationships/notesMaster" Target="/ppt/notesMasters/notesMaster1.xml" Id="R418808e80fff405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25392e16f71445e" /><Relationship Type="http://schemas.openxmlformats.org/officeDocument/2006/relationships/notesMaster" Target="/ppt/notesMasters/notesMaster1.xml" Id="Rd4cd64b6ec324d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Apertura (30 s). Pregunta: qué podemos comprobar sobre el uso de recursos públicos. El avance organiza registros y vacíos; no calcula malgasto. Fuente de cifras: /Users/red/Code/Auditoría Colegios - BI/datos/procesados/la_cisterna/metricas.json y Analisis_La_Cisterna_2022_2025.md.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 La investigación completa considera colegios públicos y particulares subvencionados. La nueva recolección de OC se concentra en ocho públicos. El resto permanece como contexto en el censo y otras bases. Fuente de cifras: /Users/red/Code/Auditoría Colegios - BI/datos/procesados/la_cisterna/metricas.json y Analisis_La_Cisterna_2022_2025.md.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 Censo anual 60, 60, 59, 59. Ocho establecimientos públicos pasaron de dependencia municipal/DAEM a SLEP Santa Rosa en 2025. RBD 9830 aparece solo en 2022–2023. No usar 59 como denominador para todo el periodo. Fuente: Directorio Oficial Mineduc 2022–2025; Fuente de cifras: /Users/red/Code/Auditoría Colegios - BI/datos/procesados/la_cisterna/metricas.json y Analisis_La_Cisterna_2022_2025.md.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 15 s). RBD es el identificador del colegio. OC es una solicitud formal de compra, no pago. La acción PME es una medida de mejora registrada por la comunidad educativa, con responsables, fechas, recursos y medios de verificación; la base de implementación registra avance y ajustes. La fila no es una licitación ni una factura. PAS es proceso sancionatorio; la base no trae materia de cargos. SIMCE e IDPS son contexto educativo. Fuentes: https://liderazgoeducativo.mineduc.cl/bases-de-datos-pme/ ; https://www.chilecompra.cl/terminos-y-condiciones-de-uso/ ; https://www.agenciaeducacion.cl/evaluar/otros-indicadores-de-calidad/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 15 s). Censamos RBD por año. Cargamos Directorio, PAS, PME, SIMCE, IDPS y OC. Perfilamos unidades y llaves. Normalizamos RBD, año, grado y monto sin reemplazar vacíos críticos por cero. Deduplicamos OC por codigoOC; agregamos antes de unir. Validamos conteos y llaves. El panel tiene 238 filas RBD–año. Fuentes: script analizar_la_cisterna.py, controles_etapas.csv, perfil_fuentes.csv.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 15 s). Nuestros KPI actuales muestran cuánto podemos observar, no eficiencia del gasto. 637/1034 órdenes con RBD único =61,6%. Presencia PME 2024: 8/8 públicos y 38/51 particulares; aplicabilidad exacta de los 13 sin fila aún por verificar. Acciones completas declaradas: 469/767=61,1%. No mezclar denominadores. Fuente de cifras: /Users/red/Code/Auditoría Colegios - BI/datos/procesados/la_cisterna/metricas.json y Analisis_La_Cisterna_2022_2025.md.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 15 s). Hay 1.034 OC seleccionadas tras deduplicar por codigoOC. 637 mencionan un RBD único, 397 quedan sin atribución escolar. 149 figuran como Trato Directo (14,4%); la modalidad puede ser legal. El archivo municipal del segundo semestre 2022 no incluye Compra Ágil y en 2025 seis OC del SLEP se atribuyen a dos colegios. Una OC aceptada o con recepción conforme no prueba pago. Fuente: oc_cobertura_anual.csv; ChileCompra https://datos-abiertos.chilecompra.cl/descargas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 15 s). Una acción PME es una medida de mejora planificada y reportada por un establecimiento en su Plan de Mejoramiento Educativo. Nuestra fila de Implementación 2024 conserva dimensión, estimación total y tramo de avance, pero no la descripción íntegra: no evaluamos pertinencia individual. 767 acciones, 46 RBD; 469 completas declaradas; 149 con estimación cero; suma estimada $9.009.408.718. Mineduc advierte que montos son estimaciones y el registro no equivale a aceptación del gasto. Fuente: https://liderazgoeducativo.mineduc.cl/bases-de-datos-pme/ ; Fuente de cifras: /Users/red/Code/Auditoría Colegios - BI/datos/procesados/la_cisterna/metricas.json y Analisis_La_Cisterna_2022_2025.md.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 15 s). La Superintendencia publica 110 PAS de 39 RBD y 47 multas en primera instancia. No trae materia de cargos y una multa no equivale al monto de gasto objetado. Agencia: 236 filas SIMCE y 936 IDPS de 2023–2025. Cobertura y versiones cambian por grado; un puntaje ausente no es cero. Fuente: https://www.supereduc.cl/pas/ ; https://informacionestadistica.agenciaeducacion.cl/ ; Fuente de cifras: /Users/red/Code/Auditoría Colegios - BI/datos/procesados/la_cisterna/metricas.json y Analisis_La_Cisterna_2022_2025.md.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 Una estimación PME no es una OC; una OC no es pago; recepción y uso son otros eslabones. Faltan rendición por RBD–año–subvención–cuenta, factura/pago, recepción/beneficiario y expedientes PAS. No completar vacíos con cero. Una correlación entre monto y SIMCE posterior no establece efecto: faltan exposición, cohorte, resultados pertinentes y comparador creíble. Fuentes: Analisis_La_Cisterna_2022_2025.md y Marco_evaluacion_gasto.md.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 15 s). Son KPI de diseño, no calculados. Cobertura de rendición requiere estados por RBD, ejercicio y subvención. Tasa de gasto rechazado firme usa monto firme dividido por gasto rendido del mismo universo. Trazabilidad completa cuenta operaciones con propósito, OC/contrato, factura, pago, recepción y uso vinculados. Costo por entrega útil requiere unidades efectivamente usadas y comparador. Fuentes: Plan_investigacion_La_Cisterna.md y Solicitudes_documentales_La_Cisterna.md.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 15 s). Aún no se clasificó ninguna OC ni acción PME. La unidad futura es una operación o partida. Primero puede quedar sin evidencia suficiente. Cuatro categorías propuestas: legítimo y bien utilizado; legítimo pero aparentemente ineficiente; difícil de justificar respecto del objetivo; potencialmente irregular o improcedente. Se necesita propósito, legalidad, pago, entrega, uso, costo comparable y estado administrativo. SIMCE posterior no decide categoría. Fuente: Marco_evaluacion_gasto.md y GUIA_UNIFICADA_LA_CISTERNA.md.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min 15 s). El EDA identificó un censo y registros replicables, además de brechas de trazabilidad. El siguiente paso es obtener rendiciones agregadas, materia y resoluciones de PAS; luego facturas, pagos y recepción de casos seleccionados, incluidos algunos sin señal para controlar falsas alarmas. Las solicitudes están redactadas, no enviadas. Pregunta al profesor: qué umbral documental consideraría suficiente para clasificar una operación. Fuentes: Analisis_La_Cisterna_2022_2025.md y Solicitudes_documentales_La_Cisterna.md.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de respaldo para preguntas. Directorio Oficial Mineduc: https://datosabiertos.mineduc.cl/directorio-de-establecimientos-educacionales/ ; PME: https://liderazgoeducativo.mineduc.cl/bases-de-datos-pme/ ; PAS: https://www.supereduc.cl/pas/ ; SIMCE/IDPS: https://informacionestadistica.agenciaeducacion.cl/ ; ChileCompra: https://datos-abiertos.chilecompra.cl/descargas . Cálculos locales: scripts/analizar_la_cisterna.py y datos/procesados/la_cisterna/metricas.json.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f4ccd3fab5484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aad923c6e248f8" /><Relationship Type="http://schemas.openxmlformats.org/officeDocument/2006/relationships/slideLayout" Target="/ppt/slideLayouts/slideLayout1.xml" Id="Rdf79591072a143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79591072a143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440ad5206144bbe" /><Relationship Type="http://schemas.openxmlformats.org/officeDocument/2006/relationships/notesSlide" Target="/ppt/notesSlides/notesSlide1.xml" Id="R14a035b8ae4341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9e45d488ca749f3" /><Relationship Type="http://schemas.openxmlformats.org/officeDocument/2006/relationships/notesSlide" Target="/ppt/notesSlides/notesSlide2.xml" Id="R111c80aafb2049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ef73bda5e2e43df" /><Relationship Type="http://schemas.openxmlformats.org/officeDocument/2006/relationships/chart" Target="/ppt/slides/charts/chart1.xml" Id="R41195443d5fd48de" /><Relationship Type="http://schemas.openxmlformats.org/officeDocument/2006/relationships/notesSlide" Target="/ppt/notesSlides/notesSlide3.xml" Id="R9c63f13309674cf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e27dcc4c27e4ddb" /><Relationship Type="http://schemas.openxmlformats.org/officeDocument/2006/relationships/notesSlide" Target="/ppt/notesSlides/notesSlide4.xml" Id="Re6dc93821a1547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b77734f01c14f9c" /><Relationship Type="http://schemas.openxmlformats.org/officeDocument/2006/relationships/notesSlide" Target="/ppt/notesSlides/notesSlide5.xml" Id="R07589a1c919d44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899a0cf0a10479e" /><Relationship Type="http://schemas.openxmlformats.org/officeDocument/2006/relationships/notesSlide" Target="/ppt/notesSlides/notesSlide6.xml" Id="R85627e3e0a0946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d43c85866524464" /><Relationship Type="http://schemas.openxmlformats.org/officeDocument/2006/relationships/chart" Target="/ppt/slides/charts/chart2.xml" Id="R5a3c8b8007f545ea" /><Relationship Type="http://schemas.openxmlformats.org/officeDocument/2006/relationships/notesSlide" Target="/ppt/notesSlides/notesSlide7.xml" Id="Rfe398774f80147f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679d6471d614754" /><Relationship Type="http://schemas.openxmlformats.org/officeDocument/2006/relationships/notesSlide" Target="/ppt/notesSlides/notesSlide8.xml" Id="R3a20f7bdddfd493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1f50f738c2f4821" /><Relationship Type="http://schemas.openxmlformats.org/officeDocument/2006/relationships/notesSlide" Target="/ppt/notesSlides/notesSlide9.xml" Id="R81df57f9a4c7408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9baed48bc5f40c0" /><Relationship Type="http://schemas.openxmlformats.org/officeDocument/2006/relationships/notesSlide" Target="/ppt/notesSlides/notesSlide10.xml" Id="R17fc2bc6f7594d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5051fa21bc24eed" /><Relationship Type="http://schemas.openxmlformats.org/officeDocument/2006/relationships/notesSlide" Target="/ppt/notesSlides/notesSlide11.xml" Id="Rfaba269537a14b2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2fe2b229a8d4d28" /><Relationship Type="http://schemas.openxmlformats.org/officeDocument/2006/relationships/notesSlide" Target="/ppt/notesSlides/notesSlide12.xml" Id="R0dbf2e378d9d427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fdfd902f86c4f5b" /><Relationship Type="http://schemas.openxmlformats.org/officeDocument/2006/relationships/notesSlide" Target="/ppt/notesSlides/notesSlide13.xml" Id="Rb261fc02bd074b5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7d7c8439f2d480a" /><Relationship Type="http://schemas.openxmlformats.org/officeDocument/2006/relationships/notesSlide" Target="/ppt/notesSlides/notesSlide14.xml" Id="Ra6a18e9850ab41e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Establecimientos</c:v>
          </c:tx>
          <c:spPr>
            <a:solidFill xmlns:a="http://schemas.openxmlformats.org/drawingml/2006/main">
              <a:srgbClr val="126D75"/>
            </a:solidFill>
          </c:spPr>
          <c:cat>
            <c:numRef>
              <c:f>'Chart Data'!$A$2:$A$5</c:f>
              <c:numCache>
                <c:formatCode>General</c:formatCode>
                <c:ptCount val="4"/>
                <c:pt idx="0">
                  <c:v>2022</c:v>
                </c:pt>
                <c:pt idx="1">
                  <c:v>2023</c:v>
                </c:pt>
                <c:pt idx="2">
                  <c:v>2024</c:v>
                </c:pt>
                <c:pt idx="3">
                  <c:v>2025</c:v>
                </c:pt>
              </c:numCache>
            </c:numRef>
          </c:cat>
          <c:val>
            <c:numRef>
              <c:f>'Chart Data'!$B$2:$B$5</c:f>
              <c:numCache>
                <c:formatCode>0</c:formatCode>
                <c:ptCount val="4"/>
                <c:pt idx="0">
                  <c:v>60</c:v>
                </c:pt>
                <c:pt idx="1">
                  <c:v>60</c:v>
                </c:pt>
                <c:pt idx="2">
                  <c:v>59</c:v>
                </c:pt>
                <c:pt idx="3">
                  <c:v>59</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7394A"/>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max val="70"/>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Órdenes seleccionadas</c:v>
          </c:tx>
          <c:spPr>
            <a:solidFill xmlns:a="http://schemas.openxmlformats.org/drawingml/2006/main">
              <a:srgbClr val="126D75"/>
            </a:solidFill>
          </c:spPr>
          <c:cat>
            <c:strRef>
              <c:f>'Chart Data'!$A$2:$A$3</c:f>
              <c:strCache>
                <c:ptCount val="2"/>
                <c:pt idx="0">
                  <c:v>RBD único</c:v>
                </c:pt>
                <c:pt idx="1">
                  <c:v>Sin RBD único</c:v>
                </c:pt>
              </c:strCache>
            </c:strRef>
          </c:cat>
          <c:val>
            <c:numRef>
              <c:f>'Chart Data'!$B$2:$B$3</c:f>
              <c:numCache>
                <c:formatCode>General</c:formatCode>
                <c:ptCount val="2"/>
                <c:pt idx="0">
                  <c:v>637</c:v>
                </c:pt>
                <c:pt idx="1">
                  <c:v>397</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7394A"/>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94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41D6D9E-A43B-4A45-87C8-EE9E29C1603D}"/>
              </a:ext>
            </a:extLst>
          </p:cNvPr>
          <p:cNvSpPr>
            <a:spLocks xmlns:a="http://schemas.openxmlformats.org/drawingml/2006/main" noGrp="1"/>
          </p:cNvSpPr>
          <p:nvPr/>
        </p:nvSpPr>
        <p:spPr>
          <a:xfrm xmlns:a="http://schemas.openxmlformats.org/drawingml/2006/main">
            <a:off x="666750" y="4572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Recursos escolares en La Cisterna</a:t>
            </a:r>
          </a:p>
        </p:txBody>
      </p:sp>
      <p:sp>
        <p:nvSpPr>
          <p:cNvPr id="2" name="">
            <a:extLst xmlns:a="http://schemas.openxmlformats.org/drawingml/2006/main">
              <a:ext uri="{FF2B5EF4-FFF2-40B4-BE49-F238E27FC236}">
                <a16:creationId xmlns:a16="http://schemas.microsoft.com/office/drawing/2014/main" id="{446F250E-D1F1-4B21-8744-2055B8FFE1F2}"/>
              </a:ext>
            </a:extLst>
          </p:cNvPr>
          <p:cNvSpPr>
            <a:spLocks xmlns:a="http://schemas.openxmlformats.org/drawingml/2006/main" noGrp="1"/>
          </p:cNvSpPr>
          <p:nvPr/>
        </p:nvSpPr>
        <p:spPr>
          <a:xfrm xmlns:a="http://schemas.openxmlformats.org/drawingml/2006/main">
            <a:off x="704850" y="23812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75" b="0">
                <a:solidFill>
                  <a:srgbClr val="D7E8EA"/>
                </a:solidFill>
                <a:latin typeface="Arial"/>
                <a:ea typeface="Arial"/>
                <a:cs typeface="Arial"/>
              </a:defRPr>
            </a:pPr>
            <a:r>
              <a:rPr sz="2475" b="0">
                <a:solidFill>
                  <a:srgbClr val="D7E8EA"/>
                </a:solidFill>
                <a:latin typeface="Arial"/>
                <a:ea typeface="Arial"/>
                <a:cs typeface="Arial"/>
              </a:rPr>
              <a:t>EDA y trazabilidad del gasto · 2022–2025</a:t>
            </a:r>
          </a:p>
        </p:txBody>
      </p:sp>
      <p:sp>
        <p:nvSpPr>
          <p:cNvPr id="3" name="">
            <a:extLst xmlns:a="http://schemas.openxmlformats.org/drawingml/2006/main">
              <a:ext uri="{FF2B5EF4-FFF2-40B4-BE49-F238E27FC236}">
                <a16:creationId xmlns:a16="http://schemas.microsoft.com/office/drawing/2014/main" id="{5319C87C-4FE2-4FBB-95D1-8AE72C2BD60F}"/>
              </a:ext>
            </a:extLst>
          </p:cNvPr>
          <p:cNvSpPr>
            <a:spLocks xmlns:a="http://schemas.openxmlformats.org/drawingml/2006/main" noGrp="1"/>
          </p:cNvSpPr>
          <p:nvPr/>
        </p:nvSpPr>
        <p:spPr>
          <a:xfrm xmlns:a="http://schemas.openxmlformats.org/drawingml/2006/main">
            <a:off x="704850" y="53816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Grupo 03 · Javier Alcaíno · Lucas Riquelme · Renato Varela</a:t>
            </a:r>
          </a:p>
        </p:txBody>
      </p:sp>
    </p:spTree>
    <p:extLst>
      <p:ext uri="{BB962C8B-B14F-4D97-AF65-F5344CB8AC3E}">
        <p14:creationId xmlns:p14="http://schemas.microsoft.com/office/powerpoint/2010/main" val="11367692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E014F6-E971-4FE3-8625-F964246E7241}"/>
              </a:ext>
            </a:extLst>
          </p:cNvPr>
          <p:cNvSpPr>
            <a:spLocks xmlns:a="http://schemas.openxmlformats.org/drawingml/2006/main" noGrp="1"/>
          </p:cNvSpPr>
          <p:nvPr/>
        </p:nvSpPr>
        <p:spPr>
          <a:xfrm xmlns:a="http://schemas.openxmlformats.org/drawingml/2006/main">
            <a:off x="666750" y="4572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7394A"/>
                </a:solidFill>
                <a:latin typeface="Arial"/>
                <a:ea typeface="Arial"/>
                <a:cs typeface="Arial"/>
              </a:defRPr>
            </a:pPr>
            <a:r>
              <a:rPr sz="3225" b="1">
                <a:solidFill>
                  <a:srgbClr val="17394A"/>
                </a:solidFill>
                <a:latin typeface="Arial"/>
                <a:ea typeface="Arial"/>
                <a:cs typeface="Arial"/>
              </a:rPr>
              <a:t>Pregunta y alcance</a:t>
            </a:r>
          </a:p>
        </p:txBody>
      </p:sp>
      <p:sp>
        <p:nvSpPr>
          <p:cNvPr id="2" name="">
            <a:extLst xmlns:a="http://schemas.openxmlformats.org/drawingml/2006/main">
              <a:ext uri="{FF2B5EF4-FFF2-40B4-BE49-F238E27FC236}">
                <a16:creationId xmlns:a16="http://schemas.microsoft.com/office/drawing/2014/main" id="{3DDEEFB4-2BF0-4B73-BC96-5E6A37D14C5B}"/>
              </a:ext>
            </a:extLst>
          </p:cNvPr>
          <p:cNvSpPr>
            <a:spLocks xmlns:a="http://schemas.openxmlformats.org/drawingml/2006/main" noGrp="1"/>
          </p:cNvSpPr>
          <p:nvPr/>
        </p:nvSpPr>
        <p:spPr>
          <a:xfrm xmlns:a="http://schemas.openxmlformats.org/drawingml/2006/main">
            <a:off x="685800" y="6410325"/>
            <a:ext cx="723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2666F"/>
                </a:solidFill>
                <a:latin typeface="Arial"/>
                <a:ea typeface="Arial"/>
                <a:cs typeface="Arial"/>
              </a:defRPr>
            </a:pPr>
            <a:r>
              <a:rPr sz="1200" b="0">
                <a:solidFill>
                  <a:srgbClr val="52666F"/>
                </a:solidFill>
                <a:latin typeface="Arial"/>
                <a:ea typeface="Arial"/>
                <a:cs typeface="Arial"/>
              </a:rPr>
              <a:t>EDA La Cisterna · 2022–2025</a:t>
            </a:r>
          </a:p>
        </p:txBody>
      </p:sp>
      <p:sp>
        <p:nvSpPr>
          <p:cNvPr id="3" name="">
            <a:extLst xmlns:a="http://schemas.openxmlformats.org/drawingml/2006/main">
              <a:ext uri="{FF2B5EF4-FFF2-40B4-BE49-F238E27FC236}">
                <a16:creationId xmlns:a16="http://schemas.microsoft.com/office/drawing/2014/main" id="{1469C85C-5DCA-418B-957C-36BE76771659}"/>
              </a:ext>
            </a:extLst>
          </p:cNvPr>
          <p:cNvSpPr>
            <a:spLocks xmlns:a="http://schemas.openxmlformats.org/drawingml/2006/main" noGrp="1"/>
          </p:cNvSpPr>
          <p:nvPr/>
        </p:nvSpPr>
        <p:spPr>
          <a:xfrm xmlns:a="http://schemas.openxmlformats.org/drawingml/2006/main">
            <a:off x="11144250" y="64103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66F"/>
                </a:solidFill>
                <a:latin typeface="Arial"/>
                <a:ea typeface="Arial"/>
                <a:cs typeface="Arial"/>
              </a:defRPr>
            </a:pPr>
            <a:r>
              <a:rPr sz="1200" b="0">
                <a:solidFill>
                  <a:srgbClr val="52666F"/>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3F5DBA2D-BC72-46C0-9178-D3FA93B7C3C6}"/>
              </a:ext>
            </a:extLst>
          </p:cNvPr>
          <p:cNvSpPr>
            <a:spLocks xmlns:a="http://schemas.openxmlformats.org/drawingml/2006/main" noGrp="1"/>
          </p:cNvSpPr>
          <p:nvPr/>
        </p:nvSpPr>
        <p:spPr>
          <a:xfrm xmlns:a="http://schemas.openxmlformats.org/drawingml/2006/main">
            <a:off x="762000" y="17145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233843"/>
                </a:solidFill>
                <a:latin typeface="Arial"/>
                <a:ea typeface="Arial"/>
                <a:cs typeface="Arial"/>
              </a:defRPr>
            </a:pPr>
            <a:r>
              <a:rPr sz="2700" b="1">
                <a:solidFill>
                  <a:srgbClr val="233843"/>
                </a:solidFill>
                <a:latin typeface="Arial"/>
                <a:ea typeface="Arial"/>
                <a:cs typeface="Arial"/>
              </a:rPr>
              <a:t>¿Qué se puede comprobar sobre el uso de recursos públicos destinados a los colegios de La Cisterna?</a:t>
            </a:r>
          </a:p>
        </p:txBody>
      </p:sp>
      <p:sp>
        <p:nvSpPr>
          <p:cNvPr id="5" name="">
            <a:extLst xmlns:a="http://schemas.openxmlformats.org/drawingml/2006/main">
              <a:ext uri="{FF2B5EF4-FFF2-40B4-BE49-F238E27FC236}">
                <a16:creationId xmlns:a16="http://schemas.microsoft.com/office/drawing/2014/main" id="{2A1B1D7D-A1F9-414A-87B5-5318443D32F6}"/>
              </a:ext>
            </a:extLst>
          </p:cNvPr>
          <p:cNvSpPr>
            <a:spLocks xmlns:a="http://schemas.openxmlformats.org/drawingml/2006/main" noGrp="1"/>
          </p:cNvSpPr>
          <p:nvPr/>
        </p:nvSpPr>
        <p:spPr>
          <a:xfrm xmlns:a="http://schemas.openxmlformats.org/drawingml/2006/main">
            <a:off x="762000" y="36671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233843"/>
                </a:solidFill>
                <a:latin typeface="Arial"/>
                <a:ea typeface="Arial"/>
                <a:cs typeface="Arial"/>
              </a:defRPr>
            </a:pPr>
            <a:r>
              <a:rPr sz="2100" b="0">
                <a:solidFill>
                  <a:srgbClr val="233843"/>
                </a:solidFill>
                <a:latin typeface="Arial"/>
                <a:ea typeface="Arial"/>
                <a:cs typeface="Arial"/>
              </a:rPr>
              <a:t>Estudio territorial: establecimientos públicos y particulares subvencionados, 2022–2025.</a:t>
            </a:r>
          </a:p>
        </p:txBody>
      </p:sp>
      <p:sp>
        <p:nvSpPr>
          <p:cNvPr id="6" name="">
            <a:extLst xmlns:a="http://schemas.openxmlformats.org/drawingml/2006/main">
              <a:ext uri="{FF2B5EF4-FFF2-40B4-BE49-F238E27FC236}">
                <a16:creationId xmlns:a16="http://schemas.microsoft.com/office/drawing/2014/main" id="{BC5A8587-F54A-4344-B907-3E94A29C0223}"/>
              </a:ext>
            </a:extLst>
          </p:cNvPr>
          <p:cNvSpPr>
            <a:spLocks xmlns:a="http://schemas.openxmlformats.org/drawingml/2006/main" noGrp="1"/>
          </p:cNvSpPr>
          <p:nvPr/>
        </p:nvSpPr>
        <p:spPr>
          <a:xfrm xmlns:a="http://schemas.openxmlformats.org/drawingml/2006/main">
            <a:off x="762000" y="46672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126D75"/>
                </a:solidFill>
                <a:latin typeface="Arial"/>
                <a:ea typeface="Arial"/>
                <a:cs typeface="Arial"/>
              </a:defRPr>
            </a:pPr>
            <a:r>
              <a:rPr sz="2100" b="0">
                <a:solidFill>
                  <a:srgbClr val="126D75"/>
                </a:solidFill>
                <a:latin typeface="Arial"/>
                <a:ea typeface="Arial"/>
                <a:cs typeface="Arial"/>
              </a:rPr>
              <a:t>Avance de compras: ocho colegios públicos; particulares subvencionados como contexto.</a:t>
            </a:r>
          </a:p>
        </p:txBody>
      </p:sp>
    </p:spTree>
    <p:extLst>
      <p:ext uri="{BB962C8B-B14F-4D97-AF65-F5344CB8AC3E}">
        <p14:creationId xmlns:p14="http://schemas.microsoft.com/office/powerpoint/2010/main" val="33427205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AB7A0C7-5563-440E-891E-C8329028E4FC}"/>
              </a:ext>
            </a:extLst>
          </p:cNvPr>
          <p:cNvSpPr>
            <a:spLocks xmlns:a="http://schemas.openxmlformats.org/drawingml/2006/main" noGrp="1"/>
          </p:cNvSpPr>
          <p:nvPr/>
        </p:nvSpPr>
        <p:spPr>
          <a:xfrm xmlns:a="http://schemas.openxmlformats.org/drawingml/2006/main">
            <a:off x="666750" y="4572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7394A"/>
                </a:solidFill>
                <a:latin typeface="Arial"/>
                <a:ea typeface="Arial"/>
                <a:cs typeface="Arial"/>
              </a:defRPr>
            </a:pPr>
            <a:r>
              <a:rPr sz="3225" b="1">
                <a:solidFill>
                  <a:srgbClr val="17394A"/>
                </a:solidFill>
                <a:latin typeface="Arial"/>
                <a:ea typeface="Arial"/>
                <a:cs typeface="Arial"/>
              </a:rPr>
              <a:t>Universo anual y cambio de sostenedor</a:t>
            </a:r>
          </a:p>
        </p:txBody>
      </p:sp>
      <p:sp>
        <p:nvSpPr>
          <p:cNvPr id="2" name="">
            <a:extLst xmlns:a="http://schemas.openxmlformats.org/drawingml/2006/main">
              <a:ext uri="{FF2B5EF4-FFF2-40B4-BE49-F238E27FC236}">
                <a16:creationId xmlns:a16="http://schemas.microsoft.com/office/drawing/2014/main" id="{B64AA270-BBA1-42E1-88F1-4741B3B551B6}"/>
              </a:ext>
            </a:extLst>
          </p:cNvPr>
          <p:cNvSpPr>
            <a:spLocks xmlns:a="http://schemas.openxmlformats.org/drawingml/2006/main" noGrp="1"/>
          </p:cNvSpPr>
          <p:nvPr/>
        </p:nvSpPr>
        <p:spPr>
          <a:xfrm xmlns:a="http://schemas.openxmlformats.org/drawingml/2006/main">
            <a:off x="685800" y="6410325"/>
            <a:ext cx="723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2666F"/>
                </a:solidFill>
                <a:latin typeface="Arial"/>
                <a:ea typeface="Arial"/>
                <a:cs typeface="Arial"/>
              </a:defRPr>
            </a:pPr>
            <a:r>
              <a:rPr sz="1200" b="0">
                <a:solidFill>
                  <a:srgbClr val="52666F"/>
                </a:solidFill>
                <a:latin typeface="Arial"/>
                <a:ea typeface="Arial"/>
                <a:cs typeface="Arial"/>
              </a:rPr>
              <a:t>EDA La Cisterna · 2022–2025</a:t>
            </a:r>
          </a:p>
        </p:txBody>
      </p:sp>
      <p:sp>
        <p:nvSpPr>
          <p:cNvPr id="3" name="">
            <a:extLst xmlns:a="http://schemas.openxmlformats.org/drawingml/2006/main">
              <a:ext uri="{FF2B5EF4-FFF2-40B4-BE49-F238E27FC236}">
                <a16:creationId xmlns:a16="http://schemas.microsoft.com/office/drawing/2014/main" id="{952724AD-685D-4DDF-9B08-345602B8C2B6}"/>
              </a:ext>
            </a:extLst>
          </p:cNvPr>
          <p:cNvSpPr>
            <a:spLocks xmlns:a="http://schemas.openxmlformats.org/drawingml/2006/main" noGrp="1"/>
          </p:cNvSpPr>
          <p:nvPr/>
        </p:nvSpPr>
        <p:spPr>
          <a:xfrm xmlns:a="http://schemas.openxmlformats.org/drawingml/2006/main">
            <a:off x="11144250" y="64103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66F"/>
                </a:solidFill>
                <a:latin typeface="Arial"/>
                <a:ea typeface="Arial"/>
                <a:cs typeface="Arial"/>
              </a:defRPr>
            </a:pPr>
            <a:r>
              <a:rPr sz="1200" b="0">
                <a:solidFill>
                  <a:srgbClr val="52666F"/>
                </a:solidFill>
                <a:latin typeface="Arial"/>
                <a:ea typeface="Arial"/>
                <a:cs typeface="Arial"/>
              </a:rPr>
              <a:t>3</a:t>
            </a:r>
          </a:p>
        </p:txBody>
      </p:sp>
      <p:graphicFrame>
        <p:nvGraphicFramePr>
          <p:cNvPr id="11" name="Chart"/>
          <p:cNvGraphicFramePr/>
          <p:nvPr/>
        </p:nvGraphicFramePr>
        <p:xfrm>
          <a:off xmlns:a="http://schemas.openxmlformats.org/drawingml/2006/main" x="714375" y="1905000"/>
          <a:ext xmlns:a="http://schemas.openxmlformats.org/drawingml/2006/main" cx="6858000" cy="3714750"/>
        </p:xfrm>
        <a:graphic xmlns:a="http://schemas.openxmlformats.org/drawingml/2006/main">
          <a:graphicData uri="http://schemas.openxmlformats.org/drawingml/2006/chart">
            <c:chart xmlns:r="http://schemas.openxmlformats.org/officeDocument/2006/relationships" xmlns:c="http://schemas.openxmlformats.org/drawingml/2006/chart" r:id="R41195443d5fd48de"/>
          </a:graphicData>
        </a:graphic>
      </p:graphicFrame>
      <p:sp>
        <p:nvSpPr>
          <p:cNvPr id="5" name="">
            <a:extLst xmlns:a="http://schemas.openxmlformats.org/drawingml/2006/main">
              <a:ext uri="{FF2B5EF4-FFF2-40B4-BE49-F238E27FC236}">
                <a16:creationId xmlns:a16="http://schemas.microsoft.com/office/drawing/2014/main" id="{ADBB2496-D9E4-4FA8-AFE7-295AB7189C2A}"/>
              </a:ext>
            </a:extLst>
          </p:cNvPr>
          <p:cNvSpPr>
            <a:spLocks xmlns:a="http://schemas.openxmlformats.org/drawingml/2006/main" noGrp="1"/>
          </p:cNvSpPr>
          <p:nvPr/>
        </p:nvSpPr>
        <p:spPr>
          <a:xfrm xmlns:a="http://schemas.openxmlformats.org/drawingml/2006/main">
            <a:off x="7953375" y="2305050"/>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26D75"/>
                </a:solidFill>
                <a:latin typeface="Arial"/>
                <a:ea typeface="Arial"/>
                <a:cs typeface="Arial"/>
              </a:defRPr>
            </a:pPr>
            <a:r>
              <a:rPr sz="3225" b="1">
                <a:solidFill>
                  <a:srgbClr val="126D75"/>
                </a:solidFill>
                <a:latin typeface="Arial"/>
                <a:ea typeface="Arial"/>
                <a:cs typeface="Arial"/>
              </a:rPr>
              <a:t>8 públicos</a:t>
            </a:r>
          </a:p>
        </p:txBody>
      </p:sp>
      <p:sp>
        <p:nvSpPr>
          <p:cNvPr id="6" name="">
            <a:extLst xmlns:a="http://schemas.openxmlformats.org/drawingml/2006/main">
              <a:ext uri="{FF2B5EF4-FFF2-40B4-BE49-F238E27FC236}">
                <a16:creationId xmlns:a16="http://schemas.microsoft.com/office/drawing/2014/main" id="{E3E3E9D5-93B0-4C20-8359-CB933296316A}"/>
              </a:ext>
            </a:extLst>
          </p:cNvPr>
          <p:cNvSpPr>
            <a:spLocks xmlns:a="http://schemas.openxmlformats.org/drawingml/2006/main" noGrp="1"/>
          </p:cNvSpPr>
          <p:nvPr/>
        </p:nvSpPr>
        <p:spPr>
          <a:xfrm xmlns:a="http://schemas.openxmlformats.org/drawingml/2006/main">
            <a:off x="7953375" y="3019425"/>
            <a:ext cx="3381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233843"/>
                </a:solidFill>
                <a:latin typeface="Arial"/>
                <a:ea typeface="Arial"/>
                <a:cs typeface="Arial"/>
              </a:defRPr>
            </a:pPr>
            <a:r>
              <a:rPr sz="2100" b="0">
                <a:solidFill>
                  <a:srgbClr val="233843"/>
                </a:solidFill>
                <a:latin typeface="Arial"/>
                <a:ea typeface="Arial"/>
                <a:cs typeface="Arial"/>
              </a:rPr>
              <a:t>DAEM hasta 2024</a:t>
            </a:r>
          </a:p>
          <a:p xmlns:a="http://schemas.openxmlformats.org/drawingml/2006/main">
            <a:pPr algn="l">
              <a:defRPr sz="2100" b="0">
                <a:solidFill>
                  <a:srgbClr val="233843"/>
                </a:solidFill>
                <a:latin typeface="Arial"/>
                <a:ea typeface="Arial"/>
                <a:cs typeface="Arial"/>
              </a:defRPr>
            </a:pPr>
            <a:r>
              <a:rPr sz="2100" b="0">
                <a:solidFill>
                  <a:srgbClr val="233843"/>
                </a:solidFill>
                <a:latin typeface="Arial"/>
                <a:ea typeface="Arial"/>
                <a:cs typeface="Arial"/>
              </a:rPr>
              <a:t>SLEP en 2025</a:t>
            </a:r>
          </a:p>
        </p:txBody>
      </p:sp>
      <p:sp>
        <p:nvSpPr>
          <p:cNvPr id="7" name="">
            <a:extLst xmlns:a="http://schemas.openxmlformats.org/drawingml/2006/main">
              <a:ext uri="{FF2B5EF4-FFF2-40B4-BE49-F238E27FC236}">
                <a16:creationId xmlns:a16="http://schemas.microsoft.com/office/drawing/2014/main" id="{1A5ABDFF-24AA-44CA-8314-5BCCA577FE37}"/>
              </a:ext>
            </a:extLst>
          </p:cNvPr>
          <p:cNvSpPr>
            <a:spLocks xmlns:a="http://schemas.openxmlformats.org/drawingml/2006/main" noGrp="1"/>
          </p:cNvSpPr>
          <p:nvPr/>
        </p:nvSpPr>
        <p:spPr>
          <a:xfrm xmlns:a="http://schemas.openxmlformats.org/drawingml/2006/main">
            <a:off x="7953375" y="4857750"/>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2666F"/>
                </a:solidFill>
                <a:latin typeface="Arial"/>
                <a:ea typeface="Arial"/>
                <a:cs typeface="Arial"/>
              </a:defRPr>
            </a:pPr>
            <a:r>
              <a:rPr sz="1650" b="0">
                <a:solidFill>
                  <a:srgbClr val="52666F"/>
                </a:solidFill>
                <a:latin typeface="Arial"/>
                <a:ea typeface="Arial"/>
                <a:cs typeface="Arial"/>
              </a:rPr>
              <a:t>Cada año usa su propio denominador.</a:t>
            </a:r>
          </a:p>
        </p:txBody>
      </p:sp>
    </p:spTree>
    <p:extLst>
      <p:ext uri="{BB962C8B-B14F-4D97-AF65-F5344CB8AC3E}">
        <p14:creationId xmlns:p14="http://schemas.microsoft.com/office/powerpoint/2010/main" val="6842262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6E4916E-1630-4B6C-B583-D88C21F58BB8}"/>
              </a:ext>
            </a:extLst>
          </p:cNvPr>
          <p:cNvSpPr>
            <a:spLocks xmlns:a="http://schemas.openxmlformats.org/drawingml/2006/main" noGrp="1"/>
          </p:cNvSpPr>
          <p:nvPr/>
        </p:nvSpPr>
        <p:spPr>
          <a:xfrm xmlns:a="http://schemas.openxmlformats.org/drawingml/2006/main">
            <a:off x="666750" y="4572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7394A"/>
                </a:solidFill>
                <a:latin typeface="Arial"/>
                <a:ea typeface="Arial"/>
                <a:cs typeface="Arial"/>
              </a:defRPr>
            </a:pPr>
            <a:r>
              <a:rPr sz="3225" b="1">
                <a:solidFill>
                  <a:srgbClr val="17394A"/>
                </a:solidFill>
                <a:latin typeface="Arial"/>
                <a:ea typeface="Arial"/>
                <a:cs typeface="Arial"/>
              </a:rPr>
              <a:t>Qué significa cada registro</a:t>
            </a:r>
          </a:p>
        </p:txBody>
      </p:sp>
      <p:sp>
        <p:nvSpPr>
          <p:cNvPr id="2" name="">
            <a:extLst xmlns:a="http://schemas.openxmlformats.org/drawingml/2006/main">
              <a:ext uri="{FF2B5EF4-FFF2-40B4-BE49-F238E27FC236}">
                <a16:creationId xmlns:a16="http://schemas.microsoft.com/office/drawing/2014/main" id="{B7992EC2-2165-4A26-AF30-0ECE8288ECEF}"/>
              </a:ext>
            </a:extLst>
          </p:cNvPr>
          <p:cNvSpPr>
            <a:spLocks xmlns:a="http://schemas.openxmlformats.org/drawingml/2006/main" noGrp="1"/>
          </p:cNvSpPr>
          <p:nvPr/>
        </p:nvSpPr>
        <p:spPr>
          <a:xfrm xmlns:a="http://schemas.openxmlformats.org/drawingml/2006/main">
            <a:off x="685800" y="6410325"/>
            <a:ext cx="723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2666F"/>
                </a:solidFill>
                <a:latin typeface="Arial"/>
                <a:ea typeface="Arial"/>
                <a:cs typeface="Arial"/>
              </a:defRPr>
            </a:pPr>
            <a:r>
              <a:rPr sz="1200" b="0">
                <a:solidFill>
                  <a:srgbClr val="52666F"/>
                </a:solidFill>
                <a:latin typeface="Arial"/>
                <a:ea typeface="Arial"/>
                <a:cs typeface="Arial"/>
              </a:rPr>
              <a:t>EDA La Cisterna · 2022–2025</a:t>
            </a:r>
          </a:p>
        </p:txBody>
      </p:sp>
      <p:sp>
        <p:nvSpPr>
          <p:cNvPr id="3" name="">
            <a:extLst xmlns:a="http://schemas.openxmlformats.org/drawingml/2006/main">
              <a:ext uri="{FF2B5EF4-FFF2-40B4-BE49-F238E27FC236}">
                <a16:creationId xmlns:a16="http://schemas.microsoft.com/office/drawing/2014/main" id="{D1DA6BB5-1E9A-41E5-8FD7-ADAF3EF25752}"/>
              </a:ext>
            </a:extLst>
          </p:cNvPr>
          <p:cNvSpPr>
            <a:spLocks xmlns:a="http://schemas.openxmlformats.org/drawingml/2006/main" noGrp="1"/>
          </p:cNvSpPr>
          <p:nvPr/>
        </p:nvSpPr>
        <p:spPr>
          <a:xfrm xmlns:a="http://schemas.openxmlformats.org/drawingml/2006/main">
            <a:off x="11144250" y="64103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66F"/>
                </a:solidFill>
                <a:latin typeface="Arial"/>
                <a:ea typeface="Arial"/>
                <a:cs typeface="Arial"/>
              </a:defRPr>
            </a:pPr>
            <a:r>
              <a:rPr sz="1200" b="0">
                <a:solidFill>
                  <a:srgbClr val="52666F"/>
                </a:solidFill>
                <a:latin typeface="Arial"/>
                <a:ea typeface="Arial"/>
                <a:cs typeface="Arial"/>
              </a:rPr>
              <a:t>4</a:t>
            </a:r>
          </a:p>
        </p:txBody>
      </p:sp>
      <p:sp>
        <p:nvSpPr>
          <p:cNvPr id="4" name="">
            <a:extLst xmlns:a="http://schemas.openxmlformats.org/drawingml/2006/main">
              <a:ext uri="{FF2B5EF4-FFF2-40B4-BE49-F238E27FC236}">
                <a16:creationId xmlns:a16="http://schemas.microsoft.com/office/drawing/2014/main" id="{46864914-B6B8-408D-8489-84F20AA50669}"/>
              </a:ext>
            </a:extLst>
          </p:cNvPr>
          <p:cNvSpPr>
            <a:spLocks xmlns:a="http://schemas.openxmlformats.org/drawingml/2006/main" noGrp="1"/>
          </p:cNvSpPr>
          <p:nvPr/>
        </p:nvSpPr>
        <p:spPr>
          <a:xfrm xmlns:a="http://schemas.openxmlformats.org/drawingml/2006/main">
            <a:off x="762000" y="1762125"/>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75" b="1">
                <a:solidFill>
                  <a:srgbClr val="126D75"/>
                </a:solidFill>
                <a:latin typeface="Arial"/>
                <a:ea typeface="Arial"/>
                <a:cs typeface="Arial"/>
              </a:defRPr>
            </a:pPr>
            <a:r>
              <a:rPr sz="2475" b="1">
                <a:solidFill>
                  <a:srgbClr val="126D75"/>
                </a:solidFill>
                <a:latin typeface="Arial"/>
                <a:ea typeface="Arial"/>
                <a:cs typeface="Arial"/>
              </a:rPr>
              <a:t>RBD</a:t>
            </a:r>
          </a:p>
        </p:txBody>
      </p:sp>
      <p:sp>
        <p:nvSpPr>
          <p:cNvPr id="5" name="">
            <a:extLst xmlns:a="http://schemas.openxmlformats.org/drawingml/2006/main">
              <a:ext uri="{FF2B5EF4-FFF2-40B4-BE49-F238E27FC236}">
                <a16:creationId xmlns:a16="http://schemas.microsoft.com/office/drawing/2014/main" id="{A0FE262F-9EB6-4517-9A95-400359593713}"/>
              </a:ext>
            </a:extLst>
          </p:cNvPr>
          <p:cNvSpPr>
            <a:spLocks xmlns:a="http://schemas.openxmlformats.org/drawingml/2006/main" noGrp="1"/>
          </p:cNvSpPr>
          <p:nvPr/>
        </p:nvSpPr>
        <p:spPr>
          <a:xfrm xmlns:a="http://schemas.openxmlformats.org/drawingml/2006/main">
            <a:off x="3238500" y="1819275"/>
            <a:ext cx="800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233843"/>
                </a:solidFill>
                <a:latin typeface="Arial"/>
                <a:ea typeface="Arial"/>
                <a:cs typeface="Arial"/>
              </a:defRPr>
            </a:pPr>
            <a:r>
              <a:rPr sz="2025" b="0">
                <a:solidFill>
                  <a:srgbClr val="233843"/>
                </a:solidFill>
                <a:latin typeface="Arial"/>
                <a:ea typeface="Arial"/>
                <a:cs typeface="Arial"/>
              </a:rPr>
              <a:t>Identificador de un establecimiento.</a:t>
            </a:r>
          </a:p>
        </p:txBody>
      </p:sp>
      <p:sp>
        <p:nvSpPr>
          <p:cNvPr id="6" name="">
            <a:extLst xmlns:a="http://schemas.openxmlformats.org/drawingml/2006/main">
              <a:ext uri="{FF2B5EF4-FFF2-40B4-BE49-F238E27FC236}">
                <a16:creationId xmlns:a16="http://schemas.microsoft.com/office/drawing/2014/main" id="{DE14E6B3-DDB9-49C9-A98C-5D6419A7DAB2}"/>
              </a:ext>
            </a:extLst>
          </p:cNvPr>
          <p:cNvSpPr>
            <a:spLocks xmlns:a="http://schemas.openxmlformats.org/drawingml/2006/main" noGrp="1"/>
          </p:cNvSpPr>
          <p:nvPr/>
        </p:nvSpPr>
        <p:spPr>
          <a:xfrm xmlns:a="http://schemas.openxmlformats.org/drawingml/2006/main">
            <a:off x="762000" y="2543175"/>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75" b="1">
                <a:solidFill>
                  <a:srgbClr val="126D75"/>
                </a:solidFill>
                <a:latin typeface="Arial"/>
                <a:ea typeface="Arial"/>
                <a:cs typeface="Arial"/>
              </a:defRPr>
            </a:pPr>
            <a:r>
              <a:rPr sz="2475" b="1">
                <a:solidFill>
                  <a:srgbClr val="126D75"/>
                </a:solidFill>
                <a:latin typeface="Arial"/>
                <a:ea typeface="Arial"/>
                <a:cs typeface="Arial"/>
              </a:rPr>
              <a:t>OC</a:t>
            </a:r>
          </a:p>
        </p:txBody>
      </p:sp>
      <p:sp>
        <p:nvSpPr>
          <p:cNvPr id="7" name="">
            <a:extLst xmlns:a="http://schemas.openxmlformats.org/drawingml/2006/main">
              <a:ext uri="{FF2B5EF4-FFF2-40B4-BE49-F238E27FC236}">
                <a16:creationId xmlns:a16="http://schemas.microsoft.com/office/drawing/2014/main" id="{9067DADD-6934-421D-B3FE-E1512A05B995}"/>
              </a:ext>
            </a:extLst>
          </p:cNvPr>
          <p:cNvSpPr>
            <a:spLocks xmlns:a="http://schemas.openxmlformats.org/drawingml/2006/main" noGrp="1"/>
          </p:cNvSpPr>
          <p:nvPr/>
        </p:nvSpPr>
        <p:spPr>
          <a:xfrm xmlns:a="http://schemas.openxmlformats.org/drawingml/2006/main">
            <a:off x="3238500" y="2600325"/>
            <a:ext cx="800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233843"/>
                </a:solidFill>
                <a:latin typeface="Arial"/>
                <a:ea typeface="Arial"/>
                <a:cs typeface="Arial"/>
              </a:defRPr>
            </a:pPr>
            <a:r>
              <a:rPr sz="2025" b="0">
                <a:solidFill>
                  <a:srgbClr val="233843"/>
                </a:solidFill>
                <a:latin typeface="Arial"/>
                <a:ea typeface="Arial"/>
                <a:cs typeface="Arial"/>
              </a:rPr>
              <a:t>Orden de compra; no acredita pago.</a:t>
            </a:r>
          </a:p>
        </p:txBody>
      </p:sp>
      <p:sp>
        <p:nvSpPr>
          <p:cNvPr id="8" name="">
            <a:extLst xmlns:a="http://schemas.openxmlformats.org/drawingml/2006/main">
              <a:ext uri="{FF2B5EF4-FFF2-40B4-BE49-F238E27FC236}">
                <a16:creationId xmlns:a16="http://schemas.microsoft.com/office/drawing/2014/main" id="{5F911D34-778C-4AB5-927A-54A5D6CC2C73}"/>
              </a:ext>
            </a:extLst>
          </p:cNvPr>
          <p:cNvSpPr>
            <a:spLocks xmlns:a="http://schemas.openxmlformats.org/drawingml/2006/main" noGrp="1"/>
          </p:cNvSpPr>
          <p:nvPr/>
        </p:nvSpPr>
        <p:spPr>
          <a:xfrm xmlns:a="http://schemas.openxmlformats.org/drawingml/2006/main">
            <a:off x="762000" y="3324225"/>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75" b="1">
                <a:solidFill>
                  <a:srgbClr val="126D75"/>
                </a:solidFill>
                <a:latin typeface="Arial"/>
                <a:ea typeface="Arial"/>
                <a:cs typeface="Arial"/>
              </a:defRPr>
            </a:pPr>
            <a:r>
              <a:rPr sz="2475" b="1">
                <a:solidFill>
                  <a:srgbClr val="126D75"/>
                </a:solidFill>
                <a:latin typeface="Arial"/>
                <a:ea typeface="Arial"/>
                <a:cs typeface="Arial"/>
              </a:rPr>
              <a:t>PME</a:t>
            </a:r>
          </a:p>
        </p:txBody>
      </p:sp>
      <p:sp>
        <p:nvSpPr>
          <p:cNvPr id="9" name="">
            <a:extLst xmlns:a="http://schemas.openxmlformats.org/drawingml/2006/main">
              <a:ext uri="{FF2B5EF4-FFF2-40B4-BE49-F238E27FC236}">
                <a16:creationId xmlns:a16="http://schemas.microsoft.com/office/drawing/2014/main" id="{81704F82-FF01-4E19-A62E-50F49B1DA809}"/>
              </a:ext>
            </a:extLst>
          </p:cNvPr>
          <p:cNvSpPr>
            <a:spLocks xmlns:a="http://schemas.openxmlformats.org/drawingml/2006/main" noGrp="1"/>
          </p:cNvSpPr>
          <p:nvPr/>
        </p:nvSpPr>
        <p:spPr>
          <a:xfrm xmlns:a="http://schemas.openxmlformats.org/drawingml/2006/main">
            <a:off x="3238500" y="3381375"/>
            <a:ext cx="800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233843"/>
                </a:solidFill>
                <a:latin typeface="Arial"/>
                <a:ea typeface="Arial"/>
                <a:cs typeface="Arial"/>
              </a:defRPr>
            </a:pPr>
            <a:r>
              <a:rPr sz="2025" b="0">
                <a:solidFill>
                  <a:srgbClr val="233843"/>
                </a:solidFill>
                <a:latin typeface="Arial"/>
                <a:ea typeface="Arial"/>
                <a:cs typeface="Arial"/>
              </a:rPr>
              <a:t>Acción de mejora registrada; no equivale a una compra.</a:t>
            </a:r>
          </a:p>
        </p:txBody>
      </p:sp>
      <p:sp>
        <p:nvSpPr>
          <p:cNvPr id="10" name="">
            <a:extLst xmlns:a="http://schemas.openxmlformats.org/drawingml/2006/main">
              <a:ext uri="{FF2B5EF4-FFF2-40B4-BE49-F238E27FC236}">
                <a16:creationId xmlns:a16="http://schemas.microsoft.com/office/drawing/2014/main" id="{42E93E25-740F-4945-B604-90FB1FD6E7AB}"/>
              </a:ext>
            </a:extLst>
          </p:cNvPr>
          <p:cNvSpPr>
            <a:spLocks xmlns:a="http://schemas.openxmlformats.org/drawingml/2006/main" noGrp="1"/>
          </p:cNvSpPr>
          <p:nvPr/>
        </p:nvSpPr>
        <p:spPr>
          <a:xfrm xmlns:a="http://schemas.openxmlformats.org/drawingml/2006/main">
            <a:off x="762000" y="4105275"/>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75" b="1">
                <a:solidFill>
                  <a:srgbClr val="126D75"/>
                </a:solidFill>
                <a:latin typeface="Arial"/>
                <a:ea typeface="Arial"/>
                <a:cs typeface="Arial"/>
              </a:defRPr>
            </a:pPr>
            <a:r>
              <a:rPr sz="2475" b="1">
                <a:solidFill>
                  <a:srgbClr val="126D75"/>
                </a:solidFill>
                <a:latin typeface="Arial"/>
                <a:ea typeface="Arial"/>
                <a:cs typeface="Arial"/>
              </a:rPr>
              <a:t>PAS</a:t>
            </a:r>
          </a:p>
        </p:txBody>
      </p:sp>
      <p:sp>
        <p:nvSpPr>
          <p:cNvPr id="11" name="">
            <a:extLst xmlns:a="http://schemas.openxmlformats.org/drawingml/2006/main">
              <a:ext uri="{FF2B5EF4-FFF2-40B4-BE49-F238E27FC236}">
                <a16:creationId xmlns:a16="http://schemas.microsoft.com/office/drawing/2014/main" id="{9C534132-E91A-4551-9373-1B78FC8E27CC}"/>
              </a:ext>
            </a:extLst>
          </p:cNvPr>
          <p:cNvSpPr>
            <a:spLocks xmlns:a="http://schemas.openxmlformats.org/drawingml/2006/main" noGrp="1"/>
          </p:cNvSpPr>
          <p:nvPr/>
        </p:nvSpPr>
        <p:spPr>
          <a:xfrm xmlns:a="http://schemas.openxmlformats.org/drawingml/2006/main">
            <a:off x="3238500" y="4162425"/>
            <a:ext cx="800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233843"/>
                </a:solidFill>
                <a:latin typeface="Arial"/>
                <a:ea typeface="Arial"/>
                <a:cs typeface="Arial"/>
              </a:defRPr>
            </a:pPr>
            <a:r>
              <a:rPr sz="2025" b="0">
                <a:solidFill>
                  <a:srgbClr val="233843"/>
                </a:solidFill>
                <a:latin typeface="Arial"/>
                <a:ea typeface="Arial"/>
                <a:cs typeface="Arial"/>
              </a:rPr>
              <a:t>Proceso administrativo; su materia aún no consta.</a:t>
            </a:r>
          </a:p>
        </p:txBody>
      </p:sp>
      <p:sp>
        <p:nvSpPr>
          <p:cNvPr id="12" name="">
            <a:extLst xmlns:a="http://schemas.openxmlformats.org/drawingml/2006/main">
              <a:ext uri="{FF2B5EF4-FFF2-40B4-BE49-F238E27FC236}">
                <a16:creationId xmlns:a16="http://schemas.microsoft.com/office/drawing/2014/main" id="{0782A3D7-C30D-4B7D-8429-86BB4B3A985A}"/>
              </a:ext>
            </a:extLst>
          </p:cNvPr>
          <p:cNvSpPr>
            <a:spLocks xmlns:a="http://schemas.openxmlformats.org/drawingml/2006/main" noGrp="1"/>
          </p:cNvSpPr>
          <p:nvPr/>
        </p:nvSpPr>
        <p:spPr>
          <a:xfrm xmlns:a="http://schemas.openxmlformats.org/drawingml/2006/main">
            <a:off x="762000" y="4886325"/>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126D75"/>
                </a:solidFill>
                <a:latin typeface="Arial"/>
                <a:ea typeface="Arial"/>
                <a:cs typeface="Arial"/>
              </a:defRPr>
            </a:pPr>
            <a:r>
              <a:rPr sz="2250" b="1">
                <a:solidFill>
                  <a:srgbClr val="126D75"/>
                </a:solidFill>
                <a:latin typeface="Arial"/>
                <a:ea typeface="Arial"/>
                <a:cs typeface="Arial"/>
              </a:rPr>
              <a:t>SIMCE / IDPS</a:t>
            </a:r>
          </a:p>
        </p:txBody>
      </p:sp>
      <p:sp>
        <p:nvSpPr>
          <p:cNvPr id="13" name="">
            <a:extLst xmlns:a="http://schemas.openxmlformats.org/drawingml/2006/main">
              <a:ext uri="{FF2B5EF4-FFF2-40B4-BE49-F238E27FC236}">
                <a16:creationId xmlns:a16="http://schemas.microsoft.com/office/drawing/2014/main" id="{A123FF9F-FF3B-4ADA-B8DE-7A5D496761F6}"/>
              </a:ext>
            </a:extLst>
          </p:cNvPr>
          <p:cNvSpPr>
            <a:spLocks xmlns:a="http://schemas.openxmlformats.org/drawingml/2006/main" noGrp="1"/>
          </p:cNvSpPr>
          <p:nvPr/>
        </p:nvSpPr>
        <p:spPr>
          <a:xfrm xmlns:a="http://schemas.openxmlformats.org/drawingml/2006/main">
            <a:off x="3238500" y="4943475"/>
            <a:ext cx="800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233843"/>
                </a:solidFill>
                <a:latin typeface="Arial"/>
                <a:ea typeface="Arial"/>
                <a:cs typeface="Arial"/>
              </a:defRPr>
            </a:pPr>
            <a:r>
              <a:rPr sz="2025" b="0">
                <a:solidFill>
                  <a:srgbClr val="233843"/>
                </a:solidFill>
                <a:latin typeface="Arial"/>
                <a:ea typeface="Arial"/>
                <a:cs typeface="Arial"/>
              </a:rPr>
              <a:t>Resultados y contexto por grado y año.</a:t>
            </a:r>
          </a:p>
        </p:txBody>
      </p:sp>
    </p:spTree>
    <p:extLst>
      <p:ext uri="{BB962C8B-B14F-4D97-AF65-F5344CB8AC3E}">
        <p14:creationId xmlns:p14="http://schemas.microsoft.com/office/powerpoint/2010/main" val="12258715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FFD2BD2-A99B-4B84-AFAE-D857EED2CBDA}"/>
              </a:ext>
            </a:extLst>
          </p:cNvPr>
          <p:cNvSpPr>
            <a:spLocks xmlns:a="http://schemas.openxmlformats.org/drawingml/2006/main" noGrp="1"/>
          </p:cNvSpPr>
          <p:nvPr/>
        </p:nvSpPr>
        <p:spPr>
          <a:xfrm xmlns:a="http://schemas.openxmlformats.org/drawingml/2006/main">
            <a:off x="666750" y="4572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7394A"/>
                </a:solidFill>
                <a:latin typeface="Arial"/>
                <a:ea typeface="Arial"/>
                <a:cs typeface="Arial"/>
              </a:defRPr>
            </a:pPr>
            <a:r>
              <a:rPr sz="3225" b="1">
                <a:solidFill>
                  <a:srgbClr val="17394A"/>
                </a:solidFill>
                <a:latin typeface="Arial"/>
                <a:ea typeface="Arial"/>
                <a:cs typeface="Arial"/>
              </a:rPr>
              <a:t>Cómo se hizo el EDA</a:t>
            </a:r>
          </a:p>
        </p:txBody>
      </p:sp>
      <p:sp>
        <p:nvSpPr>
          <p:cNvPr id="2" name="">
            <a:extLst xmlns:a="http://schemas.openxmlformats.org/drawingml/2006/main">
              <a:ext uri="{FF2B5EF4-FFF2-40B4-BE49-F238E27FC236}">
                <a16:creationId xmlns:a16="http://schemas.microsoft.com/office/drawing/2014/main" id="{2473B485-4DE7-4E51-9E8E-3805AF8BF4EC}"/>
              </a:ext>
            </a:extLst>
          </p:cNvPr>
          <p:cNvSpPr>
            <a:spLocks xmlns:a="http://schemas.openxmlformats.org/drawingml/2006/main" noGrp="1"/>
          </p:cNvSpPr>
          <p:nvPr/>
        </p:nvSpPr>
        <p:spPr>
          <a:xfrm xmlns:a="http://schemas.openxmlformats.org/drawingml/2006/main">
            <a:off x="685800" y="6410325"/>
            <a:ext cx="723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2666F"/>
                </a:solidFill>
                <a:latin typeface="Arial"/>
                <a:ea typeface="Arial"/>
                <a:cs typeface="Arial"/>
              </a:defRPr>
            </a:pPr>
            <a:r>
              <a:rPr sz="1200" b="0">
                <a:solidFill>
                  <a:srgbClr val="52666F"/>
                </a:solidFill>
                <a:latin typeface="Arial"/>
                <a:ea typeface="Arial"/>
                <a:cs typeface="Arial"/>
              </a:rPr>
              <a:t>EDA La Cisterna · 2022–2025</a:t>
            </a:r>
          </a:p>
        </p:txBody>
      </p:sp>
      <p:sp>
        <p:nvSpPr>
          <p:cNvPr id="3" name="">
            <a:extLst xmlns:a="http://schemas.openxmlformats.org/drawingml/2006/main">
              <a:ext uri="{FF2B5EF4-FFF2-40B4-BE49-F238E27FC236}">
                <a16:creationId xmlns:a16="http://schemas.microsoft.com/office/drawing/2014/main" id="{AED40579-2D66-4EE4-846D-25C4F6CE964A}"/>
              </a:ext>
            </a:extLst>
          </p:cNvPr>
          <p:cNvSpPr>
            <a:spLocks xmlns:a="http://schemas.openxmlformats.org/drawingml/2006/main" noGrp="1"/>
          </p:cNvSpPr>
          <p:nvPr/>
        </p:nvSpPr>
        <p:spPr>
          <a:xfrm xmlns:a="http://schemas.openxmlformats.org/drawingml/2006/main">
            <a:off x="11144250" y="64103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66F"/>
                </a:solidFill>
                <a:latin typeface="Arial"/>
                <a:ea typeface="Arial"/>
                <a:cs typeface="Arial"/>
              </a:defRPr>
            </a:pPr>
            <a:r>
              <a:rPr sz="1200" b="0">
                <a:solidFill>
                  <a:srgbClr val="52666F"/>
                </a:solidFill>
                <a:latin typeface="Arial"/>
                <a:ea typeface="Arial"/>
                <a:cs typeface="Arial"/>
              </a:rPr>
              <a:t>5</a:t>
            </a:r>
          </a:p>
        </p:txBody>
      </p:sp>
      <p:sp>
        <p:nvSpPr>
          <p:cNvPr id="4" name="">
            <a:extLst xmlns:a="http://schemas.openxmlformats.org/drawingml/2006/main">
              <a:ext uri="{FF2B5EF4-FFF2-40B4-BE49-F238E27FC236}">
                <a16:creationId xmlns:a16="http://schemas.microsoft.com/office/drawing/2014/main" id="{F7EF99F0-576C-44AF-8B78-DD87E0D41351}"/>
              </a:ext>
            </a:extLst>
          </p:cNvPr>
          <p:cNvSpPr>
            <a:spLocks xmlns:a="http://schemas.openxmlformats.org/drawingml/2006/main" noGrp="1"/>
          </p:cNvSpPr>
          <p:nvPr/>
        </p:nvSpPr>
        <p:spPr>
          <a:xfrm xmlns:a="http://schemas.openxmlformats.org/drawingml/2006/main">
            <a:off x="762000" y="16478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233843"/>
                </a:solidFill>
                <a:latin typeface="Arial"/>
                <a:ea typeface="Arial"/>
                <a:cs typeface="Arial"/>
              </a:defRPr>
            </a:pPr>
            <a:r>
              <a:rPr sz="2025" b="0">
                <a:solidFill>
                  <a:srgbClr val="233843"/>
                </a:solidFill>
                <a:latin typeface="Arial"/>
                <a:ea typeface="Arial"/>
                <a:cs typeface="Arial"/>
              </a:rPr>
              <a:t>1  Delimitar censo anual y ocho colegios públicos</a:t>
            </a:r>
          </a:p>
        </p:txBody>
      </p:sp>
      <p:sp>
        <p:nvSpPr>
          <p:cNvPr id="5" name="">
            <a:extLst xmlns:a="http://schemas.openxmlformats.org/drawingml/2006/main">
              <a:ext uri="{FF2B5EF4-FFF2-40B4-BE49-F238E27FC236}">
                <a16:creationId xmlns:a16="http://schemas.microsoft.com/office/drawing/2014/main" id="{9EA207CC-7263-4772-A8BC-971C43F86227}"/>
              </a:ext>
            </a:extLst>
          </p:cNvPr>
          <p:cNvSpPr>
            <a:spLocks xmlns:a="http://schemas.openxmlformats.org/drawingml/2006/main" noGrp="1"/>
          </p:cNvSpPr>
          <p:nvPr/>
        </p:nvSpPr>
        <p:spPr>
          <a:xfrm xmlns:a="http://schemas.openxmlformats.org/drawingml/2006/main">
            <a:off x="762000" y="23336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233843"/>
                </a:solidFill>
                <a:latin typeface="Arial"/>
                <a:ea typeface="Arial"/>
                <a:cs typeface="Arial"/>
              </a:defRPr>
            </a:pPr>
            <a:r>
              <a:rPr sz="2025" b="0">
                <a:solidFill>
                  <a:srgbClr val="233843"/>
                </a:solidFill>
                <a:latin typeface="Arial"/>
                <a:ea typeface="Arial"/>
                <a:cs typeface="Arial"/>
              </a:rPr>
              <a:t>2  Cargar fuentes y conservar procedencia</a:t>
            </a:r>
          </a:p>
        </p:txBody>
      </p:sp>
      <p:sp>
        <p:nvSpPr>
          <p:cNvPr id="6" name="">
            <a:extLst xmlns:a="http://schemas.openxmlformats.org/drawingml/2006/main">
              <a:ext uri="{FF2B5EF4-FFF2-40B4-BE49-F238E27FC236}">
                <a16:creationId xmlns:a16="http://schemas.microsoft.com/office/drawing/2014/main" id="{820D0DD6-E2E8-47DC-9D4E-E59192C9FB08}"/>
              </a:ext>
            </a:extLst>
          </p:cNvPr>
          <p:cNvSpPr>
            <a:spLocks xmlns:a="http://schemas.openxmlformats.org/drawingml/2006/main" noGrp="1"/>
          </p:cNvSpPr>
          <p:nvPr/>
        </p:nvSpPr>
        <p:spPr>
          <a:xfrm xmlns:a="http://schemas.openxmlformats.org/drawingml/2006/main">
            <a:off x="762000" y="30194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233843"/>
                </a:solidFill>
                <a:latin typeface="Arial"/>
                <a:ea typeface="Arial"/>
                <a:cs typeface="Arial"/>
              </a:defRPr>
            </a:pPr>
            <a:r>
              <a:rPr sz="2025" b="0">
                <a:solidFill>
                  <a:srgbClr val="233843"/>
                </a:solidFill>
                <a:latin typeface="Arial"/>
                <a:ea typeface="Arial"/>
                <a:cs typeface="Arial"/>
              </a:rPr>
              <a:t>3  Revisar llaves, duplicados y nulos</a:t>
            </a:r>
          </a:p>
        </p:txBody>
      </p:sp>
      <p:sp>
        <p:nvSpPr>
          <p:cNvPr id="7" name="">
            <a:extLst xmlns:a="http://schemas.openxmlformats.org/drawingml/2006/main">
              <a:ext uri="{FF2B5EF4-FFF2-40B4-BE49-F238E27FC236}">
                <a16:creationId xmlns:a16="http://schemas.microsoft.com/office/drawing/2014/main" id="{D3E51FA0-B0A4-442C-8D1F-AFD863A8696F}"/>
              </a:ext>
            </a:extLst>
          </p:cNvPr>
          <p:cNvSpPr>
            <a:spLocks xmlns:a="http://schemas.openxmlformats.org/drawingml/2006/main" noGrp="1"/>
          </p:cNvSpPr>
          <p:nvPr/>
        </p:nvSpPr>
        <p:spPr>
          <a:xfrm xmlns:a="http://schemas.openxmlformats.org/drawingml/2006/main">
            <a:off x="762000" y="37052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233843"/>
                </a:solidFill>
                <a:latin typeface="Arial"/>
                <a:ea typeface="Arial"/>
                <a:cs typeface="Arial"/>
              </a:defRPr>
            </a:pPr>
            <a:r>
              <a:rPr sz="2025" b="0">
                <a:solidFill>
                  <a:srgbClr val="233843"/>
                </a:solidFill>
                <a:latin typeface="Arial"/>
                <a:ea typeface="Arial"/>
                <a:cs typeface="Arial"/>
              </a:rPr>
              <a:t>4  Normalizar sin inventar valores ausentes</a:t>
            </a:r>
          </a:p>
        </p:txBody>
      </p:sp>
      <p:sp>
        <p:nvSpPr>
          <p:cNvPr id="8" name="">
            <a:extLst xmlns:a="http://schemas.openxmlformats.org/drawingml/2006/main">
              <a:ext uri="{FF2B5EF4-FFF2-40B4-BE49-F238E27FC236}">
                <a16:creationId xmlns:a16="http://schemas.microsoft.com/office/drawing/2014/main" id="{8C971035-F86F-4E6D-B98C-BC82CD0E4EA5}"/>
              </a:ext>
            </a:extLst>
          </p:cNvPr>
          <p:cNvSpPr>
            <a:spLocks xmlns:a="http://schemas.openxmlformats.org/drawingml/2006/main" noGrp="1"/>
          </p:cNvSpPr>
          <p:nvPr/>
        </p:nvSpPr>
        <p:spPr>
          <a:xfrm xmlns:a="http://schemas.openxmlformats.org/drawingml/2006/main">
            <a:off x="762000" y="43910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233843"/>
                </a:solidFill>
                <a:latin typeface="Arial"/>
                <a:ea typeface="Arial"/>
                <a:cs typeface="Arial"/>
              </a:defRPr>
            </a:pPr>
            <a:r>
              <a:rPr sz="2025" b="0">
                <a:solidFill>
                  <a:srgbClr val="233843"/>
                </a:solidFill>
                <a:latin typeface="Arial"/>
                <a:ea typeface="Arial"/>
                <a:cs typeface="Arial"/>
              </a:rPr>
              <a:t>5  Agregar por unidad antes de cruzar</a:t>
            </a:r>
          </a:p>
        </p:txBody>
      </p:sp>
      <p:sp>
        <p:nvSpPr>
          <p:cNvPr id="9" name="">
            <a:extLst xmlns:a="http://schemas.openxmlformats.org/drawingml/2006/main">
              <a:ext uri="{FF2B5EF4-FFF2-40B4-BE49-F238E27FC236}">
                <a16:creationId xmlns:a16="http://schemas.microsoft.com/office/drawing/2014/main" id="{F297A3BE-BF6A-4D56-9243-846345ADF896}"/>
              </a:ext>
            </a:extLst>
          </p:cNvPr>
          <p:cNvSpPr>
            <a:spLocks xmlns:a="http://schemas.openxmlformats.org/drawingml/2006/main" noGrp="1"/>
          </p:cNvSpPr>
          <p:nvPr/>
        </p:nvSpPr>
        <p:spPr>
          <a:xfrm xmlns:a="http://schemas.openxmlformats.org/drawingml/2006/main">
            <a:off x="762000" y="5076825"/>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26D75"/>
                </a:solidFill>
                <a:latin typeface="Arial"/>
                <a:ea typeface="Arial"/>
                <a:cs typeface="Arial"/>
              </a:defRPr>
            </a:pPr>
            <a:r>
              <a:rPr sz="2025" b="1">
                <a:solidFill>
                  <a:srgbClr val="126D75"/>
                </a:solidFill>
                <a:latin typeface="Arial"/>
                <a:ea typeface="Arial"/>
                <a:cs typeface="Arial"/>
              </a:rPr>
              <a:t>6  Validar 238 registros RBD–año</a:t>
            </a:r>
          </a:p>
        </p:txBody>
      </p:sp>
    </p:spTree>
    <p:extLst>
      <p:ext uri="{BB962C8B-B14F-4D97-AF65-F5344CB8AC3E}">
        <p14:creationId xmlns:p14="http://schemas.microsoft.com/office/powerpoint/2010/main" val="4934522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308AF10-7E98-4917-834B-DF4D949365A1}"/>
              </a:ext>
            </a:extLst>
          </p:cNvPr>
          <p:cNvSpPr>
            <a:spLocks xmlns:a="http://schemas.openxmlformats.org/drawingml/2006/main" noGrp="1"/>
          </p:cNvSpPr>
          <p:nvPr/>
        </p:nvSpPr>
        <p:spPr>
          <a:xfrm xmlns:a="http://schemas.openxmlformats.org/drawingml/2006/main">
            <a:off x="666750" y="4572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7394A"/>
                </a:solidFill>
                <a:latin typeface="Arial"/>
                <a:ea typeface="Arial"/>
                <a:cs typeface="Arial"/>
              </a:defRPr>
            </a:pPr>
            <a:r>
              <a:rPr sz="3225" b="1">
                <a:solidFill>
                  <a:srgbClr val="17394A"/>
                </a:solidFill>
                <a:latin typeface="Arial"/>
                <a:ea typeface="Arial"/>
                <a:cs typeface="Arial"/>
              </a:rPr>
              <a:t>KPI actuales: cobertura y trazabilidad</a:t>
            </a:r>
          </a:p>
        </p:txBody>
      </p:sp>
      <p:sp>
        <p:nvSpPr>
          <p:cNvPr id="2" name="">
            <a:extLst xmlns:a="http://schemas.openxmlformats.org/drawingml/2006/main">
              <a:ext uri="{FF2B5EF4-FFF2-40B4-BE49-F238E27FC236}">
                <a16:creationId xmlns:a16="http://schemas.microsoft.com/office/drawing/2014/main" id="{32346B1D-86E5-4197-B39B-CC32F1B0260C}"/>
              </a:ext>
            </a:extLst>
          </p:cNvPr>
          <p:cNvSpPr>
            <a:spLocks xmlns:a="http://schemas.openxmlformats.org/drawingml/2006/main" noGrp="1"/>
          </p:cNvSpPr>
          <p:nvPr/>
        </p:nvSpPr>
        <p:spPr>
          <a:xfrm xmlns:a="http://schemas.openxmlformats.org/drawingml/2006/main">
            <a:off x="685800" y="6410325"/>
            <a:ext cx="723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2666F"/>
                </a:solidFill>
                <a:latin typeface="Arial"/>
                <a:ea typeface="Arial"/>
                <a:cs typeface="Arial"/>
              </a:defRPr>
            </a:pPr>
            <a:r>
              <a:rPr sz="1200" b="0">
                <a:solidFill>
                  <a:srgbClr val="52666F"/>
                </a:solidFill>
                <a:latin typeface="Arial"/>
                <a:ea typeface="Arial"/>
                <a:cs typeface="Arial"/>
              </a:rPr>
              <a:t>EDA La Cisterna · 2022–2025</a:t>
            </a:r>
          </a:p>
        </p:txBody>
      </p:sp>
      <p:sp>
        <p:nvSpPr>
          <p:cNvPr id="3" name="">
            <a:extLst xmlns:a="http://schemas.openxmlformats.org/drawingml/2006/main">
              <a:ext uri="{FF2B5EF4-FFF2-40B4-BE49-F238E27FC236}">
                <a16:creationId xmlns:a16="http://schemas.microsoft.com/office/drawing/2014/main" id="{FCF0B4CA-DE66-43A5-91A3-35060273E6A0}"/>
              </a:ext>
            </a:extLst>
          </p:cNvPr>
          <p:cNvSpPr>
            <a:spLocks xmlns:a="http://schemas.openxmlformats.org/drawingml/2006/main" noGrp="1"/>
          </p:cNvSpPr>
          <p:nvPr/>
        </p:nvSpPr>
        <p:spPr>
          <a:xfrm xmlns:a="http://schemas.openxmlformats.org/drawingml/2006/main">
            <a:off x="11144250" y="64103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66F"/>
                </a:solidFill>
                <a:latin typeface="Arial"/>
                <a:ea typeface="Arial"/>
                <a:cs typeface="Arial"/>
              </a:defRPr>
            </a:pPr>
            <a:r>
              <a:rPr sz="1200" b="0">
                <a:solidFill>
                  <a:srgbClr val="52666F"/>
                </a:solidFill>
                <a:latin typeface="Arial"/>
                <a:ea typeface="Arial"/>
                <a:cs typeface="Arial"/>
              </a:rPr>
              <a:t>6</a:t>
            </a:r>
          </a:p>
        </p:txBody>
      </p:sp>
      <p:sp>
        <p:nvSpPr>
          <p:cNvPr id="4" name="">
            <a:extLst xmlns:a="http://schemas.openxmlformats.org/drawingml/2006/main">
              <a:ext uri="{FF2B5EF4-FFF2-40B4-BE49-F238E27FC236}">
                <a16:creationId xmlns:a16="http://schemas.microsoft.com/office/drawing/2014/main" id="{97A3D3B6-8A28-4419-B09F-9D7580B6E03E}"/>
              </a:ext>
            </a:extLst>
          </p:cNvPr>
          <p:cNvSpPr>
            <a:spLocks xmlns:a="http://schemas.openxmlformats.org/drawingml/2006/main" noGrp="1"/>
          </p:cNvSpPr>
          <p:nvPr/>
        </p:nvSpPr>
        <p:spPr>
          <a:xfrm xmlns:a="http://schemas.openxmlformats.org/drawingml/2006/main">
            <a:off x="762000" y="1771650"/>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675" b="1">
                <a:solidFill>
                  <a:srgbClr val="126D75"/>
                </a:solidFill>
                <a:latin typeface="Arial"/>
                <a:ea typeface="Arial"/>
                <a:cs typeface="Arial"/>
              </a:defRPr>
            </a:pPr>
            <a:r>
              <a:rPr sz="3675" b="1">
                <a:solidFill>
                  <a:srgbClr val="126D75"/>
                </a:solidFill>
                <a:latin typeface="Arial"/>
                <a:ea typeface="Arial"/>
                <a:cs typeface="Arial"/>
              </a:rPr>
              <a:t>61,6%</a:t>
            </a:r>
          </a:p>
        </p:txBody>
      </p:sp>
      <p:sp>
        <p:nvSpPr>
          <p:cNvPr id="5" name="">
            <a:extLst xmlns:a="http://schemas.openxmlformats.org/drawingml/2006/main">
              <a:ext uri="{FF2B5EF4-FFF2-40B4-BE49-F238E27FC236}">
                <a16:creationId xmlns:a16="http://schemas.microsoft.com/office/drawing/2014/main" id="{4C5A51D4-BC48-4F87-A55A-8DC78163E5A2}"/>
              </a:ext>
            </a:extLst>
          </p:cNvPr>
          <p:cNvSpPr>
            <a:spLocks xmlns:a="http://schemas.openxmlformats.org/drawingml/2006/main" noGrp="1"/>
          </p:cNvSpPr>
          <p:nvPr/>
        </p:nvSpPr>
        <p:spPr>
          <a:xfrm xmlns:a="http://schemas.openxmlformats.org/drawingml/2006/main">
            <a:off x="3238500" y="1828800"/>
            <a:ext cx="800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233843"/>
                </a:solidFill>
                <a:latin typeface="Arial"/>
                <a:ea typeface="Arial"/>
                <a:cs typeface="Arial"/>
              </a:defRPr>
            </a:pPr>
            <a:r>
              <a:rPr sz="2025" b="0">
                <a:solidFill>
                  <a:srgbClr val="233843"/>
                </a:solidFill>
                <a:latin typeface="Arial"/>
                <a:ea typeface="Arial"/>
                <a:cs typeface="Arial"/>
              </a:rPr>
              <a:t>OC seleccionadas atribuibles a un RBD único.</a:t>
            </a:r>
          </a:p>
        </p:txBody>
      </p:sp>
      <p:sp>
        <p:nvSpPr>
          <p:cNvPr id="6" name="">
            <a:extLst xmlns:a="http://schemas.openxmlformats.org/drawingml/2006/main">
              <a:ext uri="{FF2B5EF4-FFF2-40B4-BE49-F238E27FC236}">
                <a16:creationId xmlns:a16="http://schemas.microsoft.com/office/drawing/2014/main" id="{3F861848-925C-471F-9E0B-9911BB9960F4}"/>
              </a:ext>
            </a:extLst>
          </p:cNvPr>
          <p:cNvSpPr>
            <a:spLocks xmlns:a="http://schemas.openxmlformats.org/drawingml/2006/main" noGrp="1"/>
          </p:cNvSpPr>
          <p:nvPr/>
        </p:nvSpPr>
        <p:spPr>
          <a:xfrm xmlns:a="http://schemas.openxmlformats.org/drawingml/2006/main">
            <a:off x="762000" y="2952750"/>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675" b="1">
                <a:solidFill>
                  <a:srgbClr val="126D75"/>
                </a:solidFill>
                <a:latin typeface="Arial"/>
                <a:ea typeface="Arial"/>
                <a:cs typeface="Arial"/>
              </a:defRPr>
            </a:pPr>
            <a:r>
              <a:rPr sz="3675" b="1">
                <a:solidFill>
                  <a:srgbClr val="126D75"/>
                </a:solidFill>
                <a:latin typeface="Arial"/>
                <a:ea typeface="Arial"/>
                <a:cs typeface="Arial"/>
              </a:rPr>
              <a:t>8/8</a:t>
            </a:r>
          </a:p>
        </p:txBody>
      </p:sp>
      <p:sp>
        <p:nvSpPr>
          <p:cNvPr id="7" name="">
            <a:extLst xmlns:a="http://schemas.openxmlformats.org/drawingml/2006/main">
              <a:ext uri="{FF2B5EF4-FFF2-40B4-BE49-F238E27FC236}">
                <a16:creationId xmlns:a16="http://schemas.microsoft.com/office/drawing/2014/main" id="{C8D4671A-3A7D-49C3-AB5E-E8712FE26F4B}"/>
              </a:ext>
            </a:extLst>
          </p:cNvPr>
          <p:cNvSpPr>
            <a:spLocks xmlns:a="http://schemas.openxmlformats.org/drawingml/2006/main" noGrp="1"/>
          </p:cNvSpPr>
          <p:nvPr/>
        </p:nvSpPr>
        <p:spPr>
          <a:xfrm xmlns:a="http://schemas.openxmlformats.org/drawingml/2006/main">
            <a:off x="3238500" y="3009900"/>
            <a:ext cx="800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233843"/>
                </a:solidFill>
                <a:latin typeface="Arial"/>
                <a:ea typeface="Arial"/>
                <a:cs typeface="Arial"/>
              </a:defRPr>
            </a:pPr>
            <a:r>
              <a:rPr sz="2025" b="0">
                <a:solidFill>
                  <a:srgbClr val="233843"/>
                </a:solidFill>
                <a:latin typeface="Arial"/>
                <a:ea typeface="Arial"/>
                <a:cs typeface="Arial"/>
              </a:rPr>
              <a:t>públicos con fila PME 2024; particulares: 38/51.</a:t>
            </a:r>
          </a:p>
        </p:txBody>
      </p:sp>
      <p:sp>
        <p:nvSpPr>
          <p:cNvPr id="8" name="">
            <a:extLst xmlns:a="http://schemas.openxmlformats.org/drawingml/2006/main">
              <a:ext uri="{FF2B5EF4-FFF2-40B4-BE49-F238E27FC236}">
                <a16:creationId xmlns:a16="http://schemas.microsoft.com/office/drawing/2014/main" id="{9F52722B-A529-4120-A718-007834FE11F7}"/>
              </a:ext>
            </a:extLst>
          </p:cNvPr>
          <p:cNvSpPr>
            <a:spLocks xmlns:a="http://schemas.openxmlformats.org/drawingml/2006/main" noGrp="1"/>
          </p:cNvSpPr>
          <p:nvPr/>
        </p:nvSpPr>
        <p:spPr>
          <a:xfrm xmlns:a="http://schemas.openxmlformats.org/drawingml/2006/main">
            <a:off x="762000" y="4133850"/>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675" b="1">
                <a:solidFill>
                  <a:srgbClr val="126D75"/>
                </a:solidFill>
                <a:latin typeface="Arial"/>
                <a:ea typeface="Arial"/>
                <a:cs typeface="Arial"/>
              </a:defRPr>
            </a:pPr>
            <a:r>
              <a:rPr sz="3675" b="1">
                <a:solidFill>
                  <a:srgbClr val="126D75"/>
                </a:solidFill>
                <a:latin typeface="Arial"/>
                <a:ea typeface="Arial"/>
                <a:cs typeface="Arial"/>
              </a:rPr>
              <a:t>61,1%</a:t>
            </a:r>
          </a:p>
        </p:txBody>
      </p:sp>
      <p:sp>
        <p:nvSpPr>
          <p:cNvPr id="9" name="">
            <a:extLst xmlns:a="http://schemas.openxmlformats.org/drawingml/2006/main">
              <a:ext uri="{FF2B5EF4-FFF2-40B4-BE49-F238E27FC236}">
                <a16:creationId xmlns:a16="http://schemas.microsoft.com/office/drawing/2014/main" id="{F6BC7403-AF2A-4B35-B7BA-17070E6BC071}"/>
              </a:ext>
            </a:extLst>
          </p:cNvPr>
          <p:cNvSpPr>
            <a:spLocks xmlns:a="http://schemas.openxmlformats.org/drawingml/2006/main" noGrp="1"/>
          </p:cNvSpPr>
          <p:nvPr/>
        </p:nvSpPr>
        <p:spPr>
          <a:xfrm xmlns:a="http://schemas.openxmlformats.org/drawingml/2006/main">
            <a:off x="3238500" y="4191000"/>
            <a:ext cx="800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233843"/>
                </a:solidFill>
                <a:latin typeface="Arial"/>
                <a:ea typeface="Arial"/>
                <a:cs typeface="Arial"/>
              </a:defRPr>
            </a:pPr>
            <a:r>
              <a:rPr sz="2025" b="0">
                <a:solidFill>
                  <a:srgbClr val="233843"/>
                </a:solidFill>
                <a:latin typeface="Arial"/>
                <a:ea typeface="Arial"/>
                <a:cs typeface="Arial"/>
              </a:rPr>
              <a:t>acciones PME declaradas completas.</a:t>
            </a:r>
          </a:p>
        </p:txBody>
      </p:sp>
      <p:sp>
        <p:nvSpPr>
          <p:cNvPr id="10" name="">
            <a:extLst xmlns:a="http://schemas.openxmlformats.org/drawingml/2006/main">
              <a:ext uri="{FF2B5EF4-FFF2-40B4-BE49-F238E27FC236}">
                <a16:creationId xmlns:a16="http://schemas.microsoft.com/office/drawing/2014/main" id="{F5FB27CB-EC93-4CCF-B2EC-BE789C7F202A}"/>
              </a:ext>
            </a:extLst>
          </p:cNvPr>
          <p:cNvSpPr>
            <a:spLocks xmlns:a="http://schemas.openxmlformats.org/drawingml/2006/main" noGrp="1"/>
          </p:cNvSpPr>
          <p:nvPr/>
        </p:nvSpPr>
        <p:spPr>
          <a:xfrm xmlns:a="http://schemas.openxmlformats.org/drawingml/2006/main">
            <a:off x="762000" y="55721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2666F"/>
                </a:solidFill>
                <a:latin typeface="Arial"/>
                <a:ea typeface="Arial"/>
                <a:cs typeface="Arial"/>
              </a:defRPr>
            </a:pPr>
            <a:r>
              <a:rPr sz="1650" b="0">
                <a:solidFill>
                  <a:srgbClr val="52666F"/>
                </a:solidFill>
                <a:latin typeface="Arial"/>
                <a:ea typeface="Arial"/>
                <a:cs typeface="Arial"/>
              </a:rPr>
              <a:t>Estos KPI miden registros disponibles y avance declarado.</a:t>
            </a:r>
          </a:p>
        </p:txBody>
      </p:sp>
    </p:spTree>
    <p:extLst>
      <p:ext uri="{BB962C8B-B14F-4D97-AF65-F5344CB8AC3E}">
        <p14:creationId xmlns:p14="http://schemas.microsoft.com/office/powerpoint/2010/main" val="17341827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18F894-EC25-406D-A21E-8C8EFCB83793}"/>
              </a:ext>
            </a:extLst>
          </p:cNvPr>
          <p:cNvSpPr>
            <a:spLocks xmlns:a="http://schemas.openxmlformats.org/drawingml/2006/main" noGrp="1"/>
          </p:cNvSpPr>
          <p:nvPr/>
        </p:nvSpPr>
        <p:spPr>
          <a:xfrm xmlns:a="http://schemas.openxmlformats.org/drawingml/2006/main">
            <a:off x="666750" y="4572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7394A"/>
                </a:solidFill>
                <a:latin typeface="Arial"/>
                <a:ea typeface="Arial"/>
                <a:cs typeface="Arial"/>
              </a:defRPr>
            </a:pPr>
            <a:r>
              <a:rPr sz="3225" b="1">
                <a:solidFill>
                  <a:srgbClr val="17394A"/>
                </a:solidFill>
                <a:latin typeface="Arial"/>
                <a:ea typeface="Arial"/>
                <a:cs typeface="Arial"/>
              </a:rPr>
              <a:t>Compras públicas seleccionadas</a:t>
            </a:r>
          </a:p>
        </p:txBody>
      </p:sp>
      <p:sp>
        <p:nvSpPr>
          <p:cNvPr id="2" name="">
            <a:extLst xmlns:a="http://schemas.openxmlformats.org/drawingml/2006/main">
              <a:ext uri="{FF2B5EF4-FFF2-40B4-BE49-F238E27FC236}">
                <a16:creationId xmlns:a16="http://schemas.microsoft.com/office/drawing/2014/main" id="{32E7D691-277D-4B3E-B885-72797B35E9D8}"/>
              </a:ext>
            </a:extLst>
          </p:cNvPr>
          <p:cNvSpPr>
            <a:spLocks xmlns:a="http://schemas.openxmlformats.org/drawingml/2006/main" noGrp="1"/>
          </p:cNvSpPr>
          <p:nvPr/>
        </p:nvSpPr>
        <p:spPr>
          <a:xfrm xmlns:a="http://schemas.openxmlformats.org/drawingml/2006/main">
            <a:off x="685800" y="6410325"/>
            <a:ext cx="723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2666F"/>
                </a:solidFill>
                <a:latin typeface="Arial"/>
                <a:ea typeface="Arial"/>
                <a:cs typeface="Arial"/>
              </a:defRPr>
            </a:pPr>
            <a:r>
              <a:rPr sz="1200" b="0">
                <a:solidFill>
                  <a:srgbClr val="52666F"/>
                </a:solidFill>
                <a:latin typeface="Arial"/>
                <a:ea typeface="Arial"/>
                <a:cs typeface="Arial"/>
              </a:rPr>
              <a:t>EDA La Cisterna · 2022–2025</a:t>
            </a:r>
          </a:p>
        </p:txBody>
      </p:sp>
      <p:sp>
        <p:nvSpPr>
          <p:cNvPr id="3" name="">
            <a:extLst xmlns:a="http://schemas.openxmlformats.org/drawingml/2006/main">
              <a:ext uri="{FF2B5EF4-FFF2-40B4-BE49-F238E27FC236}">
                <a16:creationId xmlns:a16="http://schemas.microsoft.com/office/drawing/2014/main" id="{BABFFB05-994F-4B7E-817A-DB51C77C7AAE}"/>
              </a:ext>
            </a:extLst>
          </p:cNvPr>
          <p:cNvSpPr>
            <a:spLocks xmlns:a="http://schemas.openxmlformats.org/drawingml/2006/main" noGrp="1"/>
          </p:cNvSpPr>
          <p:nvPr/>
        </p:nvSpPr>
        <p:spPr>
          <a:xfrm xmlns:a="http://schemas.openxmlformats.org/drawingml/2006/main">
            <a:off x="11144250" y="64103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66F"/>
                </a:solidFill>
                <a:latin typeface="Arial"/>
                <a:ea typeface="Arial"/>
                <a:cs typeface="Arial"/>
              </a:defRPr>
            </a:pPr>
            <a:r>
              <a:rPr sz="1200" b="0">
                <a:solidFill>
                  <a:srgbClr val="52666F"/>
                </a:solidFill>
                <a:latin typeface="Arial"/>
                <a:ea typeface="Arial"/>
                <a:cs typeface="Arial"/>
              </a:rPr>
              <a:t>7</a:t>
            </a:r>
          </a:p>
        </p:txBody>
      </p:sp>
      <p:graphicFrame>
        <p:nvGraphicFramePr>
          <p:cNvPr id="11" name="Chart"/>
          <p:cNvGraphicFramePr/>
          <p:nvPr/>
        </p:nvGraphicFramePr>
        <p:xfrm>
          <a:off xmlns:a="http://schemas.openxmlformats.org/drawingml/2006/main" x="714375" y="1905000"/>
          <a:ext xmlns:a="http://schemas.openxmlformats.org/drawingml/2006/main" cx="7143750" cy="3619500"/>
        </p:xfrm>
        <a:graphic xmlns:a="http://schemas.openxmlformats.org/drawingml/2006/main">
          <a:graphicData uri="http://schemas.openxmlformats.org/drawingml/2006/chart">
            <c:chart xmlns:r="http://schemas.openxmlformats.org/officeDocument/2006/relationships" xmlns:c="http://schemas.openxmlformats.org/drawingml/2006/chart" r:id="R5a3c8b8007f545ea"/>
          </a:graphicData>
        </a:graphic>
      </p:graphicFrame>
      <p:sp>
        <p:nvSpPr>
          <p:cNvPr id="5" name="">
            <a:extLst xmlns:a="http://schemas.openxmlformats.org/drawingml/2006/main">
              <a:ext uri="{FF2B5EF4-FFF2-40B4-BE49-F238E27FC236}">
                <a16:creationId xmlns:a16="http://schemas.microsoft.com/office/drawing/2014/main" id="{E8356400-FB5B-42A5-BCCE-DEA7A1E9E4C5}"/>
              </a:ext>
            </a:extLst>
          </p:cNvPr>
          <p:cNvSpPr>
            <a:spLocks xmlns:a="http://schemas.openxmlformats.org/drawingml/2006/main" noGrp="1"/>
          </p:cNvSpPr>
          <p:nvPr/>
        </p:nvSpPr>
        <p:spPr>
          <a:xfrm xmlns:a="http://schemas.openxmlformats.org/drawingml/2006/main">
            <a:off x="8143875" y="2000250"/>
            <a:ext cx="300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26D75"/>
                </a:solidFill>
                <a:latin typeface="Arial"/>
                <a:ea typeface="Arial"/>
                <a:cs typeface="Arial"/>
              </a:defRPr>
            </a:pPr>
            <a:r>
              <a:rPr sz="3225" b="1">
                <a:solidFill>
                  <a:srgbClr val="126D75"/>
                </a:solidFill>
                <a:latin typeface="Arial"/>
                <a:ea typeface="Arial"/>
                <a:cs typeface="Arial"/>
              </a:rPr>
              <a:t>1.034 OC</a:t>
            </a:r>
          </a:p>
        </p:txBody>
      </p:sp>
      <p:sp>
        <p:nvSpPr>
          <p:cNvPr id="6" name="">
            <a:extLst xmlns:a="http://schemas.openxmlformats.org/drawingml/2006/main">
              <a:ext uri="{FF2B5EF4-FFF2-40B4-BE49-F238E27FC236}">
                <a16:creationId xmlns:a16="http://schemas.microsoft.com/office/drawing/2014/main" id="{F2573A7A-9161-43D9-A809-E0B24024357B}"/>
              </a:ext>
            </a:extLst>
          </p:cNvPr>
          <p:cNvSpPr>
            <a:spLocks xmlns:a="http://schemas.openxmlformats.org/drawingml/2006/main" noGrp="1"/>
          </p:cNvSpPr>
          <p:nvPr/>
        </p:nvSpPr>
        <p:spPr>
          <a:xfrm xmlns:a="http://schemas.openxmlformats.org/drawingml/2006/main">
            <a:off x="8143875" y="2905125"/>
            <a:ext cx="3000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233843"/>
                </a:solidFill>
                <a:latin typeface="Arial"/>
                <a:ea typeface="Arial"/>
                <a:cs typeface="Arial"/>
              </a:defRPr>
            </a:pPr>
            <a:r>
              <a:rPr sz="2025" b="0">
                <a:solidFill>
                  <a:srgbClr val="233843"/>
                </a:solidFill>
                <a:latin typeface="Arial"/>
                <a:ea typeface="Arial"/>
                <a:cs typeface="Arial"/>
              </a:rPr>
              <a:t>149 de trato directo</a:t>
            </a:r>
          </a:p>
          <a:p xmlns:a="http://schemas.openxmlformats.org/drawingml/2006/main">
            <a:pPr algn="l">
              <a:defRPr sz="2025" b="0">
                <a:solidFill>
                  <a:srgbClr val="233843"/>
                </a:solidFill>
                <a:latin typeface="Arial"/>
                <a:ea typeface="Arial"/>
                <a:cs typeface="Arial"/>
              </a:defRPr>
            </a:pPr>
            <a:r>
              <a:rPr sz="2025" b="0">
                <a:solidFill>
                  <a:srgbClr val="233843"/>
                </a:solidFill>
                <a:latin typeface="Arial"/>
                <a:ea typeface="Arial"/>
                <a:cs typeface="Arial"/>
              </a:rPr>
              <a:t>(14,4% de la selección)</a:t>
            </a:r>
          </a:p>
        </p:txBody>
      </p:sp>
      <p:sp>
        <p:nvSpPr>
          <p:cNvPr id="7" name="">
            <a:extLst xmlns:a="http://schemas.openxmlformats.org/drawingml/2006/main">
              <a:ext uri="{FF2B5EF4-FFF2-40B4-BE49-F238E27FC236}">
                <a16:creationId xmlns:a16="http://schemas.microsoft.com/office/drawing/2014/main" id="{5F4E5E15-8B8C-4B03-9BBC-374473842F50}"/>
              </a:ext>
            </a:extLst>
          </p:cNvPr>
          <p:cNvSpPr>
            <a:spLocks xmlns:a="http://schemas.openxmlformats.org/drawingml/2006/main" noGrp="1"/>
          </p:cNvSpPr>
          <p:nvPr/>
        </p:nvSpPr>
        <p:spPr>
          <a:xfrm xmlns:a="http://schemas.openxmlformats.org/drawingml/2006/main">
            <a:off x="8143875" y="4695825"/>
            <a:ext cx="314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2666F"/>
                </a:solidFill>
                <a:latin typeface="Arial"/>
                <a:ea typeface="Arial"/>
                <a:cs typeface="Arial"/>
              </a:defRPr>
            </a:pPr>
            <a:r>
              <a:rPr sz="1650" b="0">
                <a:solidFill>
                  <a:srgbClr val="52666F"/>
                </a:solidFill>
                <a:latin typeface="Arial"/>
                <a:ea typeface="Arial"/>
                <a:cs typeface="Arial"/>
              </a:rPr>
              <a:t>2022 y 2025 tienen cobertura parcial.</a:t>
            </a:r>
          </a:p>
        </p:txBody>
      </p:sp>
    </p:spTree>
    <p:extLst>
      <p:ext uri="{BB962C8B-B14F-4D97-AF65-F5344CB8AC3E}">
        <p14:creationId xmlns:p14="http://schemas.microsoft.com/office/powerpoint/2010/main" val="202345600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CD02CAA-8DE6-47CA-88E7-936711428A48}"/>
              </a:ext>
            </a:extLst>
          </p:cNvPr>
          <p:cNvSpPr>
            <a:spLocks xmlns:a="http://schemas.openxmlformats.org/drawingml/2006/main" noGrp="1"/>
          </p:cNvSpPr>
          <p:nvPr/>
        </p:nvSpPr>
        <p:spPr>
          <a:xfrm xmlns:a="http://schemas.openxmlformats.org/drawingml/2006/main">
            <a:off x="666750" y="4572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7394A"/>
                </a:solidFill>
                <a:latin typeface="Arial"/>
                <a:ea typeface="Arial"/>
                <a:cs typeface="Arial"/>
              </a:defRPr>
            </a:pPr>
            <a:r>
              <a:rPr sz="3225" b="1">
                <a:solidFill>
                  <a:srgbClr val="17394A"/>
                </a:solidFill>
                <a:latin typeface="Arial"/>
                <a:ea typeface="Arial"/>
                <a:cs typeface="Arial"/>
              </a:rPr>
              <a:t>Qué es una acción PME y qué se observó</a:t>
            </a:r>
          </a:p>
        </p:txBody>
      </p:sp>
      <p:sp>
        <p:nvSpPr>
          <p:cNvPr id="2" name="">
            <a:extLst xmlns:a="http://schemas.openxmlformats.org/drawingml/2006/main">
              <a:ext uri="{FF2B5EF4-FFF2-40B4-BE49-F238E27FC236}">
                <a16:creationId xmlns:a16="http://schemas.microsoft.com/office/drawing/2014/main" id="{6076B323-84A0-483B-BEAE-11AF7CE11577}"/>
              </a:ext>
            </a:extLst>
          </p:cNvPr>
          <p:cNvSpPr>
            <a:spLocks xmlns:a="http://schemas.openxmlformats.org/drawingml/2006/main" noGrp="1"/>
          </p:cNvSpPr>
          <p:nvPr/>
        </p:nvSpPr>
        <p:spPr>
          <a:xfrm xmlns:a="http://schemas.openxmlformats.org/drawingml/2006/main">
            <a:off x="685800" y="6410325"/>
            <a:ext cx="723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2666F"/>
                </a:solidFill>
                <a:latin typeface="Arial"/>
                <a:ea typeface="Arial"/>
                <a:cs typeface="Arial"/>
              </a:defRPr>
            </a:pPr>
            <a:r>
              <a:rPr sz="1200" b="0">
                <a:solidFill>
                  <a:srgbClr val="52666F"/>
                </a:solidFill>
                <a:latin typeface="Arial"/>
                <a:ea typeface="Arial"/>
                <a:cs typeface="Arial"/>
              </a:rPr>
              <a:t>EDA La Cisterna · 2022–2025</a:t>
            </a:r>
          </a:p>
        </p:txBody>
      </p:sp>
      <p:sp>
        <p:nvSpPr>
          <p:cNvPr id="3" name="">
            <a:extLst xmlns:a="http://schemas.openxmlformats.org/drawingml/2006/main">
              <a:ext uri="{FF2B5EF4-FFF2-40B4-BE49-F238E27FC236}">
                <a16:creationId xmlns:a16="http://schemas.microsoft.com/office/drawing/2014/main" id="{36A6A07B-BB7E-453B-A485-8E517F03880E}"/>
              </a:ext>
            </a:extLst>
          </p:cNvPr>
          <p:cNvSpPr>
            <a:spLocks xmlns:a="http://schemas.openxmlformats.org/drawingml/2006/main" noGrp="1"/>
          </p:cNvSpPr>
          <p:nvPr/>
        </p:nvSpPr>
        <p:spPr>
          <a:xfrm xmlns:a="http://schemas.openxmlformats.org/drawingml/2006/main">
            <a:off x="11144250" y="64103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66F"/>
                </a:solidFill>
                <a:latin typeface="Arial"/>
                <a:ea typeface="Arial"/>
                <a:cs typeface="Arial"/>
              </a:defRPr>
            </a:pPr>
            <a:r>
              <a:rPr sz="1200" b="0">
                <a:solidFill>
                  <a:srgbClr val="52666F"/>
                </a:solidFill>
                <a:latin typeface="Arial"/>
                <a:ea typeface="Arial"/>
                <a:cs typeface="Arial"/>
              </a:rPr>
              <a:t>8</a:t>
            </a:r>
          </a:p>
        </p:txBody>
      </p:sp>
      <p:sp>
        <p:nvSpPr>
          <p:cNvPr id="4" name="">
            <a:extLst xmlns:a="http://schemas.openxmlformats.org/drawingml/2006/main">
              <a:ext uri="{FF2B5EF4-FFF2-40B4-BE49-F238E27FC236}">
                <a16:creationId xmlns:a16="http://schemas.microsoft.com/office/drawing/2014/main" id="{506C206E-F83E-4643-8340-CE3FB7473856}"/>
              </a:ext>
            </a:extLst>
          </p:cNvPr>
          <p:cNvSpPr>
            <a:spLocks xmlns:a="http://schemas.openxmlformats.org/drawingml/2006/main" noGrp="1"/>
          </p:cNvSpPr>
          <p:nvPr/>
        </p:nvSpPr>
        <p:spPr>
          <a:xfrm xmlns:a="http://schemas.openxmlformats.org/drawingml/2006/main">
            <a:off x="762000" y="1714500"/>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900" b="1">
                <a:solidFill>
                  <a:srgbClr val="126D75"/>
                </a:solidFill>
                <a:latin typeface="Arial"/>
                <a:ea typeface="Arial"/>
                <a:cs typeface="Arial"/>
              </a:defRPr>
            </a:pPr>
            <a:r>
              <a:rPr sz="3900" b="1">
                <a:solidFill>
                  <a:srgbClr val="126D75"/>
                </a:solidFill>
                <a:latin typeface="Arial"/>
                <a:ea typeface="Arial"/>
                <a:cs typeface="Arial"/>
              </a:rPr>
              <a:t>767</a:t>
            </a:r>
          </a:p>
        </p:txBody>
      </p:sp>
      <p:sp>
        <p:nvSpPr>
          <p:cNvPr id="5" name="">
            <a:extLst xmlns:a="http://schemas.openxmlformats.org/drawingml/2006/main">
              <a:ext uri="{FF2B5EF4-FFF2-40B4-BE49-F238E27FC236}">
                <a16:creationId xmlns:a16="http://schemas.microsoft.com/office/drawing/2014/main" id="{D2AFD72C-F289-4692-85B2-FAB68E238C25}"/>
              </a:ext>
            </a:extLst>
          </p:cNvPr>
          <p:cNvSpPr>
            <a:spLocks xmlns:a="http://schemas.openxmlformats.org/drawingml/2006/main" noGrp="1"/>
          </p:cNvSpPr>
          <p:nvPr/>
        </p:nvSpPr>
        <p:spPr>
          <a:xfrm xmlns:a="http://schemas.openxmlformats.org/drawingml/2006/main">
            <a:off x="3238500" y="1771650"/>
            <a:ext cx="800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233843"/>
                </a:solidFill>
                <a:latin typeface="Arial"/>
                <a:ea typeface="Arial"/>
                <a:cs typeface="Arial"/>
              </a:defRPr>
            </a:pPr>
            <a:r>
              <a:rPr sz="2025" b="0">
                <a:solidFill>
                  <a:srgbClr val="233843"/>
                </a:solidFill>
                <a:latin typeface="Arial"/>
                <a:ea typeface="Arial"/>
                <a:cs typeface="Arial"/>
              </a:rPr>
              <a:t>acciones registradas en 46 colegios.</a:t>
            </a:r>
          </a:p>
        </p:txBody>
      </p:sp>
      <p:sp>
        <p:nvSpPr>
          <p:cNvPr id="6" name="">
            <a:extLst xmlns:a="http://schemas.openxmlformats.org/drawingml/2006/main">
              <a:ext uri="{FF2B5EF4-FFF2-40B4-BE49-F238E27FC236}">
                <a16:creationId xmlns:a16="http://schemas.microsoft.com/office/drawing/2014/main" id="{D7889F48-7300-420F-A7AC-1DEF04964588}"/>
              </a:ext>
            </a:extLst>
          </p:cNvPr>
          <p:cNvSpPr>
            <a:spLocks xmlns:a="http://schemas.openxmlformats.org/drawingml/2006/main" noGrp="1"/>
          </p:cNvSpPr>
          <p:nvPr/>
        </p:nvSpPr>
        <p:spPr>
          <a:xfrm xmlns:a="http://schemas.openxmlformats.org/drawingml/2006/main">
            <a:off x="762000" y="2714625"/>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900" b="1">
                <a:solidFill>
                  <a:srgbClr val="126D75"/>
                </a:solidFill>
                <a:latin typeface="Arial"/>
                <a:ea typeface="Arial"/>
                <a:cs typeface="Arial"/>
              </a:defRPr>
            </a:pPr>
            <a:r>
              <a:rPr sz="3900" b="1">
                <a:solidFill>
                  <a:srgbClr val="126D75"/>
                </a:solidFill>
                <a:latin typeface="Arial"/>
                <a:ea typeface="Arial"/>
                <a:cs typeface="Arial"/>
              </a:rPr>
              <a:t>469</a:t>
            </a:r>
          </a:p>
        </p:txBody>
      </p:sp>
      <p:sp>
        <p:nvSpPr>
          <p:cNvPr id="7" name="">
            <a:extLst xmlns:a="http://schemas.openxmlformats.org/drawingml/2006/main">
              <a:ext uri="{FF2B5EF4-FFF2-40B4-BE49-F238E27FC236}">
                <a16:creationId xmlns:a16="http://schemas.microsoft.com/office/drawing/2014/main" id="{9BDF0950-2540-47C8-90A0-37A0D4B36BB8}"/>
              </a:ext>
            </a:extLst>
          </p:cNvPr>
          <p:cNvSpPr>
            <a:spLocks xmlns:a="http://schemas.openxmlformats.org/drawingml/2006/main" noGrp="1"/>
          </p:cNvSpPr>
          <p:nvPr/>
        </p:nvSpPr>
        <p:spPr>
          <a:xfrm xmlns:a="http://schemas.openxmlformats.org/drawingml/2006/main">
            <a:off x="3238500" y="2771775"/>
            <a:ext cx="800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233843"/>
                </a:solidFill>
                <a:latin typeface="Arial"/>
                <a:ea typeface="Arial"/>
                <a:cs typeface="Arial"/>
              </a:defRPr>
            </a:pPr>
            <a:r>
              <a:rPr sz="2025" b="0">
                <a:solidFill>
                  <a:srgbClr val="233843"/>
                </a:solidFill>
                <a:latin typeface="Arial"/>
                <a:ea typeface="Arial"/>
                <a:cs typeface="Arial"/>
              </a:rPr>
              <a:t>declaradas con implementación completa.</a:t>
            </a:r>
          </a:p>
        </p:txBody>
      </p:sp>
      <p:sp>
        <p:nvSpPr>
          <p:cNvPr id="8" name="">
            <a:extLst xmlns:a="http://schemas.openxmlformats.org/drawingml/2006/main">
              <a:ext uri="{FF2B5EF4-FFF2-40B4-BE49-F238E27FC236}">
                <a16:creationId xmlns:a16="http://schemas.microsoft.com/office/drawing/2014/main" id="{523F84CE-E797-4AA3-B9A3-17DA40B50ECD}"/>
              </a:ext>
            </a:extLst>
          </p:cNvPr>
          <p:cNvSpPr>
            <a:spLocks xmlns:a="http://schemas.openxmlformats.org/drawingml/2006/main" noGrp="1"/>
          </p:cNvSpPr>
          <p:nvPr/>
        </p:nvSpPr>
        <p:spPr>
          <a:xfrm xmlns:a="http://schemas.openxmlformats.org/drawingml/2006/main">
            <a:off x="762000" y="3714750"/>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900" b="1">
                <a:solidFill>
                  <a:srgbClr val="126D75"/>
                </a:solidFill>
                <a:latin typeface="Arial"/>
                <a:ea typeface="Arial"/>
                <a:cs typeface="Arial"/>
              </a:defRPr>
            </a:pPr>
            <a:r>
              <a:rPr sz="3900" b="1">
                <a:solidFill>
                  <a:srgbClr val="126D75"/>
                </a:solidFill>
                <a:latin typeface="Arial"/>
                <a:ea typeface="Arial"/>
                <a:cs typeface="Arial"/>
              </a:rPr>
              <a:t>149</a:t>
            </a:r>
          </a:p>
        </p:txBody>
      </p:sp>
      <p:sp>
        <p:nvSpPr>
          <p:cNvPr id="9" name="">
            <a:extLst xmlns:a="http://schemas.openxmlformats.org/drawingml/2006/main">
              <a:ext uri="{FF2B5EF4-FFF2-40B4-BE49-F238E27FC236}">
                <a16:creationId xmlns:a16="http://schemas.microsoft.com/office/drawing/2014/main" id="{CAC4AD77-320F-4943-966D-84E11352A487}"/>
              </a:ext>
            </a:extLst>
          </p:cNvPr>
          <p:cNvSpPr>
            <a:spLocks xmlns:a="http://schemas.openxmlformats.org/drawingml/2006/main" noGrp="1"/>
          </p:cNvSpPr>
          <p:nvPr/>
        </p:nvSpPr>
        <p:spPr>
          <a:xfrm xmlns:a="http://schemas.openxmlformats.org/drawingml/2006/main">
            <a:off x="3238500" y="3771900"/>
            <a:ext cx="800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233843"/>
                </a:solidFill>
                <a:latin typeface="Arial"/>
                <a:ea typeface="Arial"/>
                <a:cs typeface="Arial"/>
              </a:defRPr>
            </a:pPr>
            <a:r>
              <a:rPr sz="2025" b="0">
                <a:solidFill>
                  <a:srgbClr val="233843"/>
                </a:solidFill>
                <a:latin typeface="Arial"/>
                <a:ea typeface="Arial"/>
                <a:cs typeface="Arial"/>
              </a:rPr>
              <a:t>con estimación total de $0.</a:t>
            </a:r>
          </a:p>
        </p:txBody>
      </p:sp>
      <p:sp>
        <p:nvSpPr>
          <p:cNvPr id="10" name="">
            <a:extLst xmlns:a="http://schemas.openxmlformats.org/drawingml/2006/main">
              <a:ext uri="{FF2B5EF4-FFF2-40B4-BE49-F238E27FC236}">
                <a16:creationId xmlns:a16="http://schemas.microsoft.com/office/drawing/2014/main" id="{41995A48-7475-403E-8E6E-17E820114674}"/>
              </a:ext>
            </a:extLst>
          </p:cNvPr>
          <p:cNvSpPr>
            <a:spLocks xmlns:a="http://schemas.openxmlformats.org/drawingml/2006/main" noGrp="1"/>
          </p:cNvSpPr>
          <p:nvPr/>
        </p:nvSpPr>
        <p:spPr>
          <a:xfrm xmlns:a="http://schemas.openxmlformats.org/drawingml/2006/main">
            <a:off x="762000" y="50958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126D75"/>
                </a:solidFill>
                <a:latin typeface="Arial"/>
                <a:ea typeface="Arial"/>
                <a:cs typeface="Arial"/>
              </a:defRPr>
            </a:pPr>
            <a:r>
              <a:rPr sz="2100" b="1">
                <a:solidFill>
                  <a:srgbClr val="126D75"/>
                </a:solidFill>
                <a:latin typeface="Arial"/>
                <a:ea typeface="Arial"/>
                <a:cs typeface="Arial"/>
              </a:rPr>
              <a:t>$9.009 millones estimados; no son pagos ni gastos aprobados.</a:t>
            </a:r>
          </a:p>
        </p:txBody>
      </p:sp>
    </p:spTree>
    <p:extLst>
      <p:ext uri="{BB962C8B-B14F-4D97-AF65-F5344CB8AC3E}">
        <p14:creationId xmlns:p14="http://schemas.microsoft.com/office/powerpoint/2010/main" val="6264687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6BFFE10-B47E-4C63-9CAB-97A8BCC8EC39}"/>
              </a:ext>
            </a:extLst>
          </p:cNvPr>
          <p:cNvSpPr>
            <a:spLocks xmlns:a="http://schemas.openxmlformats.org/drawingml/2006/main" noGrp="1"/>
          </p:cNvSpPr>
          <p:nvPr/>
        </p:nvSpPr>
        <p:spPr>
          <a:xfrm xmlns:a="http://schemas.openxmlformats.org/drawingml/2006/main">
            <a:off x="666750" y="4572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7394A"/>
                </a:solidFill>
                <a:latin typeface="Arial"/>
                <a:ea typeface="Arial"/>
                <a:cs typeface="Arial"/>
              </a:defRPr>
            </a:pPr>
            <a:r>
              <a:rPr sz="3225" b="1">
                <a:solidFill>
                  <a:srgbClr val="17394A"/>
                </a:solidFill>
                <a:latin typeface="Arial"/>
                <a:ea typeface="Arial"/>
                <a:cs typeface="Arial"/>
              </a:rPr>
              <a:t>PAS y resultados educativos</a:t>
            </a:r>
          </a:p>
        </p:txBody>
      </p:sp>
      <p:sp>
        <p:nvSpPr>
          <p:cNvPr id="2" name="">
            <a:extLst xmlns:a="http://schemas.openxmlformats.org/drawingml/2006/main">
              <a:ext uri="{FF2B5EF4-FFF2-40B4-BE49-F238E27FC236}">
                <a16:creationId xmlns:a16="http://schemas.microsoft.com/office/drawing/2014/main" id="{C9231E2D-B417-499E-A116-11E2C541E462}"/>
              </a:ext>
            </a:extLst>
          </p:cNvPr>
          <p:cNvSpPr>
            <a:spLocks xmlns:a="http://schemas.openxmlformats.org/drawingml/2006/main" noGrp="1"/>
          </p:cNvSpPr>
          <p:nvPr/>
        </p:nvSpPr>
        <p:spPr>
          <a:xfrm xmlns:a="http://schemas.openxmlformats.org/drawingml/2006/main">
            <a:off x="685800" y="6410325"/>
            <a:ext cx="723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2666F"/>
                </a:solidFill>
                <a:latin typeface="Arial"/>
                <a:ea typeface="Arial"/>
                <a:cs typeface="Arial"/>
              </a:defRPr>
            </a:pPr>
            <a:r>
              <a:rPr sz="1200" b="0">
                <a:solidFill>
                  <a:srgbClr val="52666F"/>
                </a:solidFill>
                <a:latin typeface="Arial"/>
                <a:ea typeface="Arial"/>
                <a:cs typeface="Arial"/>
              </a:rPr>
              <a:t>EDA La Cisterna · 2022–2025</a:t>
            </a:r>
          </a:p>
        </p:txBody>
      </p:sp>
      <p:sp>
        <p:nvSpPr>
          <p:cNvPr id="3" name="">
            <a:extLst xmlns:a="http://schemas.openxmlformats.org/drawingml/2006/main">
              <a:ext uri="{FF2B5EF4-FFF2-40B4-BE49-F238E27FC236}">
                <a16:creationId xmlns:a16="http://schemas.microsoft.com/office/drawing/2014/main" id="{C0EAC5E4-A252-4C3E-A282-36BF4D12DA0F}"/>
              </a:ext>
            </a:extLst>
          </p:cNvPr>
          <p:cNvSpPr>
            <a:spLocks xmlns:a="http://schemas.openxmlformats.org/drawingml/2006/main" noGrp="1"/>
          </p:cNvSpPr>
          <p:nvPr/>
        </p:nvSpPr>
        <p:spPr>
          <a:xfrm xmlns:a="http://schemas.openxmlformats.org/drawingml/2006/main">
            <a:off x="11144250" y="64103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66F"/>
                </a:solidFill>
                <a:latin typeface="Arial"/>
                <a:ea typeface="Arial"/>
                <a:cs typeface="Arial"/>
              </a:defRPr>
            </a:pPr>
            <a:r>
              <a:rPr sz="1200" b="0">
                <a:solidFill>
                  <a:srgbClr val="52666F"/>
                </a:solidFill>
                <a:latin typeface="Arial"/>
                <a:ea typeface="Arial"/>
                <a:cs typeface="Arial"/>
              </a:rPr>
              <a:t>9</a:t>
            </a:r>
          </a:p>
        </p:txBody>
      </p:sp>
      <p:sp>
        <p:nvSpPr>
          <p:cNvPr id="4" name="">
            <a:extLst xmlns:a="http://schemas.openxmlformats.org/drawingml/2006/main">
              <a:ext uri="{FF2B5EF4-FFF2-40B4-BE49-F238E27FC236}">
                <a16:creationId xmlns:a16="http://schemas.microsoft.com/office/drawing/2014/main" id="{263F0110-1C35-4426-9399-4A457B0F944F}"/>
              </a:ext>
            </a:extLst>
          </p:cNvPr>
          <p:cNvSpPr>
            <a:spLocks xmlns:a="http://schemas.openxmlformats.org/drawingml/2006/main" noGrp="1"/>
          </p:cNvSpPr>
          <p:nvPr/>
        </p:nvSpPr>
        <p:spPr>
          <a:xfrm xmlns:a="http://schemas.openxmlformats.org/drawingml/2006/main">
            <a:off x="762000" y="1714500"/>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900" b="1">
                <a:solidFill>
                  <a:srgbClr val="126D75"/>
                </a:solidFill>
                <a:latin typeface="Arial"/>
                <a:ea typeface="Arial"/>
                <a:cs typeface="Arial"/>
              </a:defRPr>
            </a:pPr>
            <a:r>
              <a:rPr sz="3900" b="1">
                <a:solidFill>
                  <a:srgbClr val="126D75"/>
                </a:solidFill>
                <a:latin typeface="Arial"/>
                <a:ea typeface="Arial"/>
                <a:cs typeface="Arial"/>
              </a:rPr>
              <a:t>110</a:t>
            </a:r>
          </a:p>
        </p:txBody>
      </p:sp>
      <p:sp>
        <p:nvSpPr>
          <p:cNvPr id="5" name="">
            <a:extLst xmlns:a="http://schemas.openxmlformats.org/drawingml/2006/main">
              <a:ext uri="{FF2B5EF4-FFF2-40B4-BE49-F238E27FC236}">
                <a16:creationId xmlns:a16="http://schemas.microsoft.com/office/drawing/2014/main" id="{0A922747-6AA2-41BB-872D-45D27B35A445}"/>
              </a:ext>
            </a:extLst>
          </p:cNvPr>
          <p:cNvSpPr>
            <a:spLocks xmlns:a="http://schemas.openxmlformats.org/drawingml/2006/main" noGrp="1"/>
          </p:cNvSpPr>
          <p:nvPr/>
        </p:nvSpPr>
        <p:spPr>
          <a:xfrm xmlns:a="http://schemas.openxmlformats.org/drawingml/2006/main">
            <a:off x="3238500" y="1771650"/>
            <a:ext cx="800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233843"/>
                </a:solidFill>
                <a:latin typeface="Arial"/>
                <a:ea typeface="Arial"/>
                <a:cs typeface="Arial"/>
              </a:defRPr>
            </a:pPr>
            <a:r>
              <a:rPr sz="2025" b="0">
                <a:solidFill>
                  <a:srgbClr val="233843"/>
                </a:solidFill>
                <a:latin typeface="Arial"/>
                <a:ea typeface="Arial"/>
                <a:cs typeface="Arial"/>
              </a:rPr>
              <a:t>PAS publicados de 39 RBD.</a:t>
            </a:r>
          </a:p>
        </p:txBody>
      </p:sp>
      <p:sp>
        <p:nvSpPr>
          <p:cNvPr id="6" name="">
            <a:extLst xmlns:a="http://schemas.openxmlformats.org/drawingml/2006/main">
              <a:ext uri="{FF2B5EF4-FFF2-40B4-BE49-F238E27FC236}">
                <a16:creationId xmlns:a16="http://schemas.microsoft.com/office/drawing/2014/main" id="{C72D548C-EA7D-47A2-9D16-0E1042B79FC6}"/>
              </a:ext>
            </a:extLst>
          </p:cNvPr>
          <p:cNvSpPr>
            <a:spLocks xmlns:a="http://schemas.openxmlformats.org/drawingml/2006/main" noGrp="1"/>
          </p:cNvSpPr>
          <p:nvPr/>
        </p:nvSpPr>
        <p:spPr>
          <a:xfrm xmlns:a="http://schemas.openxmlformats.org/drawingml/2006/main">
            <a:off x="762000" y="2800350"/>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900" b="1">
                <a:solidFill>
                  <a:srgbClr val="126D75"/>
                </a:solidFill>
                <a:latin typeface="Arial"/>
                <a:ea typeface="Arial"/>
                <a:cs typeface="Arial"/>
              </a:defRPr>
            </a:pPr>
            <a:r>
              <a:rPr sz="3900" b="1">
                <a:solidFill>
                  <a:srgbClr val="126D75"/>
                </a:solidFill>
                <a:latin typeface="Arial"/>
                <a:ea typeface="Arial"/>
                <a:cs typeface="Arial"/>
              </a:rPr>
              <a:t>47</a:t>
            </a:r>
          </a:p>
        </p:txBody>
      </p:sp>
      <p:sp>
        <p:nvSpPr>
          <p:cNvPr id="7" name="">
            <a:extLst xmlns:a="http://schemas.openxmlformats.org/drawingml/2006/main">
              <a:ext uri="{FF2B5EF4-FFF2-40B4-BE49-F238E27FC236}">
                <a16:creationId xmlns:a16="http://schemas.microsoft.com/office/drawing/2014/main" id="{A14D59C8-2A1B-427F-864B-8EB42DF579B6}"/>
              </a:ext>
            </a:extLst>
          </p:cNvPr>
          <p:cNvSpPr>
            <a:spLocks xmlns:a="http://schemas.openxmlformats.org/drawingml/2006/main" noGrp="1"/>
          </p:cNvSpPr>
          <p:nvPr/>
        </p:nvSpPr>
        <p:spPr>
          <a:xfrm xmlns:a="http://schemas.openxmlformats.org/drawingml/2006/main">
            <a:off x="3238500" y="2857500"/>
            <a:ext cx="800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233843"/>
                </a:solidFill>
                <a:latin typeface="Arial"/>
                <a:ea typeface="Arial"/>
                <a:cs typeface="Arial"/>
              </a:defRPr>
            </a:pPr>
            <a:r>
              <a:rPr sz="2025" b="0">
                <a:solidFill>
                  <a:srgbClr val="233843"/>
                </a:solidFill>
                <a:latin typeface="Arial"/>
                <a:ea typeface="Arial"/>
                <a:cs typeface="Arial"/>
              </a:rPr>
              <a:t>multas registradas en primera instancia.</a:t>
            </a:r>
          </a:p>
        </p:txBody>
      </p:sp>
      <p:sp>
        <p:nvSpPr>
          <p:cNvPr id="8" name="">
            <a:extLst xmlns:a="http://schemas.openxmlformats.org/drawingml/2006/main">
              <a:ext uri="{FF2B5EF4-FFF2-40B4-BE49-F238E27FC236}">
                <a16:creationId xmlns:a16="http://schemas.microsoft.com/office/drawing/2014/main" id="{35527A8E-8569-42BF-B1F0-DA6BB1C29719}"/>
              </a:ext>
            </a:extLst>
          </p:cNvPr>
          <p:cNvSpPr>
            <a:spLocks xmlns:a="http://schemas.openxmlformats.org/drawingml/2006/main" noGrp="1"/>
          </p:cNvSpPr>
          <p:nvPr/>
        </p:nvSpPr>
        <p:spPr>
          <a:xfrm xmlns:a="http://schemas.openxmlformats.org/drawingml/2006/main">
            <a:off x="762000" y="3886200"/>
            <a:ext cx="238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75" b="1">
                <a:solidFill>
                  <a:srgbClr val="126D75"/>
                </a:solidFill>
                <a:latin typeface="Arial"/>
                <a:ea typeface="Arial"/>
                <a:cs typeface="Arial"/>
              </a:defRPr>
            </a:pPr>
            <a:r>
              <a:rPr sz="3375" b="1">
                <a:solidFill>
                  <a:srgbClr val="126D75"/>
                </a:solidFill>
                <a:latin typeface="Arial"/>
                <a:ea typeface="Arial"/>
                <a:cs typeface="Arial"/>
              </a:rPr>
              <a:t>236 / 936</a:t>
            </a:r>
          </a:p>
        </p:txBody>
      </p:sp>
      <p:sp>
        <p:nvSpPr>
          <p:cNvPr id="9" name="">
            <a:extLst xmlns:a="http://schemas.openxmlformats.org/drawingml/2006/main">
              <a:ext uri="{FF2B5EF4-FFF2-40B4-BE49-F238E27FC236}">
                <a16:creationId xmlns:a16="http://schemas.microsoft.com/office/drawing/2014/main" id="{C0974966-81AD-4C7E-9609-294D6A7F2DC5}"/>
              </a:ext>
            </a:extLst>
          </p:cNvPr>
          <p:cNvSpPr>
            <a:spLocks xmlns:a="http://schemas.openxmlformats.org/drawingml/2006/main" noGrp="1"/>
          </p:cNvSpPr>
          <p:nvPr/>
        </p:nvSpPr>
        <p:spPr>
          <a:xfrm xmlns:a="http://schemas.openxmlformats.org/drawingml/2006/main">
            <a:off x="3238500" y="3943350"/>
            <a:ext cx="8001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233843"/>
                </a:solidFill>
                <a:latin typeface="Arial"/>
                <a:ea typeface="Arial"/>
                <a:cs typeface="Arial"/>
              </a:defRPr>
            </a:pPr>
            <a:r>
              <a:rPr sz="2025" b="0">
                <a:solidFill>
                  <a:srgbClr val="233843"/>
                </a:solidFill>
                <a:latin typeface="Arial"/>
                <a:ea typeface="Arial"/>
                <a:cs typeface="Arial"/>
              </a:rPr>
              <a:t>filas SIMCE / IDPS, 2023–2025.</a:t>
            </a:r>
          </a:p>
        </p:txBody>
      </p:sp>
      <p:sp>
        <p:nvSpPr>
          <p:cNvPr id="10" name="">
            <a:extLst xmlns:a="http://schemas.openxmlformats.org/drawingml/2006/main">
              <a:ext uri="{FF2B5EF4-FFF2-40B4-BE49-F238E27FC236}">
                <a16:creationId xmlns:a16="http://schemas.microsoft.com/office/drawing/2014/main" id="{E8A79999-55DE-4308-BAAF-91C8905679E6}"/>
              </a:ext>
            </a:extLst>
          </p:cNvPr>
          <p:cNvSpPr>
            <a:spLocks xmlns:a="http://schemas.openxmlformats.org/drawingml/2006/main" noGrp="1"/>
          </p:cNvSpPr>
          <p:nvPr/>
        </p:nvSpPr>
        <p:spPr>
          <a:xfrm xmlns:a="http://schemas.openxmlformats.org/drawingml/2006/main">
            <a:off x="762000" y="541020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52666F"/>
                </a:solidFill>
                <a:latin typeface="Arial"/>
                <a:ea typeface="Arial"/>
                <a:cs typeface="Arial"/>
              </a:defRPr>
            </a:pPr>
            <a:r>
              <a:rPr sz="1800" b="0">
                <a:solidFill>
                  <a:srgbClr val="52666F"/>
                </a:solidFill>
                <a:latin typeface="Arial"/>
                <a:ea typeface="Arial"/>
                <a:cs typeface="Arial"/>
              </a:rPr>
              <a:t>La base PAS no permite identificar hoy procesos financieros.</a:t>
            </a:r>
          </a:p>
        </p:txBody>
      </p:sp>
    </p:spTree>
    <p:extLst>
      <p:ext uri="{BB962C8B-B14F-4D97-AF65-F5344CB8AC3E}">
        <p14:creationId xmlns:p14="http://schemas.microsoft.com/office/powerpoint/2010/main" val="104286458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A5CCDA7-1E15-479A-A56F-1660379812D5}"/>
              </a:ext>
            </a:extLst>
          </p:cNvPr>
          <p:cNvSpPr>
            <a:spLocks xmlns:a="http://schemas.openxmlformats.org/drawingml/2006/main" noGrp="1"/>
          </p:cNvSpPr>
          <p:nvPr/>
        </p:nvSpPr>
        <p:spPr>
          <a:xfrm xmlns:a="http://schemas.openxmlformats.org/drawingml/2006/main">
            <a:off x="666750" y="4572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7394A"/>
                </a:solidFill>
                <a:latin typeface="Arial"/>
                <a:ea typeface="Arial"/>
                <a:cs typeface="Arial"/>
              </a:defRPr>
            </a:pPr>
            <a:r>
              <a:rPr sz="3225" b="1">
                <a:solidFill>
                  <a:srgbClr val="17394A"/>
                </a:solidFill>
                <a:latin typeface="Arial"/>
                <a:ea typeface="Arial"/>
                <a:cs typeface="Arial"/>
              </a:rPr>
              <a:t>Eslabones aún sin evidencia</a:t>
            </a:r>
          </a:p>
        </p:txBody>
      </p:sp>
      <p:sp>
        <p:nvSpPr>
          <p:cNvPr id="2" name="">
            <a:extLst xmlns:a="http://schemas.openxmlformats.org/drawingml/2006/main">
              <a:ext uri="{FF2B5EF4-FFF2-40B4-BE49-F238E27FC236}">
                <a16:creationId xmlns:a16="http://schemas.microsoft.com/office/drawing/2014/main" id="{DD569CEE-97DF-4763-835A-7FDFA0A3EBF9}"/>
              </a:ext>
            </a:extLst>
          </p:cNvPr>
          <p:cNvSpPr>
            <a:spLocks xmlns:a="http://schemas.openxmlformats.org/drawingml/2006/main" noGrp="1"/>
          </p:cNvSpPr>
          <p:nvPr/>
        </p:nvSpPr>
        <p:spPr>
          <a:xfrm xmlns:a="http://schemas.openxmlformats.org/drawingml/2006/main">
            <a:off x="685800" y="6410325"/>
            <a:ext cx="723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2666F"/>
                </a:solidFill>
                <a:latin typeface="Arial"/>
                <a:ea typeface="Arial"/>
                <a:cs typeface="Arial"/>
              </a:defRPr>
            </a:pPr>
            <a:r>
              <a:rPr sz="1200" b="0">
                <a:solidFill>
                  <a:srgbClr val="52666F"/>
                </a:solidFill>
                <a:latin typeface="Arial"/>
                <a:ea typeface="Arial"/>
                <a:cs typeface="Arial"/>
              </a:rPr>
              <a:t>EDA La Cisterna · 2022–2025</a:t>
            </a:r>
          </a:p>
        </p:txBody>
      </p:sp>
      <p:sp>
        <p:nvSpPr>
          <p:cNvPr id="3" name="">
            <a:extLst xmlns:a="http://schemas.openxmlformats.org/drawingml/2006/main">
              <a:ext uri="{FF2B5EF4-FFF2-40B4-BE49-F238E27FC236}">
                <a16:creationId xmlns:a16="http://schemas.microsoft.com/office/drawing/2014/main" id="{F644107B-2B91-4590-8B7F-E784DE3A6DC2}"/>
              </a:ext>
            </a:extLst>
          </p:cNvPr>
          <p:cNvSpPr>
            <a:spLocks xmlns:a="http://schemas.openxmlformats.org/drawingml/2006/main" noGrp="1"/>
          </p:cNvSpPr>
          <p:nvPr/>
        </p:nvSpPr>
        <p:spPr>
          <a:xfrm xmlns:a="http://schemas.openxmlformats.org/drawingml/2006/main">
            <a:off x="11144250" y="64103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66F"/>
                </a:solidFill>
                <a:latin typeface="Arial"/>
                <a:ea typeface="Arial"/>
                <a:cs typeface="Arial"/>
              </a:defRPr>
            </a:pPr>
            <a:r>
              <a:rPr sz="1200" b="0">
                <a:solidFill>
                  <a:srgbClr val="52666F"/>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CBBFA89C-8E7F-4DA7-B365-572086AC1C13}"/>
              </a:ext>
            </a:extLst>
          </p:cNvPr>
          <p:cNvSpPr>
            <a:spLocks xmlns:a="http://schemas.openxmlformats.org/drawingml/2006/main" noGrp="1"/>
          </p:cNvSpPr>
          <p:nvPr/>
        </p:nvSpPr>
        <p:spPr>
          <a:xfrm xmlns:a="http://schemas.openxmlformats.org/drawingml/2006/main">
            <a:off x="762000" y="1752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233843"/>
                </a:solidFill>
                <a:latin typeface="Arial"/>
                <a:ea typeface="Arial"/>
                <a:cs typeface="Arial"/>
              </a:defRPr>
            </a:pPr>
            <a:r>
              <a:rPr sz="2400" b="1">
                <a:solidFill>
                  <a:srgbClr val="233843"/>
                </a:solidFill>
                <a:latin typeface="Arial"/>
                <a:ea typeface="Arial"/>
                <a:cs typeface="Arial"/>
              </a:rPr>
              <a:t>Estimación PME</a:t>
            </a:r>
          </a:p>
        </p:txBody>
      </p:sp>
      <p:sp>
        <p:nvSpPr>
          <p:cNvPr id="5" name="">
            <a:extLst xmlns:a="http://schemas.openxmlformats.org/drawingml/2006/main">
              <a:ext uri="{FF2B5EF4-FFF2-40B4-BE49-F238E27FC236}">
                <a16:creationId xmlns:a16="http://schemas.microsoft.com/office/drawing/2014/main" id="{246FF31B-D7CB-46D4-9DAB-62B03E223BCC}"/>
              </a:ext>
            </a:extLst>
          </p:cNvPr>
          <p:cNvSpPr>
            <a:spLocks xmlns:a="http://schemas.openxmlformats.org/drawingml/2006/main" noGrp="1"/>
          </p:cNvSpPr>
          <p:nvPr/>
        </p:nvSpPr>
        <p:spPr>
          <a:xfrm xmlns:a="http://schemas.openxmlformats.org/drawingml/2006/main">
            <a:off x="762000" y="25241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233843"/>
                </a:solidFill>
                <a:latin typeface="Arial"/>
                <a:ea typeface="Arial"/>
                <a:cs typeface="Arial"/>
              </a:defRPr>
            </a:pPr>
            <a:r>
              <a:rPr sz="2400" b="1">
                <a:solidFill>
                  <a:srgbClr val="233843"/>
                </a:solidFill>
                <a:latin typeface="Arial"/>
                <a:ea typeface="Arial"/>
                <a:cs typeface="Arial"/>
              </a:rPr>
              <a:t>Orden de compra y contrato</a:t>
            </a:r>
          </a:p>
        </p:txBody>
      </p:sp>
      <p:sp>
        <p:nvSpPr>
          <p:cNvPr id="6" name="">
            <a:extLst xmlns:a="http://schemas.openxmlformats.org/drawingml/2006/main">
              <a:ext uri="{FF2B5EF4-FFF2-40B4-BE49-F238E27FC236}">
                <a16:creationId xmlns:a16="http://schemas.microsoft.com/office/drawing/2014/main" id="{1C404F29-DEE6-45FF-9FD0-6169DF24C3B8}"/>
              </a:ext>
            </a:extLst>
          </p:cNvPr>
          <p:cNvSpPr>
            <a:spLocks xmlns:a="http://schemas.openxmlformats.org/drawingml/2006/main" noGrp="1"/>
          </p:cNvSpPr>
          <p:nvPr/>
        </p:nvSpPr>
        <p:spPr>
          <a:xfrm xmlns:a="http://schemas.openxmlformats.org/drawingml/2006/main">
            <a:off x="762000" y="32956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233843"/>
                </a:solidFill>
                <a:latin typeface="Arial"/>
                <a:ea typeface="Arial"/>
                <a:cs typeface="Arial"/>
              </a:defRPr>
            </a:pPr>
            <a:r>
              <a:rPr sz="2400" b="1">
                <a:solidFill>
                  <a:srgbClr val="233843"/>
                </a:solidFill>
                <a:latin typeface="Arial"/>
                <a:ea typeface="Arial"/>
                <a:cs typeface="Arial"/>
              </a:rPr>
              <a:t>Factura y pago</a:t>
            </a:r>
          </a:p>
        </p:txBody>
      </p:sp>
      <p:sp>
        <p:nvSpPr>
          <p:cNvPr id="7" name="">
            <a:extLst xmlns:a="http://schemas.openxmlformats.org/drawingml/2006/main">
              <a:ext uri="{FF2B5EF4-FFF2-40B4-BE49-F238E27FC236}">
                <a16:creationId xmlns:a16="http://schemas.microsoft.com/office/drawing/2014/main" id="{B21281BE-C6D1-4E28-8F87-AEF68BE743AF}"/>
              </a:ext>
            </a:extLst>
          </p:cNvPr>
          <p:cNvSpPr>
            <a:spLocks xmlns:a="http://schemas.openxmlformats.org/drawingml/2006/main" noGrp="1"/>
          </p:cNvSpPr>
          <p:nvPr/>
        </p:nvSpPr>
        <p:spPr>
          <a:xfrm xmlns:a="http://schemas.openxmlformats.org/drawingml/2006/main">
            <a:off x="762000" y="40671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233843"/>
                </a:solidFill>
                <a:latin typeface="Arial"/>
                <a:ea typeface="Arial"/>
                <a:cs typeface="Arial"/>
              </a:defRPr>
            </a:pPr>
            <a:r>
              <a:rPr sz="2400" b="1">
                <a:solidFill>
                  <a:srgbClr val="233843"/>
                </a:solidFill>
                <a:latin typeface="Arial"/>
                <a:ea typeface="Arial"/>
                <a:cs typeface="Arial"/>
              </a:rPr>
              <a:t>Recepción, beneficiario y uso</a:t>
            </a:r>
          </a:p>
        </p:txBody>
      </p:sp>
      <p:sp>
        <p:nvSpPr>
          <p:cNvPr id="8" name="">
            <a:extLst xmlns:a="http://schemas.openxmlformats.org/drawingml/2006/main">
              <a:ext uri="{FF2B5EF4-FFF2-40B4-BE49-F238E27FC236}">
                <a16:creationId xmlns:a16="http://schemas.microsoft.com/office/drawing/2014/main" id="{905EC41F-628D-4C57-AD4B-DDADF96CD2DA}"/>
              </a:ext>
            </a:extLst>
          </p:cNvPr>
          <p:cNvSpPr>
            <a:spLocks xmlns:a="http://schemas.openxmlformats.org/drawingml/2006/main" noGrp="1"/>
          </p:cNvSpPr>
          <p:nvPr/>
        </p:nvSpPr>
        <p:spPr>
          <a:xfrm xmlns:a="http://schemas.openxmlformats.org/drawingml/2006/main">
            <a:off x="762000" y="52482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1">
                <a:solidFill>
                  <a:srgbClr val="126D75"/>
                </a:solidFill>
                <a:latin typeface="Arial"/>
                <a:ea typeface="Arial"/>
                <a:cs typeface="Arial"/>
              </a:defRPr>
            </a:pPr>
            <a:r>
              <a:rPr sz="1875" b="1">
                <a:solidFill>
                  <a:srgbClr val="126D75"/>
                </a:solidFill>
                <a:latin typeface="Arial"/>
                <a:ea typeface="Arial"/>
                <a:cs typeface="Arial"/>
              </a:rPr>
              <a:t>Si falta un eslabón: “sin antecedente”.</a:t>
            </a:r>
          </a:p>
        </p:txBody>
      </p:sp>
    </p:spTree>
    <p:extLst>
      <p:ext uri="{BB962C8B-B14F-4D97-AF65-F5344CB8AC3E}">
        <p14:creationId xmlns:p14="http://schemas.microsoft.com/office/powerpoint/2010/main" val="21379255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5EB2696-BDEC-4C06-A89B-B7A64B0F7CA3}"/>
              </a:ext>
            </a:extLst>
          </p:cNvPr>
          <p:cNvSpPr>
            <a:spLocks xmlns:a="http://schemas.openxmlformats.org/drawingml/2006/main" noGrp="1"/>
          </p:cNvSpPr>
          <p:nvPr/>
        </p:nvSpPr>
        <p:spPr>
          <a:xfrm xmlns:a="http://schemas.openxmlformats.org/drawingml/2006/main">
            <a:off x="666750" y="4572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7394A"/>
                </a:solidFill>
                <a:latin typeface="Arial"/>
                <a:ea typeface="Arial"/>
                <a:cs typeface="Arial"/>
              </a:defRPr>
            </a:pPr>
            <a:r>
              <a:rPr sz="3225" b="1">
                <a:solidFill>
                  <a:srgbClr val="17394A"/>
                </a:solidFill>
                <a:latin typeface="Arial"/>
                <a:ea typeface="Arial"/>
                <a:cs typeface="Arial"/>
              </a:rPr>
              <a:t>KPI pendientes para evaluar uso</a:t>
            </a:r>
          </a:p>
        </p:txBody>
      </p:sp>
      <p:sp>
        <p:nvSpPr>
          <p:cNvPr id="2" name="">
            <a:extLst xmlns:a="http://schemas.openxmlformats.org/drawingml/2006/main">
              <a:ext uri="{FF2B5EF4-FFF2-40B4-BE49-F238E27FC236}">
                <a16:creationId xmlns:a16="http://schemas.microsoft.com/office/drawing/2014/main" id="{848931F2-0F9B-4A48-B0AA-AED8FC78778F}"/>
              </a:ext>
            </a:extLst>
          </p:cNvPr>
          <p:cNvSpPr>
            <a:spLocks xmlns:a="http://schemas.openxmlformats.org/drawingml/2006/main" noGrp="1"/>
          </p:cNvSpPr>
          <p:nvPr/>
        </p:nvSpPr>
        <p:spPr>
          <a:xfrm xmlns:a="http://schemas.openxmlformats.org/drawingml/2006/main">
            <a:off x="685800" y="6410325"/>
            <a:ext cx="723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2666F"/>
                </a:solidFill>
                <a:latin typeface="Arial"/>
                <a:ea typeface="Arial"/>
                <a:cs typeface="Arial"/>
              </a:defRPr>
            </a:pPr>
            <a:r>
              <a:rPr sz="1200" b="0">
                <a:solidFill>
                  <a:srgbClr val="52666F"/>
                </a:solidFill>
                <a:latin typeface="Arial"/>
                <a:ea typeface="Arial"/>
                <a:cs typeface="Arial"/>
              </a:rPr>
              <a:t>EDA La Cisterna · 2022–2025</a:t>
            </a:r>
          </a:p>
        </p:txBody>
      </p:sp>
      <p:sp>
        <p:nvSpPr>
          <p:cNvPr id="3" name="">
            <a:extLst xmlns:a="http://schemas.openxmlformats.org/drawingml/2006/main">
              <a:ext uri="{FF2B5EF4-FFF2-40B4-BE49-F238E27FC236}">
                <a16:creationId xmlns:a16="http://schemas.microsoft.com/office/drawing/2014/main" id="{6866E28B-7809-4C2D-BE44-A2DB929CC579}"/>
              </a:ext>
            </a:extLst>
          </p:cNvPr>
          <p:cNvSpPr>
            <a:spLocks xmlns:a="http://schemas.openxmlformats.org/drawingml/2006/main" noGrp="1"/>
          </p:cNvSpPr>
          <p:nvPr/>
        </p:nvSpPr>
        <p:spPr>
          <a:xfrm xmlns:a="http://schemas.openxmlformats.org/drawingml/2006/main">
            <a:off x="11144250" y="64103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66F"/>
                </a:solidFill>
                <a:latin typeface="Arial"/>
                <a:ea typeface="Arial"/>
                <a:cs typeface="Arial"/>
              </a:defRPr>
            </a:pPr>
            <a:r>
              <a:rPr sz="1200" b="0">
                <a:solidFill>
                  <a:srgbClr val="52666F"/>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8909EF05-C13A-4918-91A8-AF2A043F2E51}"/>
              </a:ext>
            </a:extLst>
          </p:cNvPr>
          <p:cNvSpPr>
            <a:spLocks xmlns:a="http://schemas.openxmlformats.org/drawingml/2006/main" noGrp="1"/>
          </p:cNvSpPr>
          <p:nvPr/>
        </p:nvSpPr>
        <p:spPr>
          <a:xfrm xmlns:a="http://schemas.openxmlformats.org/drawingml/2006/main">
            <a:off x="762000" y="17907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233843"/>
                </a:solidFill>
                <a:latin typeface="Arial"/>
                <a:ea typeface="Arial"/>
                <a:cs typeface="Arial"/>
              </a:defRPr>
            </a:pPr>
            <a:r>
              <a:rPr sz="2175" b="0">
                <a:solidFill>
                  <a:srgbClr val="233843"/>
                </a:solidFill>
                <a:latin typeface="Arial"/>
                <a:ea typeface="Arial"/>
                <a:cs typeface="Arial"/>
              </a:rPr>
              <a:t>Cobertura de rendición por colegio y año</a:t>
            </a:r>
          </a:p>
        </p:txBody>
      </p:sp>
      <p:sp>
        <p:nvSpPr>
          <p:cNvPr id="5" name="">
            <a:extLst xmlns:a="http://schemas.openxmlformats.org/drawingml/2006/main">
              <a:ext uri="{FF2B5EF4-FFF2-40B4-BE49-F238E27FC236}">
                <a16:creationId xmlns:a16="http://schemas.microsoft.com/office/drawing/2014/main" id="{2956E2A4-E056-4C99-8AFD-A3CCA33917A2}"/>
              </a:ext>
            </a:extLst>
          </p:cNvPr>
          <p:cNvSpPr>
            <a:spLocks xmlns:a="http://schemas.openxmlformats.org/drawingml/2006/main" noGrp="1"/>
          </p:cNvSpPr>
          <p:nvPr/>
        </p:nvSpPr>
        <p:spPr>
          <a:xfrm xmlns:a="http://schemas.openxmlformats.org/drawingml/2006/main">
            <a:off x="762000" y="266700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233843"/>
                </a:solidFill>
                <a:latin typeface="Arial"/>
                <a:ea typeface="Arial"/>
                <a:cs typeface="Arial"/>
              </a:defRPr>
            </a:pPr>
            <a:r>
              <a:rPr sz="2175" b="0">
                <a:solidFill>
                  <a:srgbClr val="233843"/>
                </a:solidFill>
                <a:latin typeface="Arial"/>
                <a:ea typeface="Arial"/>
                <a:cs typeface="Arial"/>
              </a:rPr>
              <a:t>Gasto rechazado firme / gasto rendido comparable</a:t>
            </a:r>
          </a:p>
        </p:txBody>
      </p:sp>
      <p:sp>
        <p:nvSpPr>
          <p:cNvPr id="6" name="">
            <a:extLst xmlns:a="http://schemas.openxmlformats.org/drawingml/2006/main">
              <a:ext uri="{FF2B5EF4-FFF2-40B4-BE49-F238E27FC236}">
                <a16:creationId xmlns:a16="http://schemas.microsoft.com/office/drawing/2014/main" id="{3B5C3792-3BB4-4611-841A-78E1A317474F}"/>
              </a:ext>
            </a:extLst>
          </p:cNvPr>
          <p:cNvSpPr>
            <a:spLocks xmlns:a="http://schemas.openxmlformats.org/drawingml/2006/main" noGrp="1"/>
          </p:cNvSpPr>
          <p:nvPr/>
        </p:nvSpPr>
        <p:spPr>
          <a:xfrm xmlns:a="http://schemas.openxmlformats.org/drawingml/2006/main">
            <a:off x="762000" y="36195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233843"/>
                </a:solidFill>
                <a:latin typeface="Arial"/>
                <a:ea typeface="Arial"/>
                <a:cs typeface="Arial"/>
              </a:defRPr>
            </a:pPr>
            <a:r>
              <a:rPr sz="2175" b="0">
                <a:solidFill>
                  <a:srgbClr val="233843"/>
                </a:solidFill>
                <a:latin typeface="Arial"/>
                <a:ea typeface="Arial"/>
                <a:cs typeface="Arial"/>
              </a:rPr>
              <a:t>Operaciones con cadena documental completa</a:t>
            </a:r>
          </a:p>
        </p:txBody>
      </p:sp>
      <p:sp>
        <p:nvSpPr>
          <p:cNvPr id="7" name="">
            <a:extLst xmlns:a="http://schemas.openxmlformats.org/drawingml/2006/main">
              <a:ext uri="{FF2B5EF4-FFF2-40B4-BE49-F238E27FC236}">
                <a16:creationId xmlns:a16="http://schemas.microsoft.com/office/drawing/2014/main" id="{1260E560-518F-4FE2-8841-3F4F4FB949D9}"/>
              </a:ext>
            </a:extLst>
          </p:cNvPr>
          <p:cNvSpPr>
            <a:spLocks xmlns:a="http://schemas.openxmlformats.org/drawingml/2006/main" noGrp="1"/>
          </p:cNvSpPr>
          <p:nvPr/>
        </p:nvSpPr>
        <p:spPr>
          <a:xfrm xmlns:a="http://schemas.openxmlformats.org/drawingml/2006/main">
            <a:off x="762000" y="45529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233843"/>
                </a:solidFill>
                <a:latin typeface="Arial"/>
                <a:ea typeface="Arial"/>
                <a:cs typeface="Arial"/>
              </a:defRPr>
            </a:pPr>
            <a:r>
              <a:rPr sz="2175" b="0">
                <a:solidFill>
                  <a:srgbClr val="233843"/>
                </a:solidFill>
                <a:latin typeface="Arial"/>
                <a:ea typeface="Arial"/>
                <a:cs typeface="Arial"/>
              </a:rPr>
              <a:t>Costo pagado por entrega útil acreditada</a:t>
            </a:r>
          </a:p>
        </p:txBody>
      </p:sp>
      <p:sp>
        <p:nvSpPr>
          <p:cNvPr id="8" name="">
            <a:extLst xmlns:a="http://schemas.openxmlformats.org/drawingml/2006/main">
              <a:ext uri="{FF2B5EF4-FFF2-40B4-BE49-F238E27FC236}">
                <a16:creationId xmlns:a16="http://schemas.microsoft.com/office/drawing/2014/main" id="{39EF9552-17BE-412B-B42C-7F10B4A7E44D}"/>
              </a:ext>
            </a:extLst>
          </p:cNvPr>
          <p:cNvSpPr>
            <a:spLocks xmlns:a="http://schemas.openxmlformats.org/drawingml/2006/main" noGrp="1"/>
          </p:cNvSpPr>
          <p:nvPr/>
        </p:nvSpPr>
        <p:spPr>
          <a:xfrm xmlns:a="http://schemas.openxmlformats.org/drawingml/2006/main">
            <a:off x="762000" y="55721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126D75"/>
                </a:solidFill>
                <a:latin typeface="Arial"/>
                <a:ea typeface="Arial"/>
                <a:cs typeface="Arial"/>
              </a:defRPr>
            </a:pPr>
            <a:r>
              <a:rPr sz="1725" b="1">
                <a:solidFill>
                  <a:srgbClr val="126D75"/>
                </a:solidFill>
                <a:latin typeface="Arial"/>
                <a:ea typeface="Arial"/>
                <a:cs typeface="Arial"/>
              </a:rPr>
              <a:t>Estado: propuestos; aún no calculados.</a:t>
            </a:r>
          </a:p>
        </p:txBody>
      </p:sp>
    </p:spTree>
    <p:extLst>
      <p:ext uri="{BB962C8B-B14F-4D97-AF65-F5344CB8AC3E}">
        <p14:creationId xmlns:p14="http://schemas.microsoft.com/office/powerpoint/2010/main" val="69311288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F7C2001-A77E-41C9-8875-753A641E9963}"/>
              </a:ext>
            </a:extLst>
          </p:cNvPr>
          <p:cNvSpPr>
            <a:spLocks xmlns:a="http://schemas.openxmlformats.org/drawingml/2006/main" noGrp="1"/>
          </p:cNvSpPr>
          <p:nvPr/>
        </p:nvSpPr>
        <p:spPr>
          <a:xfrm xmlns:a="http://schemas.openxmlformats.org/drawingml/2006/main">
            <a:off x="666750" y="4572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7394A"/>
                </a:solidFill>
                <a:latin typeface="Arial"/>
                <a:ea typeface="Arial"/>
                <a:cs typeface="Arial"/>
              </a:defRPr>
            </a:pPr>
            <a:r>
              <a:rPr sz="3225" b="1">
                <a:solidFill>
                  <a:srgbClr val="17394A"/>
                </a:solidFill>
                <a:latin typeface="Arial"/>
                <a:ea typeface="Arial"/>
                <a:cs typeface="Arial"/>
              </a:rPr>
              <a:t>Rúbrica de gasto propuesta</a:t>
            </a:r>
          </a:p>
        </p:txBody>
      </p:sp>
      <p:sp>
        <p:nvSpPr>
          <p:cNvPr id="2" name="">
            <a:extLst xmlns:a="http://schemas.openxmlformats.org/drawingml/2006/main">
              <a:ext uri="{FF2B5EF4-FFF2-40B4-BE49-F238E27FC236}">
                <a16:creationId xmlns:a16="http://schemas.microsoft.com/office/drawing/2014/main" id="{D033F1AD-47B5-422A-A5FF-01EBF95FC4EC}"/>
              </a:ext>
            </a:extLst>
          </p:cNvPr>
          <p:cNvSpPr>
            <a:spLocks xmlns:a="http://schemas.openxmlformats.org/drawingml/2006/main" noGrp="1"/>
          </p:cNvSpPr>
          <p:nvPr/>
        </p:nvSpPr>
        <p:spPr>
          <a:xfrm xmlns:a="http://schemas.openxmlformats.org/drawingml/2006/main">
            <a:off x="685800" y="6410325"/>
            <a:ext cx="723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2666F"/>
                </a:solidFill>
                <a:latin typeface="Arial"/>
                <a:ea typeface="Arial"/>
                <a:cs typeface="Arial"/>
              </a:defRPr>
            </a:pPr>
            <a:r>
              <a:rPr sz="1200" b="0">
                <a:solidFill>
                  <a:srgbClr val="52666F"/>
                </a:solidFill>
                <a:latin typeface="Arial"/>
                <a:ea typeface="Arial"/>
                <a:cs typeface="Arial"/>
              </a:rPr>
              <a:t>EDA La Cisterna · 2022–2025</a:t>
            </a:r>
          </a:p>
        </p:txBody>
      </p:sp>
      <p:sp>
        <p:nvSpPr>
          <p:cNvPr id="3" name="">
            <a:extLst xmlns:a="http://schemas.openxmlformats.org/drawingml/2006/main">
              <a:ext uri="{FF2B5EF4-FFF2-40B4-BE49-F238E27FC236}">
                <a16:creationId xmlns:a16="http://schemas.microsoft.com/office/drawing/2014/main" id="{16A5C85C-079B-4BCE-8151-AFC39B096C31}"/>
              </a:ext>
            </a:extLst>
          </p:cNvPr>
          <p:cNvSpPr>
            <a:spLocks xmlns:a="http://schemas.openxmlformats.org/drawingml/2006/main" noGrp="1"/>
          </p:cNvSpPr>
          <p:nvPr/>
        </p:nvSpPr>
        <p:spPr>
          <a:xfrm xmlns:a="http://schemas.openxmlformats.org/drawingml/2006/main">
            <a:off x="11144250" y="64103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66F"/>
                </a:solidFill>
                <a:latin typeface="Arial"/>
                <a:ea typeface="Arial"/>
                <a:cs typeface="Arial"/>
              </a:defRPr>
            </a:pPr>
            <a:r>
              <a:rPr sz="1200" b="0">
                <a:solidFill>
                  <a:srgbClr val="52666F"/>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0645EC30-744F-4EC5-86A5-7682D217CA10}"/>
              </a:ext>
            </a:extLst>
          </p:cNvPr>
          <p:cNvSpPr>
            <a:spLocks xmlns:a="http://schemas.openxmlformats.org/drawingml/2006/main" noGrp="1"/>
          </p:cNvSpPr>
          <p:nvPr/>
        </p:nvSpPr>
        <p:spPr>
          <a:xfrm xmlns:a="http://schemas.openxmlformats.org/drawingml/2006/main">
            <a:off x="762000" y="16192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26D75"/>
                </a:solidFill>
                <a:latin typeface="Arial"/>
                <a:ea typeface="Arial"/>
                <a:cs typeface="Arial"/>
              </a:defRPr>
            </a:pPr>
            <a:r>
              <a:rPr sz="2025" b="1">
                <a:solidFill>
                  <a:srgbClr val="126D75"/>
                </a:solidFill>
                <a:latin typeface="Arial"/>
                <a:ea typeface="Arial"/>
                <a:cs typeface="Arial"/>
              </a:rPr>
              <a:t>Estado previo: sin evidencia suficiente</a:t>
            </a:r>
          </a:p>
        </p:txBody>
      </p:sp>
      <p:sp>
        <p:nvSpPr>
          <p:cNvPr id="5" name="">
            <a:extLst xmlns:a="http://schemas.openxmlformats.org/drawingml/2006/main">
              <a:ext uri="{FF2B5EF4-FFF2-40B4-BE49-F238E27FC236}">
                <a16:creationId xmlns:a16="http://schemas.microsoft.com/office/drawing/2014/main" id="{1088D521-3B62-4666-BF79-F52DCA1321D2}"/>
              </a:ext>
            </a:extLst>
          </p:cNvPr>
          <p:cNvSpPr>
            <a:spLocks xmlns:a="http://schemas.openxmlformats.org/drawingml/2006/main" noGrp="1"/>
          </p:cNvSpPr>
          <p:nvPr/>
        </p:nvSpPr>
        <p:spPr>
          <a:xfrm xmlns:a="http://schemas.openxmlformats.org/drawingml/2006/main">
            <a:off x="762000" y="23812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233843"/>
                </a:solidFill>
                <a:latin typeface="Arial"/>
                <a:ea typeface="Arial"/>
                <a:cs typeface="Arial"/>
              </a:defRPr>
            </a:pPr>
            <a:r>
              <a:rPr sz="2100" b="0">
                <a:solidFill>
                  <a:srgbClr val="233843"/>
                </a:solidFill>
                <a:latin typeface="Arial"/>
                <a:ea typeface="Arial"/>
                <a:cs typeface="Arial"/>
              </a:rPr>
              <a:t>1  Legítimo y bien utilizado</a:t>
            </a:r>
          </a:p>
        </p:txBody>
      </p:sp>
      <p:sp>
        <p:nvSpPr>
          <p:cNvPr id="6" name="">
            <a:extLst xmlns:a="http://schemas.openxmlformats.org/drawingml/2006/main">
              <a:ext uri="{FF2B5EF4-FFF2-40B4-BE49-F238E27FC236}">
                <a16:creationId xmlns:a16="http://schemas.microsoft.com/office/drawing/2014/main" id="{A4E7CD89-0315-4BA8-88F4-F7DC5ECE6D91}"/>
              </a:ext>
            </a:extLst>
          </p:cNvPr>
          <p:cNvSpPr>
            <a:spLocks xmlns:a="http://schemas.openxmlformats.org/drawingml/2006/main" noGrp="1"/>
          </p:cNvSpPr>
          <p:nvPr/>
        </p:nvSpPr>
        <p:spPr>
          <a:xfrm xmlns:a="http://schemas.openxmlformats.org/drawingml/2006/main">
            <a:off x="762000" y="30480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233843"/>
                </a:solidFill>
                <a:latin typeface="Arial"/>
                <a:ea typeface="Arial"/>
                <a:cs typeface="Arial"/>
              </a:defRPr>
            </a:pPr>
            <a:r>
              <a:rPr sz="2100" b="0">
                <a:solidFill>
                  <a:srgbClr val="233843"/>
                </a:solidFill>
                <a:latin typeface="Arial"/>
                <a:ea typeface="Arial"/>
                <a:cs typeface="Arial"/>
              </a:rPr>
              <a:t>2  Legítimo, aparentemente ineficiente</a:t>
            </a:r>
          </a:p>
        </p:txBody>
      </p:sp>
      <p:sp>
        <p:nvSpPr>
          <p:cNvPr id="7" name="">
            <a:extLst xmlns:a="http://schemas.openxmlformats.org/drawingml/2006/main">
              <a:ext uri="{FF2B5EF4-FFF2-40B4-BE49-F238E27FC236}">
                <a16:creationId xmlns:a16="http://schemas.microsoft.com/office/drawing/2014/main" id="{5C16D7A4-3E72-4650-8F9C-2F2985F35362}"/>
              </a:ext>
            </a:extLst>
          </p:cNvPr>
          <p:cNvSpPr>
            <a:spLocks xmlns:a="http://schemas.openxmlformats.org/drawingml/2006/main" noGrp="1"/>
          </p:cNvSpPr>
          <p:nvPr/>
        </p:nvSpPr>
        <p:spPr>
          <a:xfrm xmlns:a="http://schemas.openxmlformats.org/drawingml/2006/main">
            <a:off x="762000" y="37147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233843"/>
                </a:solidFill>
                <a:latin typeface="Arial"/>
                <a:ea typeface="Arial"/>
                <a:cs typeface="Arial"/>
              </a:defRPr>
            </a:pPr>
            <a:r>
              <a:rPr sz="2100" b="0">
                <a:solidFill>
                  <a:srgbClr val="233843"/>
                </a:solidFill>
                <a:latin typeface="Arial"/>
                <a:ea typeface="Arial"/>
                <a:cs typeface="Arial"/>
              </a:rPr>
              <a:t>3  Difícil de justificar respecto del objetivo</a:t>
            </a:r>
          </a:p>
        </p:txBody>
      </p:sp>
      <p:sp>
        <p:nvSpPr>
          <p:cNvPr id="8" name="">
            <a:extLst xmlns:a="http://schemas.openxmlformats.org/drawingml/2006/main">
              <a:ext uri="{FF2B5EF4-FFF2-40B4-BE49-F238E27FC236}">
                <a16:creationId xmlns:a16="http://schemas.microsoft.com/office/drawing/2014/main" id="{1BB4DA8E-68B3-4F32-8329-B74F6EE95B72}"/>
              </a:ext>
            </a:extLst>
          </p:cNvPr>
          <p:cNvSpPr>
            <a:spLocks xmlns:a="http://schemas.openxmlformats.org/drawingml/2006/main" noGrp="1"/>
          </p:cNvSpPr>
          <p:nvPr/>
        </p:nvSpPr>
        <p:spPr>
          <a:xfrm xmlns:a="http://schemas.openxmlformats.org/drawingml/2006/main">
            <a:off x="762000" y="43815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233843"/>
                </a:solidFill>
                <a:latin typeface="Arial"/>
                <a:ea typeface="Arial"/>
                <a:cs typeface="Arial"/>
              </a:defRPr>
            </a:pPr>
            <a:r>
              <a:rPr sz="2100" b="0">
                <a:solidFill>
                  <a:srgbClr val="233843"/>
                </a:solidFill>
                <a:latin typeface="Arial"/>
                <a:ea typeface="Arial"/>
                <a:cs typeface="Arial"/>
              </a:rPr>
              <a:t>4  Potencialmente irregular o improcedente</a:t>
            </a:r>
          </a:p>
        </p:txBody>
      </p:sp>
      <p:sp>
        <p:nvSpPr>
          <p:cNvPr id="9" name="">
            <a:extLst xmlns:a="http://schemas.openxmlformats.org/drawingml/2006/main">
              <a:ext uri="{FF2B5EF4-FFF2-40B4-BE49-F238E27FC236}">
                <a16:creationId xmlns:a16="http://schemas.microsoft.com/office/drawing/2014/main" id="{F0863B00-CAE4-4BC1-AA7C-43631275AFFC}"/>
              </a:ext>
            </a:extLst>
          </p:cNvPr>
          <p:cNvSpPr>
            <a:spLocks xmlns:a="http://schemas.openxmlformats.org/drawingml/2006/main" noGrp="1"/>
          </p:cNvSpPr>
          <p:nvPr/>
        </p:nvSpPr>
        <p:spPr>
          <a:xfrm xmlns:a="http://schemas.openxmlformats.org/drawingml/2006/main">
            <a:off x="762000" y="54292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52666F"/>
                </a:solidFill>
                <a:latin typeface="Arial"/>
                <a:ea typeface="Arial"/>
                <a:cs typeface="Arial"/>
              </a:defRPr>
            </a:pPr>
            <a:r>
              <a:rPr sz="1800" b="0">
                <a:solidFill>
                  <a:srgbClr val="52666F"/>
                </a:solidFill>
                <a:latin typeface="Arial"/>
                <a:ea typeface="Arial"/>
                <a:cs typeface="Arial"/>
              </a:rPr>
              <a:t>No se aplican estas etiquetas con el EDA actual.</a:t>
            </a:r>
          </a:p>
        </p:txBody>
      </p:sp>
    </p:spTree>
    <p:extLst>
      <p:ext uri="{BB962C8B-B14F-4D97-AF65-F5344CB8AC3E}">
        <p14:creationId xmlns:p14="http://schemas.microsoft.com/office/powerpoint/2010/main" val="56022144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AC6968-7F87-45BD-9936-89F5215CD818}"/>
              </a:ext>
            </a:extLst>
          </p:cNvPr>
          <p:cNvSpPr>
            <a:spLocks xmlns:a="http://schemas.openxmlformats.org/drawingml/2006/main" noGrp="1"/>
          </p:cNvSpPr>
          <p:nvPr/>
        </p:nvSpPr>
        <p:spPr>
          <a:xfrm xmlns:a="http://schemas.openxmlformats.org/drawingml/2006/main">
            <a:off x="666750" y="4572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7394A"/>
                </a:solidFill>
                <a:latin typeface="Arial"/>
                <a:ea typeface="Arial"/>
                <a:cs typeface="Arial"/>
              </a:defRPr>
            </a:pPr>
            <a:r>
              <a:rPr sz="3225" b="1">
                <a:solidFill>
                  <a:srgbClr val="17394A"/>
                </a:solidFill>
                <a:latin typeface="Arial"/>
                <a:ea typeface="Arial"/>
                <a:cs typeface="Arial"/>
              </a:rPr>
              <a:t>Conclusión y siguiente paso</a:t>
            </a:r>
          </a:p>
        </p:txBody>
      </p:sp>
      <p:sp>
        <p:nvSpPr>
          <p:cNvPr id="2" name="">
            <a:extLst xmlns:a="http://schemas.openxmlformats.org/drawingml/2006/main">
              <a:ext uri="{FF2B5EF4-FFF2-40B4-BE49-F238E27FC236}">
                <a16:creationId xmlns:a16="http://schemas.microsoft.com/office/drawing/2014/main" id="{2CE90FEF-2761-43D5-BB73-B5A096E7B903}"/>
              </a:ext>
            </a:extLst>
          </p:cNvPr>
          <p:cNvSpPr>
            <a:spLocks xmlns:a="http://schemas.openxmlformats.org/drawingml/2006/main" noGrp="1"/>
          </p:cNvSpPr>
          <p:nvPr/>
        </p:nvSpPr>
        <p:spPr>
          <a:xfrm xmlns:a="http://schemas.openxmlformats.org/drawingml/2006/main">
            <a:off x="685800" y="6410325"/>
            <a:ext cx="723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2666F"/>
                </a:solidFill>
                <a:latin typeface="Arial"/>
                <a:ea typeface="Arial"/>
                <a:cs typeface="Arial"/>
              </a:defRPr>
            </a:pPr>
            <a:r>
              <a:rPr sz="1200" b="0">
                <a:solidFill>
                  <a:srgbClr val="52666F"/>
                </a:solidFill>
                <a:latin typeface="Arial"/>
                <a:ea typeface="Arial"/>
                <a:cs typeface="Arial"/>
              </a:rPr>
              <a:t>EDA La Cisterna · 2022–2025</a:t>
            </a:r>
          </a:p>
        </p:txBody>
      </p:sp>
      <p:sp>
        <p:nvSpPr>
          <p:cNvPr id="3" name="">
            <a:extLst xmlns:a="http://schemas.openxmlformats.org/drawingml/2006/main">
              <a:ext uri="{FF2B5EF4-FFF2-40B4-BE49-F238E27FC236}">
                <a16:creationId xmlns:a16="http://schemas.microsoft.com/office/drawing/2014/main" id="{C913C960-DE34-4157-97EC-A0054572CE55}"/>
              </a:ext>
            </a:extLst>
          </p:cNvPr>
          <p:cNvSpPr>
            <a:spLocks xmlns:a="http://schemas.openxmlformats.org/drawingml/2006/main" noGrp="1"/>
          </p:cNvSpPr>
          <p:nvPr/>
        </p:nvSpPr>
        <p:spPr>
          <a:xfrm xmlns:a="http://schemas.openxmlformats.org/drawingml/2006/main">
            <a:off x="11144250" y="64103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66F"/>
                </a:solidFill>
                <a:latin typeface="Arial"/>
                <a:ea typeface="Arial"/>
                <a:cs typeface="Arial"/>
              </a:defRPr>
            </a:pPr>
            <a:r>
              <a:rPr sz="1200" b="0">
                <a:solidFill>
                  <a:srgbClr val="52666F"/>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78104FB0-DA04-4A90-8B80-73AC5E96D39B}"/>
              </a:ext>
            </a:extLst>
          </p:cNvPr>
          <p:cNvSpPr>
            <a:spLocks xmlns:a="http://schemas.openxmlformats.org/drawingml/2006/main" noGrp="1"/>
          </p:cNvSpPr>
          <p:nvPr/>
        </p:nvSpPr>
        <p:spPr>
          <a:xfrm xmlns:a="http://schemas.openxmlformats.org/drawingml/2006/main">
            <a:off x="762000" y="171450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233843"/>
                </a:solidFill>
                <a:latin typeface="Arial"/>
                <a:ea typeface="Arial"/>
                <a:cs typeface="Arial"/>
              </a:defRPr>
            </a:pPr>
            <a:r>
              <a:rPr sz="2400" b="1">
                <a:solidFill>
                  <a:srgbClr val="233843"/>
                </a:solidFill>
                <a:latin typeface="Arial"/>
                <a:ea typeface="Arial"/>
                <a:cs typeface="Arial"/>
              </a:rPr>
              <a:t>Resultado actual: mapa verificable de registros y vacíos.</a:t>
            </a:r>
          </a:p>
        </p:txBody>
      </p:sp>
      <p:sp>
        <p:nvSpPr>
          <p:cNvPr id="5" name="">
            <a:extLst xmlns:a="http://schemas.openxmlformats.org/drawingml/2006/main">
              <a:ext uri="{FF2B5EF4-FFF2-40B4-BE49-F238E27FC236}">
                <a16:creationId xmlns:a16="http://schemas.microsoft.com/office/drawing/2014/main" id="{A8D44698-3DFC-4495-80D4-493AA66D819E}"/>
              </a:ext>
            </a:extLst>
          </p:cNvPr>
          <p:cNvSpPr>
            <a:spLocks xmlns:a="http://schemas.openxmlformats.org/drawingml/2006/main" noGrp="1"/>
          </p:cNvSpPr>
          <p:nvPr/>
        </p:nvSpPr>
        <p:spPr>
          <a:xfrm xmlns:a="http://schemas.openxmlformats.org/drawingml/2006/main">
            <a:off x="762000" y="295275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233843"/>
                </a:solidFill>
                <a:latin typeface="Arial"/>
                <a:ea typeface="Arial"/>
                <a:cs typeface="Arial"/>
              </a:defRPr>
            </a:pPr>
            <a:r>
              <a:rPr sz="2250" b="0">
                <a:solidFill>
                  <a:srgbClr val="233843"/>
                </a:solidFill>
                <a:latin typeface="Arial"/>
                <a:ea typeface="Arial"/>
                <a:cs typeface="Arial"/>
              </a:rPr>
              <a:t>Siguiente fase: rendiciones y expedientes; después, operaciones concretas.</a:t>
            </a:r>
          </a:p>
        </p:txBody>
      </p:sp>
      <p:sp>
        <p:nvSpPr>
          <p:cNvPr id="6" name="">
            <a:extLst xmlns:a="http://schemas.openxmlformats.org/drawingml/2006/main">
              <a:ext uri="{FF2B5EF4-FFF2-40B4-BE49-F238E27FC236}">
                <a16:creationId xmlns:a16="http://schemas.microsoft.com/office/drawing/2014/main" id="{EB0A9D0F-FB48-4F5D-8040-F61A5CE7E436}"/>
              </a:ext>
            </a:extLst>
          </p:cNvPr>
          <p:cNvSpPr>
            <a:spLocks xmlns:a="http://schemas.openxmlformats.org/drawingml/2006/main" noGrp="1"/>
          </p:cNvSpPr>
          <p:nvPr/>
        </p:nvSpPr>
        <p:spPr>
          <a:xfrm xmlns:a="http://schemas.openxmlformats.org/drawingml/2006/main">
            <a:off x="762000" y="4524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126D75"/>
                </a:solidFill>
                <a:latin typeface="Arial"/>
                <a:ea typeface="Arial"/>
                <a:cs typeface="Arial"/>
              </a:defRPr>
            </a:pPr>
            <a:r>
              <a:rPr sz="2175" b="1">
                <a:solidFill>
                  <a:srgbClr val="126D75"/>
                </a:solidFill>
                <a:latin typeface="Arial"/>
                <a:ea typeface="Arial"/>
                <a:cs typeface="Arial"/>
              </a:rPr>
              <a:t>Pregunta: ¿qué evidencia mínima permite clasificar una operación?</a:t>
            </a:r>
          </a:p>
        </p:txBody>
      </p:sp>
    </p:spTree>
    <p:extLst>
      <p:ext uri="{BB962C8B-B14F-4D97-AF65-F5344CB8AC3E}">
        <p14:creationId xmlns:p14="http://schemas.microsoft.com/office/powerpoint/2010/main" val="185648046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E64A96B-3459-4748-B82F-7891E58CA44D}"/>
              </a:ext>
            </a:extLst>
          </p:cNvPr>
          <p:cNvSpPr>
            <a:spLocks xmlns:a="http://schemas.openxmlformats.org/drawingml/2006/main" noGrp="1"/>
          </p:cNvSpPr>
          <p:nvPr/>
        </p:nvSpPr>
        <p:spPr>
          <a:xfrm xmlns:a="http://schemas.openxmlformats.org/drawingml/2006/main">
            <a:off x="666750" y="4572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7394A"/>
                </a:solidFill>
                <a:latin typeface="Arial"/>
                <a:ea typeface="Arial"/>
                <a:cs typeface="Arial"/>
              </a:defRPr>
            </a:pPr>
            <a:r>
              <a:rPr sz="3225" b="1">
                <a:solidFill>
                  <a:srgbClr val="17394A"/>
                </a:solidFill>
                <a:latin typeface="Arial"/>
                <a:ea typeface="Arial"/>
                <a:cs typeface="Arial"/>
              </a:rPr>
              <a:t>Fuentes y trazabilidad</a:t>
            </a:r>
          </a:p>
        </p:txBody>
      </p:sp>
      <p:sp>
        <p:nvSpPr>
          <p:cNvPr id="2" name="">
            <a:extLst xmlns:a="http://schemas.openxmlformats.org/drawingml/2006/main">
              <a:ext uri="{FF2B5EF4-FFF2-40B4-BE49-F238E27FC236}">
                <a16:creationId xmlns:a16="http://schemas.microsoft.com/office/drawing/2014/main" id="{F1BEB23B-6F3E-44F7-9926-5301E31E2DBE}"/>
              </a:ext>
            </a:extLst>
          </p:cNvPr>
          <p:cNvSpPr>
            <a:spLocks xmlns:a="http://schemas.openxmlformats.org/drawingml/2006/main" noGrp="1"/>
          </p:cNvSpPr>
          <p:nvPr/>
        </p:nvSpPr>
        <p:spPr>
          <a:xfrm xmlns:a="http://schemas.openxmlformats.org/drawingml/2006/main">
            <a:off x="685800" y="6410325"/>
            <a:ext cx="723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2666F"/>
                </a:solidFill>
                <a:latin typeface="Arial"/>
                <a:ea typeface="Arial"/>
                <a:cs typeface="Arial"/>
              </a:defRPr>
            </a:pPr>
            <a:r>
              <a:rPr sz="1200" b="0">
                <a:solidFill>
                  <a:srgbClr val="52666F"/>
                </a:solidFill>
                <a:latin typeface="Arial"/>
                <a:ea typeface="Arial"/>
                <a:cs typeface="Arial"/>
              </a:rPr>
              <a:t>EDA La Cisterna · 2022–2025</a:t>
            </a:r>
          </a:p>
        </p:txBody>
      </p:sp>
      <p:sp>
        <p:nvSpPr>
          <p:cNvPr id="3" name="">
            <a:extLst xmlns:a="http://schemas.openxmlformats.org/drawingml/2006/main">
              <a:ext uri="{FF2B5EF4-FFF2-40B4-BE49-F238E27FC236}">
                <a16:creationId xmlns:a16="http://schemas.microsoft.com/office/drawing/2014/main" id="{B7561E27-B58C-4E3A-9FB9-1505DC84C6C4}"/>
              </a:ext>
            </a:extLst>
          </p:cNvPr>
          <p:cNvSpPr>
            <a:spLocks xmlns:a="http://schemas.openxmlformats.org/drawingml/2006/main" noGrp="1"/>
          </p:cNvSpPr>
          <p:nvPr/>
        </p:nvSpPr>
        <p:spPr>
          <a:xfrm xmlns:a="http://schemas.openxmlformats.org/drawingml/2006/main">
            <a:off x="11144250" y="641032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66F"/>
                </a:solidFill>
                <a:latin typeface="Arial"/>
                <a:ea typeface="Arial"/>
                <a:cs typeface="Arial"/>
              </a:defRPr>
            </a:pPr>
            <a:r>
              <a:rPr sz="1200" b="0">
                <a:solidFill>
                  <a:srgbClr val="52666F"/>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09B167EB-0507-4F82-AF74-E75FDFF5ECA6}"/>
              </a:ext>
            </a:extLst>
          </p:cNvPr>
          <p:cNvSpPr>
            <a:spLocks xmlns:a="http://schemas.openxmlformats.org/drawingml/2006/main" noGrp="1"/>
          </p:cNvSpPr>
          <p:nvPr/>
        </p:nvSpPr>
        <p:spPr>
          <a:xfrm xmlns:a="http://schemas.openxmlformats.org/drawingml/2006/main">
            <a:off x="762000" y="17145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233843"/>
                </a:solidFill>
                <a:latin typeface="Arial"/>
                <a:ea typeface="Arial"/>
                <a:cs typeface="Arial"/>
              </a:defRPr>
            </a:pPr>
            <a:r>
              <a:rPr sz="2175" b="0">
                <a:solidFill>
                  <a:srgbClr val="233843"/>
                </a:solidFill>
                <a:latin typeface="Arial"/>
                <a:ea typeface="Arial"/>
                <a:cs typeface="Arial"/>
              </a:rPr>
              <a:t>Mineduc: Directorio Oficial y PME 2024</a:t>
            </a:r>
          </a:p>
        </p:txBody>
      </p:sp>
      <p:sp>
        <p:nvSpPr>
          <p:cNvPr id="5" name="">
            <a:extLst xmlns:a="http://schemas.openxmlformats.org/drawingml/2006/main">
              <a:ext uri="{FF2B5EF4-FFF2-40B4-BE49-F238E27FC236}">
                <a16:creationId xmlns:a16="http://schemas.microsoft.com/office/drawing/2014/main" id="{80CA35C4-9ACF-425E-B3E4-3B96F94EEC02}"/>
              </a:ext>
            </a:extLst>
          </p:cNvPr>
          <p:cNvSpPr>
            <a:spLocks xmlns:a="http://schemas.openxmlformats.org/drawingml/2006/main" noGrp="1"/>
          </p:cNvSpPr>
          <p:nvPr/>
        </p:nvSpPr>
        <p:spPr>
          <a:xfrm xmlns:a="http://schemas.openxmlformats.org/drawingml/2006/main">
            <a:off x="762000" y="24765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233843"/>
                </a:solidFill>
                <a:latin typeface="Arial"/>
                <a:ea typeface="Arial"/>
                <a:cs typeface="Arial"/>
              </a:defRPr>
            </a:pPr>
            <a:r>
              <a:rPr sz="2175" b="0">
                <a:solidFill>
                  <a:srgbClr val="233843"/>
                </a:solidFill>
                <a:latin typeface="Arial"/>
                <a:ea typeface="Arial"/>
                <a:cs typeface="Arial"/>
              </a:rPr>
              <a:t>Superintendencia: PAS 2022–2025</a:t>
            </a:r>
          </a:p>
        </p:txBody>
      </p:sp>
      <p:sp>
        <p:nvSpPr>
          <p:cNvPr id="6" name="">
            <a:extLst xmlns:a="http://schemas.openxmlformats.org/drawingml/2006/main">
              <a:ext uri="{FF2B5EF4-FFF2-40B4-BE49-F238E27FC236}">
                <a16:creationId xmlns:a16="http://schemas.microsoft.com/office/drawing/2014/main" id="{9BDC6FA4-B578-46D5-ADD1-25C67E9ECF96}"/>
              </a:ext>
            </a:extLst>
          </p:cNvPr>
          <p:cNvSpPr>
            <a:spLocks xmlns:a="http://schemas.openxmlformats.org/drawingml/2006/main" noGrp="1"/>
          </p:cNvSpPr>
          <p:nvPr/>
        </p:nvSpPr>
        <p:spPr>
          <a:xfrm xmlns:a="http://schemas.openxmlformats.org/drawingml/2006/main">
            <a:off x="762000" y="32385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233843"/>
                </a:solidFill>
                <a:latin typeface="Arial"/>
                <a:ea typeface="Arial"/>
                <a:cs typeface="Arial"/>
              </a:defRPr>
            </a:pPr>
            <a:r>
              <a:rPr sz="2175" b="0">
                <a:solidFill>
                  <a:srgbClr val="233843"/>
                </a:solidFill>
                <a:latin typeface="Arial"/>
                <a:ea typeface="Arial"/>
                <a:cs typeface="Arial"/>
              </a:rPr>
              <a:t>Agencia de Calidad: SIMCE e IDPS 2023–2025</a:t>
            </a:r>
          </a:p>
        </p:txBody>
      </p:sp>
      <p:sp>
        <p:nvSpPr>
          <p:cNvPr id="7" name="">
            <a:extLst xmlns:a="http://schemas.openxmlformats.org/drawingml/2006/main">
              <a:ext uri="{FF2B5EF4-FFF2-40B4-BE49-F238E27FC236}">
                <a16:creationId xmlns:a16="http://schemas.microsoft.com/office/drawing/2014/main" id="{58B6D15B-9AD5-4E36-95E6-B7984FD1C980}"/>
              </a:ext>
            </a:extLst>
          </p:cNvPr>
          <p:cNvSpPr>
            <a:spLocks xmlns:a="http://schemas.openxmlformats.org/drawingml/2006/main" noGrp="1"/>
          </p:cNvSpPr>
          <p:nvPr/>
        </p:nvSpPr>
        <p:spPr>
          <a:xfrm xmlns:a="http://schemas.openxmlformats.org/drawingml/2006/main">
            <a:off x="762000" y="40005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233843"/>
                </a:solidFill>
                <a:latin typeface="Arial"/>
                <a:ea typeface="Arial"/>
                <a:cs typeface="Arial"/>
              </a:defRPr>
            </a:pPr>
            <a:r>
              <a:rPr sz="2175" b="0">
                <a:solidFill>
                  <a:srgbClr val="233843"/>
                </a:solidFill>
                <a:latin typeface="Arial"/>
                <a:ea typeface="Arial"/>
                <a:cs typeface="Arial"/>
              </a:rPr>
              <a:t>ChileCompra: órdenes de compra 2022–2025</a:t>
            </a:r>
          </a:p>
        </p:txBody>
      </p:sp>
      <p:sp>
        <p:nvSpPr>
          <p:cNvPr id="8" name="">
            <a:extLst xmlns:a="http://schemas.openxmlformats.org/drawingml/2006/main">
              <a:ext uri="{FF2B5EF4-FFF2-40B4-BE49-F238E27FC236}">
                <a16:creationId xmlns:a16="http://schemas.microsoft.com/office/drawing/2014/main" id="{FC02B130-0B3A-4229-AFE2-91EEEF813CC3}"/>
              </a:ext>
            </a:extLst>
          </p:cNvPr>
          <p:cNvSpPr>
            <a:spLocks xmlns:a="http://schemas.openxmlformats.org/drawingml/2006/main" noGrp="1"/>
          </p:cNvSpPr>
          <p:nvPr/>
        </p:nvSpPr>
        <p:spPr>
          <a:xfrm xmlns:a="http://schemas.openxmlformats.org/drawingml/2006/main">
            <a:off x="762000" y="49530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26D75"/>
                </a:solidFill>
                <a:latin typeface="Arial"/>
                <a:ea typeface="Arial"/>
                <a:cs typeface="Arial"/>
              </a:defRPr>
            </a:pPr>
            <a:r>
              <a:rPr sz="1950" b="0">
                <a:solidFill>
                  <a:srgbClr val="126D75"/>
                </a:solidFill>
                <a:latin typeface="Arial"/>
                <a:ea typeface="Arial"/>
                <a:cs typeface="Arial"/>
              </a:rPr>
              <a:t>Cálculos: script, manifiestos y tablas del proyecto</a:t>
            </a:r>
          </a:p>
        </p:txBody>
      </p:sp>
    </p:spTree>
    <p:extLst>
      <p:ext uri="{BB962C8B-B14F-4D97-AF65-F5344CB8AC3E}">
        <p14:creationId xmlns:p14="http://schemas.microsoft.com/office/powerpoint/2010/main" val="14323098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2026-09-28T00:38:08.2660000Z</dcterms:created>
  <dcterms:modified xsi:type="dcterms:W3CDTF">2026-09-28T00:38:08.2660000Z</dcterms:modified>
</coreProperties>
</file>